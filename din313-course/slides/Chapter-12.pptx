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9" r:id="rId5"/>
    <p:sldId id="300" r:id="rId6"/>
    <p:sldId id="298" r:id="rId7"/>
    <p:sldId id="301" r:id="rId8"/>
    <p:sldId id="259" r:id="rId9"/>
    <p:sldId id="302" r:id="rId10"/>
    <p:sldId id="297" r:id="rId11"/>
    <p:sldId id="260" r:id="rId12"/>
    <p:sldId id="303" r:id="rId13"/>
    <p:sldId id="304" r:id="rId14"/>
    <p:sldId id="305" r:id="rId15"/>
    <p:sldId id="318" r:id="rId16"/>
    <p:sldId id="319" r:id="rId17"/>
    <p:sldId id="296" r:id="rId18"/>
    <p:sldId id="261" r:id="rId19"/>
    <p:sldId id="306" r:id="rId20"/>
    <p:sldId id="295" r:id="rId21"/>
    <p:sldId id="262" r:id="rId22"/>
    <p:sldId id="307" r:id="rId23"/>
    <p:sldId id="308" r:id="rId24"/>
    <p:sldId id="288" r:id="rId25"/>
    <p:sldId id="294" r:id="rId26"/>
    <p:sldId id="263" r:id="rId27"/>
    <p:sldId id="309" r:id="rId28"/>
    <p:sldId id="310" r:id="rId29"/>
    <p:sldId id="293" r:id="rId30"/>
    <p:sldId id="264" r:id="rId31"/>
    <p:sldId id="311" r:id="rId32"/>
    <p:sldId id="312" r:id="rId33"/>
    <p:sldId id="292" r:id="rId34"/>
    <p:sldId id="265" r:id="rId35"/>
    <p:sldId id="320" r:id="rId36"/>
    <p:sldId id="313" r:id="rId37"/>
    <p:sldId id="291" r:id="rId38"/>
    <p:sldId id="266" r:id="rId39"/>
    <p:sldId id="314" r:id="rId40"/>
    <p:sldId id="315" r:id="rId41"/>
    <p:sldId id="290" r:id="rId42"/>
    <p:sldId id="267" r:id="rId43"/>
    <p:sldId id="316" r:id="rId44"/>
    <p:sldId id="317" r:id="rId45"/>
    <p:sldId id="289" r:id="rId46"/>
    <p:sldId id="268" r:id="rId47"/>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7" autoAdjust="0"/>
    <p:restoredTop sz="94660"/>
  </p:normalViewPr>
  <p:slideViewPr>
    <p:cSldViewPr snapToGrid="0">
      <p:cViewPr varScale="1">
        <p:scale>
          <a:sx n="69" d="100"/>
          <a:sy n="69"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05/10/69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12 </a:t>
            </a:r>
            <a:r>
              <a:rPr lang="en-US" sz="8000" b="1" dirty="0">
                <a:effectLst/>
                <a:latin typeface="TH SarabunPSK" panose="020B0500040200020003" pitchFamily="34" charset="-34"/>
                <a:ea typeface="Calibri" panose="020F0502020204030204" pitchFamily="34" charset="0"/>
              </a:rPr>
              <a:t>Continuous </a:t>
            </a:r>
            <a:r>
              <a:rPr lang="en-US" sz="8000" b="1" dirty="0">
                <a:effectLst/>
                <a:highlight>
                  <a:srgbClr val="FFFF00"/>
                </a:highlight>
                <a:latin typeface="TH SarabunPSK" panose="020B0500040200020003" pitchFamily="34" charset="-34"/>
                <a:ea typeface="Calibri" panose="020F0502020204030204" pitchFamily="34" charset="0"/>
              </a:rPr>
              <a:t>improvement</a:t>
            </a:r>
            <a:r>
              <a:rPr lang="en-US" sz="8000" b="1" dirty="0">
                <a:effectLst/>
                <a:latin typeface="TH SarabunPSK" panose="020B0500040200020003" pitchFamily="34" charset="-34"/>
                <a:ea typeface="Calibri" panose="020F0502020204030204" pitchFamily="34" charset="0"/>
              </a:rPr>
              <a:t>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analyze and understand the principles, methods, and iterative processes of continuous improvement that enable organizations to enhance performance, optimize workflows, and achieve long-term efficiency and innovation.</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426217" y="316253"/>
            <a:ext cx="6093618" cy="5262979"/>
          </a:xfrm>
          <a:prstGeom prst="rect">
            <a:avLst/>
          </a:prstGeom>
          <a:noFill/>
        </p:spPr>
        <p:txBody>
          <a:bodyPr wrap="square">
            <a:spAutoFit/>
          </a:bodyPr>
          <a:lstStyle/>
          <a:p>
            <a:r>
              <a:rPr lang="en-US" b="1" dirty="0"/>
              <a:t>1. </a:t>
            </a:r>
            <a:r>
              <a:rPr lang="en-US" b="1" dirty="0">
                <a:highlight>
                  <a:srgbClr val="FFFF00"/>
                </a:highlight>
              </a:rPr>
              <a:t>Kaizen</a:t>
            </a:r>
            <a:r>
              <a:rPr lang="en-US" b="1" dirty="0"/>
              <a:t> Philosophy</a:t>
            </a:r>
          </a:p>
          <a:p>
            <a:r>
              <a:rPr lang="en-US" dirty="0"/>
              <a:t>Kaizen emphasizes </a:t>
            </a:r>
            <a:r>
              <a:rPr lang="en-US" dirty="0">
                <a:solidFill>
                  <a:srgbClr val="FF0000"/>
                </a:solidFill>
              </a:rPr>
              <a:t>ongoing, small improvements involving everyone in the organization</a:t>
            </a:r>
            <a:r>
              <a:rPr lang="en-US" dirty="0"/>
              <a:t>. It encourages employees to consistently identify inefficiencies, suggest enhancements, and take ownership of outcomes. This philosophy builds a culture of continuous learning, teamwork, and incremental progress that collectively leads to significant long-term organizational transformation and sustained competitiveness.</a:t>
            </a:r>
          </a:p>
        </p:txBody>
      </p:sp>
      <p:sp>
        <p:nvSpPr>
          <p:cNvPr id="4" name="TextBox 3">
            <a:extLst>
              <a:ext uri="{FF2B5EF4-FFF2-40B4-BE49-F238E27FC236}">
                <a16:creationId xmlns:a16="http://schemas.microsoft.com/office/drawing/2014/main" id="{75ECC2E5-3675-42BF-85DA-83D899BCA092}"/>
              </a:ext>
            </a:extLst>
          </p:cNvPr>
          <p:cNvSpPr txBox="1"/>
          <p:nvPr/>
        </p:nvSpPr>
        <p:spPr>
          <a:xfrm>
            <a:off x="9005859" y="506522"/>
            <a:ext cx="2620593" cy="3970318"/>
          </a:xfrm>
          <a:prstGeom prst="rect">
            <a:avLst/>
          </a:prstGeom>
          <a:noFill/>
        </p:spPr>
        <p:txBody>
          <a:bodyPr wrap="square">
            <a:spAutoFit/>
          </a:bodyPr>
          <a:lstStyle/>
          <a:p>
            <a:r>
              <a:rPr lang="en-US" dirty="0">
                <a:solidFill>
                  <a:srgbClr val="FF0000"/>
                </a:solidFill>
              </a:rPr>
              <a:t>making </a:t>
            </a:r>
            <a:r>
              <a:rPr lang="en-US" b="1" dirty="0">
                <a:solidFill>
                  <a:srgbClr val="FF0000"/>
                </a:solidFill>
              </a:rPr>
              <a:t>small, regular improvements</a:t>
            </a:r>
            <a:r>
              <a:rPr lang="en-US" dirty="0">
                <a:solidFill>
                  <a:srgbClr val="FF0000"/>
                </a:solidFill>
              </a:rPr>
              <a:t> to processes, products, and work practices rather than waiting for one major change.</a:t>
            </a:r>
            <a:endParaRPr lang="th-TH" dirty="0">
              <a:solidFill>
                <a:srgbClr val="FF0000"/>
              </a:solidFill>
            </a:endParaRPr>
          </a:p>
        </p:txBody>
      </p:sp>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aizen: A Guide to the Japanese Business Efficiency Philosophy">
            <a:extLst>
              <a:ext uri="{FF2B5EF4-FFF2-40B4-BE49-F238E27FC236}">
                <a16:creationId xmlns:a16="http://schemas.microsoft.com/office/drawing/2014/main" id="{E402A9BF-A865-4447-A37D-1E5ED9598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304800"/>
            <a:ext cx="6457950" cy="43053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9425A88-F918-42FE-8105-21FFA7060CF1}"/>
              </a:ext>
            </a:extLst>
          </p:cNvPr>
          <p:cNvPicPr>
            <a:picLocks noChangeAspect="1"/>
          </p:cNvPicPr>
          <p:nvPr/>
        </p:nvPicPr>
        <p:blipFill>
          <a:blip r:embed="rId3"/>
          <a:stretch>
            <a:fillRect/>
          </a:stretch>
        </p:blipFill>
        <p:spPr>
          <a:xfrm>
            <a:off x="7410450" y="304800"/>
            <a:ext cx="4157662" cy="4157662"/>
          </a:xfrm>
          <a:prstGeom prst="rect">
            <a:avLst/>
          </a:prstGeom>
        </p:spPr>
      </p:pic>
    </p:spTree>
    <p:extLst>
      <p:ext uri="{BB962C8B-B14F-4D97-AF65-F5344CB8AC3E}">
        <p14:creationId xmlns:p14="http://schemas.microsoft.com/office/powerpoint/2010/main" val="2894857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593B2F-D6E2-41B8-8F46-0D0AFB9E7CF4}"/>
              </a:ext>
            </a:extLst>
          </p:cNvPr>
          <p:cNvPicPr>
            <a:picLocks noChangeAspect="1"/>
          </p:cNvPicPr>
          <p:nvPr/>
        </p:nvPicPr>
        <p:blipFill>
          <a:blip r:embed="rId2"/>
          <a:stretch>
            <a:fillRect/>
          </a:stretch>
        </p:blipFill>
        <p:spPr>
          <a:xfrm>
            <a:off x="2745581" y="960270"/>
            <a:ext cx="6700838" cy="4937460"/>
          </a:xfrm>
          <a:prstGeom prst="rect">
            <a:avLst/>
          </a:prstGeom>
        </p:spPr>
      </p:pic>
    </p:spTree>
    <p:extLst>
      <p:ext uri="{BB962C8B-B14F-4D97-AF65-F5344CB8AC3E}">
        <p14:creationId xmlns:p14="http://schemas.microsoft.com/office/powerpoint/2010/main" val="3250432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3D612F-FC8D-46CF-A952-B3F665AD3BE7}"/>
              </a:ext>
            </a:extLst>
          </p:cNvPr>
          <p:cNvSpPr txBox="1"/>
          <p:nvPr/>
        </p:nvSpPr>
        <p:spPr>
          <a:xfrm>
            <a:off x="460772" y="486877"/>
            <a:ext cx="11326415" cy="5755422"/>
          </a:xfrm>
          <a:prstGeom prst="rect">
            <a:avLst/>
          </a:prstGeom>
          <a:noFill/>
        </p:spPr>
        <p:txBody>
          <a:bodyPr wrap="square">
            <a:spAutoFit/>
          </a:bodyPr>
          <a:lstStyle/>
          <a:p>
            <a:r>
              <a:rPr lang="en-US" sz="2300" b="1" dirty="0"/>
              <a:t>Example:</a:t>
            </a:r>
            <a:endParaRPr lang="en-US" sz="2300" dirty="0"/>
          </a:p>
          <a:p>
            <a:r>
              <a:rPr lang="en-US" sz="2300" dirty="0"/>
              <a:t>A company operates a </a:t>
            </a:r>
            <a:r>
              <a:rPr lang="en-US" sz="2300" b="1" dirty="0"/>
              <a:t>mobile banking application</a:t>
            </a:r>
            <a:r>
              <a:rPr lang="en-US" sz="2300" dirty="0"/>
              <a:t>. Instead of completely redesigning the application every year, the team continuously looks for small improvements based on customer feedback and system data.</a:t>
            </a:r>
          </a:p>
          <a:p>
            <a:r>
              <a:rPr lang="en-US" sz="2300" dirty="0"/>
              <a:t>For example, customers report that the </a:t>
            </a:r>
            <a:r>
              <a:rPr lang="en-US" sz="2300" b="1" dirty="0"/>
              <a:t>money-transfer process takes too many steps</a:t>
            </a:r>
            <a:r>
              <a:rPr lang="en-US" sz="2300" dirty="0"/>
              <a:t>. The team reduces the process from </a:t>
            </a:r>
            <a:r>
              <a:rPr lang="en-US" sz="2300" b="1" dirty="0"/>
              <a:t>five steps to four steps</a:t>
            </a:r>
            <a:r>
              <a:rPr lang="en-US" sz="2300" dirty="0"/>
              <a:t>. Later, they improve the confirmation screen and make transaction information easier to understand. Each small improvement contributes to a better overall customer experience.</a:t>
            </a:r>
          </a:p>
          <a:p>
            <a:r>
              <a:rPr lang="en-US" sz="2300" dirty="0"/>
              <a:t>Kaizen emphasizes:</a:t>
            </a:r>
          </a:p>
          <a:p>
            <a:pPr>
              <a:buFont typeface="Arial" panose="020B0604020202020204" pitchFamily="34" charset="0"/>
              <a:buChar char="•"/>
            </a:pPr>
            <a:r>
              <a:rPr lang="en-US" sz="2300" b="1" dirty="0">
                <a:solidFill>
                  <a:srgbClr val="FF0000"/>
                </a:solidFill>
              </a:rPr>
              <a:t>Continuous improvement</a:t>
            </a:r>
            <a:r>
              <a:rPr lang="en-US" sz="2300" dirty="0">
                <a:solidFill>
                  <a:srgbClr val="FF0000"/>
                </a:solidFill>
              </a:rPr>
              <a:t> </a:t>
            </a:r>
            <a:r>
              <a:rPr lang="en-US" sz="2300" dirty="0"/>
              <a:t>— improvement is an ongoing activity. </a:t>
            </a:r>
          </a:p>
          <a:p>
            <a:pPr>
              <a:buFont typeface="Arial" panose="020B0604020202020204" pitchFamily="34" charset="0"/>
              <a:buChar char="•"/>
            </a:pPr>
            <a:r>
              <a:rPr lang="en-US" sz="2300" b="1" dirty="0"/>
              <a:t>Small changes</a:t>
            </a:r>
            <a:r>
              <a:rPr lang="en-US" sz="2300" dirty="0"/>
              <a:t> — many small improvements can create significant results. </a:t>
            </a:r>
          </a:p>
          <a:p>
            <a:pPr>
              <a:buFont typeface="Arial" panose="020B0604020202020204" pitchFamily="34" charset="0"/>
              <a:buChar char="•"/>
            </a:pPr>
            <a:r>
              <a:rPr lang="en-US" sz="2300" b="1" dirty="0"/>
              <a:t>Employee participation</a:t>
            </a:r>
            <a:r>
              <a:rPr lang="en-US" sz="2300" dirty="0"/>
              <a:t> — everyone can suggest improvements. </a:t>
            </a:r>
          </a:p>
          <a:p>
            <a:pPr>
              <a:buFont typeface="Arial" panose="020B0604020202020204" pitchFamily="34" charset="0"/>
              <a:buChar char="•"/>
            </a:pPr>
            <a:r>
              <a:rPr lang="en-US" sz="2300" b="1" dirty="0"/>
              <a:t>Problem solving</a:t>
            </a:r>
            <a:r>
              <a:rPr lang="en-US" sz="2300" dirty="0"/>
              <a:t> — teams identify and eliminate causes of inefficiency. </a:t>
            </a:r>
          </a:p>
          <a:p>
            <a:pPr>
              <a:buFont typeface="Arial" panose="020B0604020202020204" pitchFamily="34" charset="0"/>
              <a:buChar char="•"/>
            </a:pPr>
            <a:r>
              <a:rPr lang="en-US" sz="2300" b="1" dirty="0"/>
              <a:t>Customer focus</a:t>
            </a:r>
            <a:r>
              <a:rPr lang="en-US" sz="2300" dirty="0"/>
              <a:t> — improvements should create greater value for users. </a:t>
            </a:r>
          </a:p>
          <a:p>
            <a:pPr>
              <a:buFont typeface="Arial" panose="020B0604020202020204" pitchFamily="34" charset="0"/>
              <a:buChar char="•"/>
            </a:pPr>
            <a:r>
              <a:rPr lang="en-US" sz="2300" b="1" dirty="0"/>
              <a:t>Waste reduction</a:t>
            </a:r>
            <a:r>
              <a:rPr lang="en-US" sz="2300" dirty="0"/>
              <a:t> — unnecessary activities, time, and resources are minimized. </a:t>
            </a:r>
          </a:p>
          <a:p>
            <a:pPr>
              <a:buFont typeface="Arial" panose="020B0604020202020204" pitchFamily="34" charset="0"/>
              <a:buChar char="•"/>
            </a:pPr>
            <a:r>
              <a:rPr lang="en-US" sz="2300" b="1" dirty="0"/>
              <a:t>Standardization</a:t>
            </a:r>
            <a:r>
              <a:rPr lang="en-US" sz="2300" dirty="0"/>
              <a:t> — successful improvements become part of normal working practices.</a:t>
            </a:r>
          </a:p>
        </p:txBody>
      </p:sp>
    </p:spTree>
    <p:extLst>
      <p:ext uri="{BB962C8B-B14F-4D97-AF65-F5344CB8AC3E}">
        <p14:creationId xmlns:p14="http://schemas.microsoft.com/office/powerpoint/2010/main" val="3692018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pple iPhone's GTM Strategy">
            <a:extLst>
              <a:ext uri="{FF2B5EF4-FFF2-40B4-BE49-F238E27FC236}">
                <a16:creationId xmlns:a16="http://schemas.microsoft.com/office/drawing/2014/main" id="{74A440A7-B23B-4B38-A745-5E256AAE6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787598"/>
            <a:ext cx="9391650" cy="5282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892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65479" y="360846"/>
            <a:ext cx="6093618" cy="4832092"/>
          </a:xfrm>
          <a:prstGeom prst="rect">
            <a:avLst/>
          </a:prstGeom>
          <a:noFill/>
        </p:spPr>
        <p:txBody>
          <a:bodyPr wrap="square">
            <a:spAutoFit/>
          </a:bodyPr>
          <a:lstStyle/>
          <a:p>
            <a:r>
              <a:rPr lang="en-US" b="1" dirty="0"/>
              <a:t>2. PDCA Cycle (Plan–Do–Check–Act)</a:t>
            </a:r>
          </a:p>
          <a:p>
            <a:r>
              <a:rPr lang="en-US" dirty="0"/>
              <a:t>The PDCA cycle provides a structured, iterative approach to problem-solving and improvement. Teams plan a change, implement it on a small scale, evaluate results, and standardize successful solutions. This cycle supports learning from experiments, reducing risk, and driving consistent performance enhancement over time through systematic adjustments.</a:t>
            </a:r>
          </a:p>
        </p:txBody>
      </p:sp>
      <p:sp>
        <p:nvSpPr>
          <p:cNvPr id="4" name="TextBox 3">
            <a:extLst>
              <a:ext uri="{FF2B5EF4-FFF2-40B4-BE49-F238E27FC236}">
                <a16:creationId xmlns:a16="http://schemas.microsoft.com/office/drawing/2014/main" id="{4D1C22E3-6576-44B8-8E1D-9DC6582C2F95}"/>
              </a:ext>
            </a:extLst>
          </p:cNvPr>
          <p:cNvSpPr txBox="1"/>
          <p:nvPr/>
        </p:nvSpPr>
        <p:spPr>
          <a:xfrm>
            <a:off x="8686800" y="360846"/>
            <a:ext cx="3311128" cy="4401205"/>
          </a:xfrm>
          <a:prstGeom prst="rect">
            <a:avLst/>
          </a:prstGeom>
          <a:noFill/>
        </p:spPr>
        <p:txBody>
          <a:bodyPr wrap="square">
            <a:spAutoFit/>
          </a:bodyPr>
          <a:lstStyle/>
          <a:p>
            <a:r>
              <a:rPr lang="en-US" b="1" dirty="0">
                <a:solidFill>
                  <a:srgbClr val="FF0000"/>
                </a:solidFill>
                <a:highlight>
                  <a:srgbClr val="FFFF00"/>
                </a:highlight>
              </a:rPr>
              <a:t>continuous improvement</a:t>
            </a:r>
            <a:r>
              <a:rPr lang="en-US" b="1" dirty="0">
                <a:solidFill>
                  <a:srgbClr val="FF0000"/>
                </a:solidFill>
              </a:rPr>
              <a:t> method used to identify problems, test solutions, evaluate results, and make successful improvements part of normal operations</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54594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8CDCEF-54B2-4757-8205-F941DAC911E0}"/>
              </a:ext>
            </a:extLst>
          </p:cNvPr>
          <p:cNvPicPr>
            <a:picLocks noChangeAspect="1"/>
          </p:cNvPicPr>
          <p:nvPr/>
        </p:nvPicPr>
        <p:blipFill>
          <a:blip r:embed="rId2"/>
          <a:stretch>
            <a:fillRect/>
          </a:stretch>
        </p:blipFill>
        <p:spPr>
          <a:xfrm>
            <a:off x="1761520" y="818785"/>
            <a:ext cx="8668960" cy="5220429"/>
          </a:xfrm>
          <a:prstGeom prst="rect">
            <a:avLst/>
          </a:prstGeom>
        </p:spPr>
      </p:pic>
    </p:spTree>
    <p:extLst>
      <p:ext uri="{BB962C8B-B14F-4D97-AF65-F5344CB8AC3E}">
        <p14:creationId xmlns:p14="http://schemas.microsoft.com/office/powerpoint/2010/main" val="3233869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4B7751-3482-4C31-9DCB-A368BF2B3490}"/>
              </a:ext>
            </a:extLst>
          </p:cNvPr>
          <p:cNvSpPr txBox="1"/>
          <p:nvPr/>
        </p:nvSpPr>
        <p:spPr>
          <a:xfrm>
            <a:off x="689371" y="399306"/>
            <a:ext cx="11240691" cy="3985706"/>
          </a:xfrm>
          <a:prstGeom prst="rect">
            <a:avLst/>
          </a:prstGeom>
          <a:noFill/>
        </p:spPr>
        <p:txBody>
          <a:bodyPr wrap="square">
            <a:spAutoFit/>
          </a:bodyPr>
          <a:lstStyle/>
          <a:p>
            <a:r>
              <a:rPr lang="en-US" sz="2300" b="1" dirty="0"/>
              <a:t>Example:</a:t>
            </a:r>
            <a:endParaRPr lang="en-US" sz="2300" dirty="0"/>
          </a:p>
          <a:p>
            <a:r>
              <a:rPr lang="en-US" sz="2300" dirty="0"/>
              <a:t>A bank discovers that customers are taking too long to complete </a:t>
            </a:r>
            <a:r>
              <a:rPr lang="en-US" sz="2300" b="1" dirty="0"/>
              <a:t>money transfers through its mobile banking application</a:t>
            </a:r>
            <a:r>
              <a:rPr lang="en-US" sz="2300" dirty="0"/>
              <a:t>. The development team applies the PDCA cycle to improve the process.</a:t>
            </a:r>
          </a:p>
          <a:p>
            <a:pPr>
              <a:buFont typeface="Arial" panose="020B0604020202020204" pitchFamily="34" charset="0"/>
              <a:buChar char="•"/>
            </a:pPr>
            <a:r>
              <a:rPr lang="en-US" sz="2300" b="1" dirty="0"/>
              <a:t>Plan</a:t>
            </a:r>
            <a:r>
              <a:rPr lang="en-US" sz="2300" dirty="0"/>
              <a:t> — Analyze customer feedback and identify that the transfer process has too many steps. The team plans to reduce it from </a:t>
            </a:r>
            <a:r>
              <a:rPr lang="en-US" sz="2300" b="1" dirty="0"/>
              <a:t>five steps to three steps</a:t>
            </a:r>
            <a:r>
              <a:rPr lang="en-US" sz="2300" dirty="0"/>
              <a:t>. </a:t>
            </a:r>
          </a:p>
          <a:p>
            <a:pPr>
              <a:buFont typeface="Arial" panose="020B0604020202020204" pitchFamily="34" charset="0"/>
              <a:buChar char="•"/>
            </a:pPr>
            <a:r>
              <a:rPr lang="en-US" sz="2300" b="1" dirty="0"/>
              <a:t>Do</a:t>
            </a:r>
            <a:r>
              <a:rPr lang="en-US" sz="2300" dirty="0"/>
              <a:t> — Develop the simplified transfer process and test it with a small group of users. </a:t>
            </a:r>
          </a:p>
          <a:p>
            <a:pPr>
              <a:buFont typeface="Arial" panose="020B0604020202020204" pitchFamily="34" charset="0"/>
              <a:buChar char="•"/>
            </a:pPr>
            <a:r>
              <a:rPr lang="en-US" sz="2300" b="1" dirty="0"/>
              <a:t>Check</a:t>
            </a:r>
            <a:r>
              <a:rPr lang="en-US" sz="2300" dirty="0"/>
              <a:t> — Compare results before and after the change. For example, average completion time decreases from </a:t>
            </a:r>
            <a:r>
              <a:rPr lang="en-US" sz="2300" b="1" dirty="0"/>
              <a:t>90 seconds to 50 seconds</a:t>
            </a:r>
            <a:r>
              <a:rPr lang="en-US" sz="2300" dirty="0"/>
              <a:t>. </a:t>
            </a:r>
          </a:p>
          <a:p>
            <a:pPr>
              <a:buFont typeface="Arial" panose="020B0604020202020204" pitchFamily="34" charset="0"/>
              <a:buChar char="•"/>
            </a:pPr>
            <a:r>
              <a:rPr lang="en-US" sz="2300" b="1" dirty="0"/>
              <a:t>Act</a:t>
            </a:r>
            <a:r>
              <a:rPr lang="en-US" sz="2300" dirty="0"/>
              <a:t> — If the new design is successful, implement it for all users and make it the new standard. If results are unsatisfactory, revise the solution and repeat the cycle.</a:t>
            </a:r>
          </a:p>
        </p:txBody>
      </p:sp>
    </p:spTree>
    <p:extLst>
      <p:ext uri="{BB962C8B-B14F-4D97-AF65-F5344CB8AC3E}">
        <p14:creationId xmlns:p14="http://schemas.microsoft.com/office/powerpoint/2010/main" val="1906795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58791" y="364368"/>
            <a:ext cx="6093618" cy="4832092"/>
          </a:xfrm>
          <a:prstGeom prst="rect">
            <a:avLst/>
          </a:prstGeom>
          <a:noFill/>
        </p:spPr>
        <p:txBody>
          <a:bodyPr wrap="square">
            <a:spAutoFit/>
          </a:bodyPr>
          <a:lstStyle/>
          <a:p>
            <a:r>
              <a:rPr lang="en-US" b="1" dirty="0"/>
              <a:t>3. Root Cause Analysis (RCA)</a:t>
            </a:r>
          </a:p>
          <a:p>
            <a:r>
              <a:rPr lang="en-US" dirty="0"/>
              <a:t>Root Cause Analysis identifies the underlying causes of problems rather than focusing on symptoms. Tools like the 5 Whys and Fishbone Diagram help teams explore issues deeply. Eliminating root causes prevents recurring problems, improves reliability, and strengthens operational processes, resulting in more sustainable solutions and performance stability.</a:t>
            </a:r>
          </a:p>
        </p:txBody>
      </p:sp>
      <p:sp>
        <p:nvSpPr>
          <p:cNvPr id="4" name="TextBox 3">
            <a:extLst>
              <a:ext uri="{FF2B5EF4-FFF2-40B4-BE49-F238E27FC236}">
                <a16:creationId xmlns:a16="http://schemas.microsoft.com/office/drawing/2014/main" id="{D82F0908-8BCB-4164-9AF1-35829A696DB3}"/>
              </a:ext>
            </a:extLst>
          </p:cNvPr>
          <p:cNvSpPr txBox="1"/>
          <p:nvPr/>
        </p:nvSpPr>
        <p:spPr>
          <a:xfrm>
            <a:off x="8943974" y="504260"/>
            <a:ext cx="2825353" cy="4339650"/>
          </a:xfrm>
          <a:prstGeom prst="rect">
            <a:avLst/>
          </a:prstGeom>
          <a:noFill/>
        </p:spPr>
        <p:txBody>
          <a:bodyPr wrap="square">
            <a:spAutoFit/>
          </a:bodyPr>
          <a:lstStyle/>
          <a:p>
            <a:r>
              <a:rPr lang="en-US" sz="2300" dirty="0">
                <a:solidFill>
                  <a:srgbClr val="FF0000"/>
                </a:solidFill>
              </a:rPr>
              <a:t>Root Cause Analysis (RCA) is a </a:t>
            </a:r>
            <a:r>
              <a:rPr lang="en-US" sz="2300" b="1" dirty="0">
                <a:solidFill>
                  <a:srgbClr val="FF0000"/>
                </a:solidFill>
              </a:rPr>
              <a:t>problem-solving method used to identify the fundamental cause of a problem rather than only fixing its symptoms</a:t>
            </a:r>
            <a:r>
              <a:rPr lang="en-US" sz="2300" dirty="0">
                <a:solidFill>
                  <a:srgbClr val="FF0000"/>
                </a:solidFill>
              </a:rPr>
              <a:t>. The objective is to prevent the same problem from happening again.</a:t>
            </a:r>
            <a:endParaRPr lang="th-TH" sz="2300" dirty="0">
              <a:solidFill>
                <a:srgbClr val="FF0000"/>
              </a:solidFill>
            </a:endParaRPr>
          </a:p>
        </p:txBody>
      </p:sp>
    </p:spTree>
    <p:extLst>
      <p:ext uri="{BB962C8B-B14F-4D97-AF65-F5344CB8AC3E}">
        <p14:creationId xmlns:p14="http://schemas.microsoft.com/office/powerpoint/2010/main" val="2342095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3B29BE-3289-487E-9BE9-EFD56266DA94}"/>
              </a:ext>
            </a:extLst>
          </p:cNvPr>
          <p:cNvPicPr>
            <a:picLocks noChangeAspect="1"/>
          </p:cNvPicPr>
          <p:nvPr/>
        </p:nvPicPr>
        <p:blipFill>
          <a:blip r:embed="rId2"/>
          <a:stretch>
            <a:fillRect/>
          </a:stretch>
        </p:blipFill>
        <p:spPr>
          <a:xfrm>
            <a:off x="2238886" y="192881"/>
            <a:ext cx="7714228" cy="6472237"/>
          </a:xfrm>
          <a:prstGeom prst="rect">
            <a:avLst/>
          </a:prstGeom>
        </p:spPr>
      </p:pic>
    </p:spTree>
    <p:extLst>
      <p:ext uri="{BB962C8B-B14F-4D97-AF65-F5344CB8AC3E}">
        <p14:creationId xmlns:p14="http://schemas.microsoft.com/office/powerpoint/2010/main" val="3243127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F15FA9-3382-450B-97B1-A18DF8127BA7}"/>
              </a:ext>
            </a:extLst>
          </p:cNvPr>
          <p:cNvPicPr>
            <a:picLocks noChangeAspect="1"/>
          </p:cNvPicPr>
          <p:nvPr/>
        </p:nvPicPr>
        <p:blipFill>
          <a:blip r:embed="rId2"/>
          <a:stretch>
            <a:fillRect/>
          </a:stretch>
        </p:blipFill>
        <p:spPr>
          <a:xfrm>
            <a:off x="2278029" y="412654"/>
            <a:ext cx="7635941" cy="6032692"/>
          </a:xfrm>
          <a:prstGeom prst="rect">
            <a:avLst/>
          </a:prstGeom>
        </p:spPr>
      </p:pic>
    </p:spTree>
    <p:extLst>
      <p:ext uri="{BB962C8B-B14F-4D97-AF65-F5344CB8AC3E}">
        <p14:creationId xmlns:p14="http://schemas.microsoft.com/office/powerpoint/2010/main" val="1906778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E0B995-F900-49B9-8AC4-7DE5410F5051}"/>
              </a:ext>
            </a:extLst>
          </p:cNvPr>
          <p:cNvPicPr>
            <a:picLocks noChangeAspect="1"/>
          </p:cNvPicPr>
          <p:nvPr/>
        </p:nvPicPr>
        <p:blipFill>
          <a:blip r:embed="rId2"/>
          <a:stretch>
            <a:fillRect/>
          </a:stretch>
        </p:blipFill>
        <p:spPr>
          <a:xfrm>
            <a:off x="1666278" y="0"/>
            <a:ext cx="8545118" cy="3534268"/>
          </a:xfrm>
          <a:prstGeom prst="rect">
            <a:avLst/>
          </a:prstGeom>
        </p:spPr>
      </p:pic>
      <p:pic>
        <p:nvPicPr>
          <p:cNvPr id="5122" name="Picture 2" descr="Fish bone diagram">
            <a:extLst>
              <a:ext uri="{FF2B5EF4-FFF2-40B4-BE49-F238E27FC236}">
                <a16:creationId xmlns:a16="http://schemas.microsoft.com/office/drawing/2014/main" id="{7430779D-3546-45D1-BDCE-398E33E98F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6668" y="3648981"/>
            <a:ext cx="4224338" cy="2627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237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E71413BC-37B1-EFA9-4CD5-9E54AA71A36B}"/>
              </a:ext>
            </a:extLst>
          </p:cNvPr>
          <p:cNvSpPr/>
          <p:nvPr/>
        </p:nvSpPr>
        <p:spPr>
          <a:xfrm>
            <a:off x="7902054" y="3043451"/>
            <a:ext cx="1665027" cy="105087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Thailand-China</a:t>
            </a:r>
          </a:p>
          <a:p>
            <a:pPr algn="ctr"/>
            <a:r>
              <a:rPr lang="en-US" sz="1500" dirty="0"/>
              <a:t>logistics</a:t>
            </a:r>
            <a:endParaRPr lang="th-TH" sz="1500" dirty="0"/>
          </a:p>
        </p:txBody>
      </p:sp>
      <p:cxnSp>
        <p:nvCxnSpPr>
          <p:cNvPr id="4" name="Straight Connector 3">
            <a:extLst>
              <a:ext uri="{FF2B5EF4-FFF2-40B4-BE49-F238E27FC236}">
                <a16:creationId xmlns:a16="http://schemas.microsoft.com/office/drawing/2014/main" id="{ED11137A-4384-F737-6AB4-BBE7CF1123B1}"/>
              </a:ext>
            </a:extLst>
          </p:cNvPr>
          <p:cNvCxnSpPr>
            <a:cxnSpLocks/>
            <a:endCxn id="2" idx="1"/>
          </p:cNvCxnSpPr>
          <p:nvPr/>
        </p:nvCxnSpPr>
        <p:spPr>
          <a:xfrm>
            <a:off x="2238233" y="3568890"/>
            <a:ext cx="56638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C45778A-8B7E-D52B-4F39-F306E3EE40C8}"/>
              </a:ext>
            </a:extLst>
          </p:cNvPr>
          <p:cNvCxnSpPr/>
          <p:nvPr/>
        </p:nvCxnSpPr>
        <p:spPr>
          <a:xfrm>
            <a:off x="5923128" y="2074460"/>
            <a:ext cx="1241947" cy="1494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36B0DFF-D4C0-78F1-2855-B1C4C0C6C36D}"/>
              </a:ext>
            </a:extLst>
          </p:cNvPr>
          <p:cNvCxnSpPr/>
          <p:nvPr/>
        </p:nvCxnSpPr>
        <p:spPr>
          <a:xfrm>
            <a:off x="3637127" y="2074460"/>
            <a:ext cx="1241947" cy="1494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577DAAC-8048-5501-69C5-3E9B0A02A588}"/>
              </a:ext>
            </a:extLst>
          </p:cNvPr>
          <p:cNvCxnSpPr>
            <a:cxnSpLocks/>
          </p:cNvCxnSpPr>
          <p:nvPr/>
        </p:nvCxnSpPr>
        <p:spPr>
          <a:xfrm flipH="1">
            <a:off x="5923128" y="3609832"/>
            <a:ext cx="1241947" cy="1453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C94E6D-0C6F-0BD7-93D6-AACF0EC5F976}"/>
              </a:ext>
            </a:extLst>
          </p:cNvPr>
          <p:cNvCxnSpPr>
            <a:cxnSpLocks/>
          </p:cNvCxnSpPr>
          <p:nvPr/>
        </p:nvCxnSpPr>
        <p:spPr>
          <a:xfrm flipH="1">
            <a:off x="3537045" y="3606420"/>
            <a:ext cx="1241947" cy="1453488"/>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8C4A941-3923-E012-EB92-64FA7F9361B5}"/>
              </a:ext>
            </a:extLst>
          </p:cNvPr>
          <p:cNvSpPr/>
          <p:nvPr/>
        </p:nvSpPr>
        <p:spPr>
          <a:xfrm>
            <a:off x="5070143" y="1446663"/>
            <a:ext cx="1453487" cy="586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3" name="Rectangle 12">
            <a:extLst>
              <a:ext uri="{FF2B5EF4-FFF2-40B4-BE49-F238E27FC236}">
                <a16:creationId xmlns:a16="http://schemas.microsoft.com/office/drawing/2014/main" id="{3044D742-9BBA-87C6-ACCF-7516368C0871}"/>
              </a:ext>
            </a:extLst>
          </p:cNvPr>
          <p:cNvSpPr/>
          <p:nvPr/>
        </p:nvSpPr>
        <p:spPr>
          <a:xfrm>
            <a:off x="2704531" y="1446662"/>
            <a:ext cx="1453487" cy="586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4" name="Rectangle 13">
            <a:extLst>
              <a:ext uri="{FF2B5EF4-FFF2-40B4-BE49-F238E27FC236}">
                <a16:creationId xmlns:a16="http://schemas.microsoft.com/office/drawing/2014/main" id="{F07B46B7-CB1B-1CFD-AFD9-98D187746922}"/>
              </a:ext>
            </a:extLst>
          </p:cNvPr>
          <p:cNvSpPr/>
          <p:nvPr/>
        </p:nvSpPr>
        <p:spPr>
          <a:xfrm>
            <a:off x="5090614" y="5049670"/>
            <a:ext cx="1453487" cy="586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5" name="Rectangle 14">
            <a:extLst>
              <a:ext uri="{FF2B5EF4-FFF2-40B4-BE49-F238E27FC236}">
                <a16:creationId xmlns:a16="http://schemas.microsoft.com/office/drawing/2014/main" id="{898BBA05-8697-4998-AA72-B0D3B8864759}"/>
              </a:ext>
            </a:extLst>
          </p:cNvPr>
          <p:cNvSpPr/>
          <p:nvPr/>
        </p:nvSpPr>
        <p:spPr>
          <a:xfrm>
            <a:off x="2754573" y="5049669"/>
            <a:ext cx="1453487" cy="586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6" name="Rectangle 15">
            <a:extLst>
              <a:ext uri="{FF2B5EF4-FFF2-40B4-BE49-F238E27FC236}">
                <a16:creationId xmlns:a16="http://schemas.microsoft.com/office/drawing/2014/main" id="{4E22D927-BE29-A9AF-E048-372DF1A03ED4}"/>
              </a:ext>
            </a:extLst>
          </p:cNvPr>
          <p:cNvSpPr/>
          <p:nvPr/>
        </p:nvSpPr>
        <p:spPr>
          <a:xfrm>
            <a:off x="7874759" y="5062182"/>
            <a:ext cx="2254156" cy="586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?&gt;main cause</a:t>
            </a:r>
            <a:endParaRPr lang="th-TH" dirty="0"/>
          </a:p>
        </p:txBody>
      </p:sp>
      <p:sp>
        <p:nvSpPr>
          <p:cNvPr id="17" name="Oval 16">
            <a:extLst>
              <a:ext uri="{FF2B5EF4-FFF2-40B4-BE49-F238E27FC236}">
                <a16:creationId xmlns:a16="http://schemas.microsoft.com/office/drawing/2014/main" id="{3D91ABA2-1B45-89C6-542A-947D36052704}"/>
              </a:ext>
            </a:extLst>
          </p:cNvPr>
          <p:cNvSpPr/>
          <p:nvPr/>
        </p:nvSpPr>
        <p:spPr>
          <a:xfrm>
            <a:off x="5186150" y="2415655"/>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8" name="Oval 17">
            <a:extLst>
              <a:ext uri="{FF2B5EF4-FFF2-40B4-BE49-F238E27FC236}">
                <a16:creationId xmlns:a16="http://schemas.microsoft.com/office/drawing/2014/main" id="{9887E913-FF96-0E0E-6A65-98872BEE1E6D}"/>
              </a:ext>
            </a:extLst>
          </p:cNvPr>
          <p:cNvSpPr/>
          <p:nvPr/>
        </p:nvSpPr>
        <p:spPr>
          <a:xfrm>
            <a:off x="5616052" y="2951335"/>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19" name="Oval 18">
            <a:extLst>
              <a:ext uri="{FF2B5EF4-FFF2-40B4-BE49-F238E27FC236}">
                <a16:creationId xmlns:a16="http://schemas.microsoft.com/office/drawing/2014/main" id="{69A9CECD-54BF-E287-A7E0-30E5B2D3E5D9}"/>
              </a:ext>
            </a:extLst>
          </p:cNvPr>
          <p:cNvSpPr/>
          <p:nvPr/>
        </p:nvSpPr>
        <p:spPr>
          <a:xfrm>
            <a:off x="5616052" y="3828210"/>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0" name="Oval 19">
            <a:extLst>
              <a:ext uri="{FF2B5EF4-FFF2-40B4-BE49-F238E27FC236}">
                <a16:creationId xmlns:a16="http://schemas.microsoft.com/office/drawing/2014/main" id="{4F70B67B-6551-5D90-C8D5-CA654F4D8485}"/>
              </a:ext>
            </a:extLst>
          </p:cNvPr>
          <p:cNvSpPr/>
          <p:nvPr/>
        </p:nvSpPr>
        <p:spPr>
          <a:xfrm>
            <a:off x="5149757" y="4438944"/>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1" name="Oval 20">
            <a:extLst>
              <a:ext uri="{FF2B5EF4-FFF2-40B4-BE49-F238E27FC236}">
                <a16:creationId xmlns:a16="http://schemas.microsoft.com/office/drawing/2014/main" id="{AEADA7E3-EDE6-1EF9-D4E3-921A7983F2F3}"/>
              </a:ext>
            </a:extLst>
          </p:cNvPr>
          <p:cNvSpPr/>
          <p:nvPr/>
        </p:nvSpPr>
        <p:spPr>
          <a:xfrm>
            <a:off x="2835891" y="2381538"/>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2" name="Oval 21">
            <a:extLst>
              <a:ext uri="{FF2B5EF4-FFF2-40B4-BE49-F238E27FC236}">
                <a16:creationId xmlns:a16="http://schemas.microsoft.com/office/drawing/2014/main" id="{9FC88D34-14D3-4577-980F-F0A31D45A004}"/>
              </a:ext>
            </a:extLst>
          </p:cNvPr>
          <p:cNvSpPr/>
          <p:nvPr/>
        </p:nvSpPr>
        <p:spPr>
          <a:xfrm>
            <a:off x="3246463" y="2951334"/>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3" name="Oval 22">
            <a:extLst>
              <a:ext uri="{FF2B5EF4-FFF2-40B4-BE49-F238E27FC236}">
                <a16:creationId xmlns:a16="http://schemas.microsoft.com/office/drawing/2014/main" id="{1E154C0B-B249-8516-75F9-66F30C4BB554}"/>
              </a:ext>
            </a:extLst>
          </p:cNvPr>
          <p:cNvSpPr/>
          <p:nvPr/>
        </p:nvSpPr>
        <p:spPr>
          <a:xfrm>
            <a:off x="3220872" y="3875968"/>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4" name="Oval 23">
            <a:extLst>
              <a:ext uri="{FF2B5EF4-FFF2-40B4-BE49-F238E27FC236}">
                <a16:creationId xmlns:a16="http://schemas.microsoft.com/office/drawing/2014/main" id="{7BDE8DA7-705C-3573-3D25-73BAFF471FBF}"/>
              </a:ext>
            </a:extLst>
          </p:cNvPr>
          <p:cNvSpPr/>
          <p:nvPr/>
        </p:nvSpPr>
        <p:spPr>
          <a:xfrm>
            <a:off x="2625489" y="4449182"/>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th-TH" dirty="0"/>
          </a:p>
        </p:txBody>
      </p:sp>
      <p:sp>
        <p:nvSpPr>
          <p:cNvPr id="25" name="Oval 24">
            <a:extLst>
              <a:ext uri="{FF2B5EF4-FFF2-40B4-BE49-F238E27FC236}">
                <a16:creationId xmlns:a16="http://schemas.microsoft.com/office/drawing/2014/main" id="{9A80F073-552E-2CD2-B5FD-A6F058716784}"/>
              </a:ext>
            </a:extLst>
          </p:cNvPr>
          <p:cNvSpPr/>
          <p:nvPr/>
        </p:nvSpPr>
        <p:spPr>
          <a:xfrm>
            <a:off x="7902054" y="5898109"/>
            <a:ext cx="1190766" cy="354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?&gt; sub</a:t>
            </a:r>
            <a:endParaRPr lang="th-TH" sz="1500" dirty="0"/>
          </a:p>
        </p:txBody>
      </p:sp>
    </p:spTree>
    <p:extLst>
      <p:ext uri="{BB962C8B-B14F-4D97-AF65-F5344CB8AC3E}">
        <p14:creationId xmlns:p14="http://schemas.microsoft.com/office/powerpoint/2010/main" val="313649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1F7215-708F-E8A6-F2F7-176C0834A4FE}"/>
              </a:ext>
            </a:extLst>
          </p:cNvPr>
          <p:cNvSpPr txBox="1"/>
          <p:nvPr/>
        </p:nvSpPr>
        <p:spPr>
          <a:xfrm>
            <a:off x="1470454" y="1581665"/>
            <a:ext cx="10620600" cy="1384995"/>
          </a:xfrm>
          <a:prstGeom prst="rect">
            <a:avLst/>
          </a:prstGeom>
          <a:noFill/>
        </p:spPr>
        <p:txBody>
          <a:bodyPr wrap="none" rtlCol="0">
            <a:spAutoFit/>
          </a:bodyPr>
          <a:lstStyle/>
          <a:p>
            <a:r>
              <a:rPr lang="en-US" dirty="0"/>
              <a:t>Create and explain “fishbone diagram” as </a:t>
            </a:r>
            <a:r>
              <a:rPr lang="en-US" b="1" dirty="0"/>
              <a:t>Root Cause Analysis </a:t>
            </a:r>
          </a:p>
          <a:p>
            <a:r>
              <a:rPr lang="en-US" b="1" dirty="0"/>
              <a:t>for continuous improvement in term of design thinking concept when </a:t>
            </a:r>
          </a:p>
          <a:p>
            <a:r>
              <a:rPr lang="en-US" b="1" dirty="0"/>
              <a:t>Problem is about “long queue at public hospital”</a:t>
            </a:r>
            <a:endParaRPr lang="en-US" dirty="0"/>
          </a:p>
        </p:txBody>
      </p:sp>
    </p:spTree>
    <p:extLst>
      <p:ext uri="{BB962C8B-B14F-4D97-AF65-F5344CB8AC3E}">
        <p14:creationId xmlns:p14="http://schemas.microsoft.com/office/powerpoint/2010/main" val="1693042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DCC6D2-639E-4007-BD07-7547F40DCC90}"/>
              </a:ext>
            </a:extLst>
          </p:cNvPr>
          <p:cNvSpPr txBox="1"/>
          <p:nvPr/>
        </p:nvSpPr>
        <p:spPr>
          <a:xfrm>
            <a:off x="475059" y="442169"/>
            <a:ext cx="11340703" cy="4339650"/>
          </a:xfrm>
          <a:prstGeom prst="rect">
            <a:avLst/>
          </a:prstGeom>
          <a:noFill/>
        </p:spPr>
        <p:txBody>
          <a:bodyPr wrap="square">
            <a:spAutoFit/>
          </a:bodyPr>
          <a:lstStyle/>
          <a:p>
            <a:r>
              <a:rPr lang="en-US" sz="2300" b="1" dirty="0"/>
              <a:t>Example:</a:t>
            </a:r>
            <a:endParaRPr lang="en-US" sz="2300" dirty="0"/>
          </a:p>
          <a:p>
            <a:r>
              <a:rPr lang="en-US" sz="2300" dirty="0"/>
              <a:t>A bank discovers that customers are frequently experiencing </a:t>
            </a:r>
            <a:r>
              <a:rPr lang="en-US" sz="2300" b="1" dirty="0"/>
              <a:t>failed money transfers</a:t>
            </a:r>
            <a:r>
              <a:rPr lang="en-US" sz="2300" dirty="0"/>
              <a:t> in its mobile banking application.</a:t>
            </a:r>
          </a:p>
          <a:p>
            <a:r>
              <a:rPr lang="en-US" sz="2300" dirty="0"/>
              <a:t>Instead of simply asking customers to retry the transaction, the technical team conducts RCA.</a:t>
            </a:r>
          </a:p>
          <a:p>
            <a:pPr>
              <a:buFont typeface="Arial" panose="020B0604020202020204" pitchFamily="34" charset="0"/>
              <a:buChar char="•"/>
            </a:pPr>
            <a:r>
              <a:rPr lang="en-US" sz="2300" b="1" dirty="0"/>
              <a:t>Problem:</a:t>
            </a:r>
            <a:r>
              <a:rPr lang="en-US" sz="2300" dirty="0"/>
              <a:t> Customers experience failed money transfers. </a:t>
            </a:r>
          </a:p>
          <a:p>
            <a:pPr>
              <a:buFont typeface="Arial" panose="020B0604020202020204" pitchFamily="34" charset="0"/>
              <a:buChar char="•"/>
            </a:pPr>
            <a:r>
              <a:rPr lang="en-US" sz="2300" b="1" dirty="0"/>
              <a:t>Immediate symptom:</a:t>
            </a:r>
            <a:r>
              <a:rPr lang="en-US" sz="2300" dirty="0"/>
              <a:t> The application displays a “Transaction Failed” message. </a:t>
            </a:r>
          </a:p>
          <a:p>
            <a:pPr>
              <a:buFont typeface="Arial" panose="020B0604020202020204" pitchFamily="34" charset="0"/>
              <a:buChar char="•"/>
            </a:pPr>
            <a:r>
              <a:rPr lang="en-US" sz="2300" b="1" dirty="0"/>
              <a:t>Investigation:</a:t>
            </a:r>
            <a:r>
              <a:rPr lang="en-US" sz="2300" dirty="0"/>
              <a:t> The team analyzes system logs and transaction data. </a:t>
            </a:r>
          </a:p>
          <a:p>
            <a:pPr>
              <a:buFont typeface="Arial" panose="020B0604020202020204" pitchFamily="34" charset="0"/>
              <a:buChar char="•"/>
            </a:pPr>
            <a:r>
              <a:rPr lang="en-US" sz="2300" b="1" dirty="0"/>
              <a:t>Root cause:</a:t>
            </a:r>
            <a:r>
              <a:rPr lang="en-US" sz="2300" dirty="0"/>
              <a:t> The payment API frequently times out during periods of high transaction volume. </a:t>
            </a:r>
          </a:p>
          <a:p>
            <a:pPr>
              <a:buFont typeface="Arial" panose="020B0604020202020204" pitchFamily="34" charset="0"/>
              <a:buChar char="•"/>
            </a:pPr>
            <a:r>
              <a:rPr lang="en-US" sz="2300" b="1" dirty="0"/>
              <a:t>Solution:</a:t>
            </a:r>
            <a:r>
              <a:rPr lang="en-US" sz="2300" dirty="0"/>
              <a:t> The team improves API timeout handling, increases system capacity, and introduces automatic retry mechanisms. </a:t>
            </a:r>
          </a:p>
          <a:p>
            <a:pPr>
              <a:buFont typeface="Arial" panose="020B0604020202020204" pitchFamily="34" charset="0"/>
              <a:buChar char="•"/>
            </a:pPr>
            <a:r>
              <a:rPr lang="en-US" sz="2300" b="1" dirty="0"/>
              <a:t>Result:</a:t>
            </a:r>
            <a:r>
              <a:rPr lang="en-US" sz="2300" dirty="0"/>
              <a:t> The number of failed transactions decreases significantly.</a:t>
            </a:r>
          </a:p>
        </p:txBody>
      </p:sp>
    </p:spTree>
    <p:extLst>
      <p:ext uri="{BB962C8B-B14F-4D97-AF65-F5344CB8AC3E}">
        <p14:creationId xmlns:p14="http://schemas.microsoft.com/office/powerpoint/2010/main" val="2874664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832092"/>
          </a:xfrm>
          <a:prstGeom prst="rect">
            <a:avLst/>
          </a:prstGeom>
          <a:noFill/>
        </p:spPr>
        <p:txBody>
          <a:bodyPr wrap="square">
            <a:spAutoFit/>
          </a:bodyPr>
          <a:lstStyle/>
          <a:p>
            <a:r>
              <a:rPr lang="en-US" b="1" dirty="0"/>
              <a:t>4. Lean Thinking</a:t>
            </a:r>
          </a:p>
          <a:p>
            <a:r>
              <a:rPr lang="en-US" dirty="0"/>
              <a:t>Lean focuses </a:t>
            </a:r>
            <a:r>
              <a:rPr lang="en-US" dirty="0">
                <a:solidFill>
                  <a:srgbClr val="FF0000"/>
                </a:solidFill>
              </a:rPr>
              <a:t>on creating value for customers by reducing waste in processes.</a:t>
            </a:r>
            <a:r>
              <a:rPr lang="en-US" dirty="0"/>
              <a:t> It eliminates activities that do not add value, enhances workflow efficiency, and improves quality. Lean encourages continuous assessment of operations to streamline tasks, shorten cycle times, and optimize resource utilization for greater productivity and customer satisfaction.</a:t>
            </a:r>
          </a:p>
        </p:txBody>
      </p:sp>
      <p:sp>
        <p:nvSpPr>
          <p:cNvPr id="4" name="TextBox 3">
            <a:extLst>
              <a:ext uri="{FF2B5EF4-FFF2-40B4-BE49-F238E27FC236}">
                <a16:creationId xmlns:a16="http://schemas.microsoft.com/office/drawing/2014/main" id="{AE6FFEB4-C2B8-4450-BA62-EE1A5B43BADC}"/>
              </a:ext>
            </a:extLst>
          </p:cNvPr>
          <p:cNvSpPr txBox="1"/>
          <p:nvPr/>
        </p:nvSpPr>
        <p:spPr>
          <a:xfrm>
            <a:off x="8820149" y="736253"/>
            <a:ext cx="2882503" cy="3539430"/>
          </a:xfrm>
          <a:prstGeom prst="rect">
            <a:avLst/>
          </a:prstGeom>
          <a:noFill/>
        </p:spPr>
        <p:txBody>
          <a:bodyPr wrap="square">
            <a:spAutoFit/>
          </a:bodyPr>
          <a:lstStyle/>
          <a:p>
            <a:r>
              <a:rPr lang="en-US" b="1" dirty="0">
                <a:solidFill>
                  <a:srgbClr val="FF0000"/>
                </a:solidFill>
              </a:rPr>
              <a:t>creating maximum value for customers while minimizing waste, unnecessary activities, time, and resources</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1079645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C4F19-7BA0-4A41-9F18-6DE4A15FD00A}"/>
              </a:ext>
            </a:extLst>
          </p:cNvPr>
          <p:cNvPicPr>
            <a:picLocks noChangeAspect="1"/>
          </p:cNvPicPr>
          <p:nvPr/>
        </p:nvPicPr>
        <p:blipFill>
          <a:blip r:embed="rId2"/>
          <a:stretch>
            <a:fillRect/>
          </a:stretch>
        </p:blipFill>
        <p:spPr>
          <a:xfrm>
            <a:off x="1519237" y="804300"/>
            <a:ext cx="7867650" cy="5249399"/>
          </a:xfrm>
          <a:prstGeom prst="rect">
            <a:avLst/>
          </a:prstGeom>
        </p:spPr>
      </p:pic>
    </p:spTree>
    <p:extLst>
      <p:ext uri="{BB962C8B-B14F-4D97-AF65-F5344CB8AC3E}">
        <p14:creationId xmlns:p14="http://schemas.microsoft.com/office/powerpoint/2010/main" val="1037401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A986A6-48F8-463D-8C9F-FE9C2CB7483F}"/>
              </a:ext>
            </a:extLst>
          </p:cNvPr>
          <p:cNvSpPr txBox="1"/>
          <p:nvPr/>
        </p:nvSpPr>
        <p:spPr>
          <a:xfrm>
            <a:off x="460772" y="516583"/>
            <a:ext cx="11312127" cy="5755422"/>
          </a:xfrm>
          <a:prstGeom prst="rect">
            <a:avLst/>
          </a:prstGeom>
          <a:noFill/>
        </p:spPr>
        <p:txBody>
          <a:bodyPr wrap="square">
            <a:spAutoFit/>
          </a:bodyPr>
          <a:lstStyle/>
          <a:p>
            <a:r>
              <a:rPr lang="en-US" sz="2300" b="1" dirty="0"/>
              <a:t>Example:</a:t>
            </a:r>
            <a:endParaRPr lang="en-US" sz="2300" dirty="0"/>
          </a:p>
          <a:p>
            <a:r>
              <a:rPr lang="en-US" sz="2300" dirty="0"/>
              <a:t>A bank examines the </a:t>
            </a:r>
            <a:r>
              <a:rPr lang="en-US" sz="2300" b="1" dirty="0"/>
              <a:t>customer account-opening process</a:t>
            </a:r>
            <a:r>
              <a:rPr lang="en-US" sz="2300" dirty="0"/>
              <a:t> in its mobile banking application. Customers currently need to complete </a:t>
            </a:r>
            <a:r>
              <a:rPr lang="en-US" sz="2300" b="1" dirty="0"/>
              <a:t>10 steps</a:t>
            </a:r>
            <a:r>
              <a:rPr lang="en-US" sz="2300" dirty="0"/>
              <a:t>, including entering some information more than once.</a:t>
            </a:r>
          </a:p>
          <a:p>
            <a:r>
              <a:rPr lang="en-US" sz="2300" dirty="0"/>
              <a:t>Using Lean Thinking, the team analyzes each step and discovers that several activities do not add value. The team removes duplicated data entry, automates identity verification, and simplifies the process from </a:t>
            </a:r>
            <a:r>
              <a:rPr lang="en-US" sz="2300" b="1" dirty="0"/>
              <a:t>10 steps to 6 steps</a:t>
            </a:r>
            <a:r>
              <a:rPr lang="en-US" sz="2300" dirty="0"/>
              <a:t>.</a:t>
            </a:r>
          </a:p>
          <a:p>
            <a:r>
              <a:rPr lang="en-US" sz="2300" dirty="0"/>
              <a:t>As a result, customers can open accounts faster, employees spend less time correcting information, and the bank reduces operating costs.</a:t>
            </a:r>
          </a:p>
          <a:p>
            <a:r>
              <a:rPr lang="en-US" sz="2300" dirty="0"/>
              <a:t>Lean Thinking emphasizes:</a:t>
            </a:r>
          </a:p>
          <a:p>
            <a:pPr>
              <a:buFont typeface="Arial" panose="020B0604020202020204" pitchFamily="34" charset="0"/>
              <a:buChar char="•"/>
            </a:pPr>
            <a:r>
              <a:rPr lang="en-US" sz="2300" b="1" dirty="0"/>
              <a:t>Customer value</a:t>
            </a:r>
            <a:r>
              <a:rPr lang="en-US" sz="2300" dirty="0"/>
              <a:t> — focus on activities that provide value to customers. </a:t>
            </a:r>
          </a:p>
          <a:p>
            <a:pPr>
              <a:buFont typeface="Arial" panose="020B0604020202020204" pitchFamily="34" charset="0"/>
              <a:buChar char="•"/>
            </a:pPr>
            <a:r>
              <a:rPr lang="en-US" sz="2300" b="1" dirty="0"/>
              <a:t>Waste elimination</a:t>
            </a:r>
            <a:r>
              <a:rPr lang="en-US" sz="2300" dirty="0"/>
              <a:t> — remove unnecessary steps, delays, errors, and duplication. </a:t>
            </a:r>
          </a:p>
          <a:p>
            <a:pPr>
              <a:buFont typeface="Arial" panose="020B0604020202020204" pitchFamily="34" charset="0"/>
              <a:buChar char="•"/>
            </a:pPr>
            <a:r>
              <a:rPr lang="en-US" sz="2300" b="1" dirty="0"/>
              <a:t>Process flow</a:t>
            </a:r>
            <a:r>
              <a:rPr lang="en-US" sz="2300" dirty="0"/>
              <a:t> — make work move smoothly from beginning to end. </a:t>
            </a:r>
          </a:p>
          <a:p>
            <a:pPr>
              <a:buFont typeface="Arial" panose="020B0604020202020204" pitchFamily="34" charset="0"/>
              <a:buChar char="•"/>
            </a:pPr>
            <a:r>
              <a:rPr lang="en-US" sz="2300" b="1" dirty="0"/>
              <a:t>Pull principle</a:t>
            </a:r>
            <a:r>
              <a:rPr lang="en-US" sz="2300" dirty="0"/>
              <a:t> — perform work according to actual customer demand. </a:t>
            </a:r>
          </a:p>
          <a:p>
            <a:pPr>
              <a:buFont typeface="Arial" panose="020B0604020202020204" pitchFamily="34" charset="0"/>
              <a:buChar char="•"/>
            </a:pPr>
            <a:r>
              <a:rPr lang="en-US" sz="2300" b="1" dirty="0"/>
              <a:t>Continuous improvement</a:t>
            </a:r>
            <a:r>
              <a:rPr lang="en-US" sz="2300" dirty="0"/>
              <a:t> — regularly identify opportunities to improve processes. </a:t>
            </a:r>
          </a:p>
          <a:p>
            <a:pPr>
              <a:buFont typeface="Arial" panose="020B0604020202020204" pitchFamily="34" charset="0"/>
              <a:buChar char="•"/>
            </a:pPr>
            <a:r>
              <a:rPr lang="en-US" sz="2300" b="1" dirty="0"/>
              <a:t>Employee involvement</a:t>
            </a:r>
            <a:r>
              <a:rPr lang="en-US" sz="2300" dirty="0"/>
              <a:t> — encourage employees to identify and solve problems.</a:t>
            </a:r>
          </a:p>
        </p:txBody>
      </p:sp>
    </p:spTree>
    <p:extLst>
      <p:ext uri="{BB962C8B-B14F-4D97-AF65-F5344CB8AC3E}">
        <p14:creationId xmlns:p14="http://schemas.microsoft.com/office/powerpoint/2010/main" val="15031273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675750" y="491958"/>
            <a:ext cx="6093618" cy="5262979"/>
          </a:xfrm>
          <a:prstGeom prst="rect">
            <a:avLst/>
          </a:prstGeom>
          <a:noFill/>
        </p:spPr>
        <p:txBody>
          <a:bodyPr wrap="square">
            <a:spAutoFit/>
          </a:bodyPr>
          <a:lstStyle/>
          <a:p>
            <a:r>
              <a:rPr lang="en-GB" b="1" dirty="0"/>
              <a:t>5. Six Sigma Methodology</a:t>
            </a:r>
          </a:p>
          <a:p>
            <a:r>
              <a:rPr lang="en-GB" dirty="0"/>
              <a:t>Six Sigma uses data-driven techniques to reduce process variability and defects. Its DMAIC framework helps organizations </a:t>
            </a:r>
            <a:r>
              <a:rPr lang="en-GB" dirty="0" err="1"/>
              <a:t>analyze</a:t>
            </a:r>
            <a:r>
              <a:rPr lang="en-GB" dirty="0"/>
              <a:t> performance, control deviations, and achieve measurable improvement. By applying statistical tools, Six Sigma enhances product quality, minimizes errors, and strengthens decision-making, promoting continuous and predictable operational excellence.</a:t>
            </a:r>
          </a:p>
        </p:txBody>
      </p:sp>
      <p:sp>
        <p:nvSpPr>
          <p:cNvPr id="4" name="TextBox 3">
            <a:extLst>
              <a:ext uri="{FF2B5EF4-FFF2-40B4-BE49-F238E27FC236}">
                <a16:creationId xmlns:a16="http://schemas.microsoft.com/office/drawing/2014/main" id="{0F3CA2E5-DE2C-4CE4-8738-89799A7149C1}"/>
              </a:ext>
            </a:extLst>
          </p:cNvPr>
          <p:cNvSpPr txBox="1"/>
          <p:nvPr/>
        </p:nvSpPr>
        <p:spPr>
          <a:xfrm>
            <a:off x="7643812" y="491958"/>
            <a:ext cx="4343401" cy="3631763"/>
          </a:xfrm>
          <a:prstGeom prst="rect">
            <a:avLst/>
          </a:prstGeom>
          <a:noFill/>
        </p:spPr>
        <p:txBody>
          <a:bodyPr wrap="square">
            <a:spAutoFit/>
          </a:bodyPr>
          <a:lstStyle/>
          <a:p>
            <a:r>
              <a:rPr lang="en-US" sz="2300" dirty="0">
                <a:solidFill>
                  <a:srgbClr val="FF0000"/>
                </a:solidFill>
              </a:rPr>
              <a:t>Six Sigma is a </a:t>
            </a:r>
            <a:r>
              <a:rPr lang="en-US" sz="2300" b="1" dirty="0">
                <a:solidFill>
                  <a:srgbClr val="FF0000"/>
                </a:solidFill>
              </a:rPr>
              <a:t>data-driven methodology for improving process quality by identifying and reducing defects, errors, and variations</a:t>
            </a:r>
            <a:r>
              <a:rPr lang="en-US" sz="2300" dirty="0">
                <a:solidFill>
                  <a:srgbClr val="FF0000"/>
                </a:solidFill>
              </a:rPr>
              <a:t>. It emphasizes measurable evidence rather than assumptions.</a:t>
            </a:r>
          </a:p>
          <a:p>
            <a:r>
              <a:rPr lang="en-US" sz="2300" dirty="0">
                <a:solidFill>
                  <a:srgbClr val="FF0000"/>
                </a:solidFill>
              </a:rPr>
              <a:t>A common Six Sigma framework is </a:t>
            </a:r>
            <a:r>
              <a:rPr lang="en-US" sz="2300" b="1" dirty="0">
                <a:solidFill>
                  <a:srgbClr val="FF0000"/>
                </a:solidFill>
              </a:rPr>
              <a:t>DMAIC: Define, Measure, Analyze, Improve, and Control</a:t>
            </a:r>
            <a:r>
              <a:rPr lang="en-US" sz="2300" dirty="0">
                <a:solidFill>
                  <a:srgbClr val="FF0000"/>
                </a:solidFill>
              </a:rPr>
              <a:t>.</a:t>
            </a:r>
          </a:p>
        </p:txBody>
      </p:sp>
    </p:spTree>
    <p:extLst>
      <p:ext uri="{BB962C8B-B14F-4D97-AF65-F5344CB8AC3E}">
        <p14:creationId xmlns:p14="http://schemas.microsoft.com/office/powerpoint/2010/main" val="2901413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What Is Six Sigma? Concept, Steps, Examples, and Certification">
            <a:extLst>
              <a:ext uri="{FF2B5EF4-FFF2-40B4-BE49-F238E27FC236}">
                <a16:creationId xmlns:a16="http://schemas.microsoft.com/office/drawing/2014/main" id="{BD4DA4A3-4E58-451B-9323-465F1F7A8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7" y="147637"/>
            <a:ext cx="6457950" cy="43053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9C2DDB48-7A6E-49B9-A812-66C0E7118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75" y="338138"/>
            <a:ext cx="4048125" cy="346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918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descr="DMAIC Methodolody">
            <a:extLst>
              <a:ext uri="{FF2B5EF4-FFF2-40B4-BE49-F238E27FC236}">
                <a16:creationId xmlns:a16="http://schemas.microsoft.com/office/drawing/2014/main" id="{5E05C28F-0881-4347-9420-253530B5D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976313"/>
            <a:ext cx="5715000"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7266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4AC4F9-4B6F-47B3-8613-BBDBC80B173E}"/>
              </a:ext>
            </a:extLst>
          </p:cNvPr>
          <p:cNvSpPr txBox="1"/>
          <p:nvPr/>
        </p:nvSpPr>
        <p:spPr>
          <a:xfrm>
            <a:off x="375047" y="172553"/>
            <a:ext cx="11555016" cy="4801314"/>
          </a:xfrm>
          <a:prstGeom prst="rect">
            <a:avLst/>
          </a:prstGeom>
          <a:noFill/>
        </p:spPr>
        <p:txBody>
          <a:bodyPr wrap="square">
            <a:spAutoFit/>
          </a:bodyPr>
          <a:lstStyle/>
          <a:p>
            <a:r>
              <a:rPr lang="en-US" sz="1800" b="1" dirty="0"/>
              <a:t>Example:</a:t>
            </a:r>
            <a:endParaRPr lang="en-US" sz="1800" dirty="0"/>
          </a:p>
          <a:p>
            <a:r>
              <a:rPr lang="en-US" sz="1800" dirty="0"/>
              <a:t>A bank discovers that some customers experience </a:t>
            </a:r>
            <a:r>
              <a:rPr lang="en-US" sz="1800" b="1" dirty="0"/>
              <a:t>failed money transfers</a:t>
            </a:r>
            <a:r>
              <a:rPr lang="en-US" sz="1800" dirty="0"/>
              <a:t> in its mobile banking application. The bank uses Six Sigma to improve the process.</a:t>
            </a:r>
          </a:p>
          <a:p>
            <a:pPr>
              <a:buFont typeface="Arial" panose="020B0604020202020204" pitchFamily="34" charset="0"/>
              <a:buChar char="•"/>
            </a:pPr>
            <a:r>
              <a:rPr lang="en-US" sz="1800" b="1" dirty="0"/>
              <a:t>Define</a:t>
            </a:r>
            <a:r>
              <a:rPr lang="en-US" sz="1800" dirty="0"/>
              <a:t> — Identify the problem: too many failed digital transactions. </a:t>
            </a:r>
          </a:p>
          <a:p>
            <a:pPr>
              <a:buFont typeface="Arial" panose="020B0604020202020204" pitchFamily="34" charset="0"/>
              <a:buChar char="•"/>
            </a:pPr>
            <a:r>
              <a:rPr lang="en-US" sz="1800" b="1" dirty="0"/>
              <a:t>Measure</a:t>
            </a:r>
            <a:r>
              <a:rPr lang="en-US" sz="1800" dirty="0"/>
              <a:t> — Collect data and find that </a:t>
            </a:r>
            <a:r>
              <a:rPr lang="en-US" sz="1800" b="1" dirty="0"/>
              <a:t>5% of transactions fail</a:t>
            </a:r>
            <a:r>
              <a:rPr lang="en-US" sz="1800" dirty="0"/>
              <a:t>. </a:t>
            </a:r>
          </a:p>
          <a:p>
            <a:pPr>
              <a:buFont typeface="Arial" panose="020B0604020202020204" pitchFamily="34" charset="0"/>
              <a:buChar char="•"/>
            </a:pPr>
            <a:r>
              <a:rPr lang="en-US" sz="1800" b="1" dirty="0"/>
              <a:t>Analyze</a:t>
            </a:r>
            <a:r>
              <a:rPr lang="en-US" sz="1800" dirty="0"/>
              <a:t> — Examine transaction data and discover that many failures are caused by payment API timeouts. </a:t>
            </a:r>
          </a:p>
          <a:p>
            <a:pPr>
              <a:buFont typeface="Arial" panose="020B0604020202020204" pitchFamily="34" charset="0"/>
              <a:buChar char="•"/>
            </a:pPr>
            <a:r>
              <a:rPr lang="en-US" sz="1800" b="1" dirty="0"/>
              <a:t>Improve</a:t>
            </a:r>
            <a:r>
              <a:rPr lang="en-US" sz="1800" dirty="0"/>
              <a:t> — Optimize API connections, introduce automatic retries, and improve server capacity. </a:t>
            </a:r>
          </a:p>
          <a:p>
            <a:pPr>
              <a:buFont typeface="Arial" panose="020B0604020202020204" pitchFamily="34" charset="0"/>
              <a:buChar char="•"/>
            </a:pPr>
            <a:r>
              <a:rPr lang="en-US" sz="1800" b="1" dirty="0"/>
              <a:t>Control</a:t>
            </a:r>
            <a:r>
              <a:rPr lang="en-US" sz="1800" dirty="0"/>
              <a:t> — Continuously monitor transaction failure rates to ensure the improvement is maintained. </a:t>
            </a:r>
          </a:p>
          <a:p>
            <a:endParaRPr lang="en-US" sz="1800" dirty="0"/>
          </a:p>
          <a:p>
            <a:r>
              <a:rPr lang="en-US" sz="1800" dirty="0"/>
              <a:t>After improvement, for example, the transaction failure rate decreases from </a:t>
            </a:r>
            <a:r>
              <a:rPr lang="en-US" sz="1800" b="1" dirty="0"/>
              <a:t>5% to 1%</a:t>
            </a:r>
            <a:r>
              <a:rPr lang="en-US" sz="1800" dirty="0"/>
              <a:t>.</a:t>
            </a:r>
          </a:p>
          <a:p>
            <a:r>
              <a:rPr lang="en-US" sz="1800" dirty="0"/>
              <a:t>Six Sigma emphasizes:</a:t>
            </a:r>
          </a:p>
          <a:p>
            <a:pPr>
              <a:buFont typeface="Arial" panose="020B0604020202020204" pitchFamily="34" charset="0"/>
              <a:buChar char="•"/>
            </a:pPr>
            <a:r>
              <a:rPr lang="en-US" sz="1800" b="1" dirty="0"/>
              <a:t>Data-driven decisions</a:t>
            </a:r>
            <a:r>
              <a:rPr lang="en-US" sz="1800" dirty="0"/>
              <a:t> — uses measurable evidence. </a:t>
            </a:r>
          </a:p>
          <a:p>
            <a:pPr>
              <a:buFont typeface="Arial" panose="020B0604020202020204" pitchFamily="34" charset="0"/>
              <a:buChar char="•"/>
            </a:pPr>
            <a:r>
              <a:rPr lang="en-US" sz="1800" b="1" dirty="0"/>
              <a:t>Defect reduction</a:t>
            </a:r>
            <a:r>
              <a:rPr lang="en-US" sz="1800" dirty="0"/>
              <a:t> — minimizes errors and failures. </a:t>
            </a:r>
          </a:p>
          <a:p>
            <a:pPr>
              <a:buFont typeface="Arial" panose="020B0604020202020204" pitchFamily="34" charset="0"/>
              <a:buChar char="•"/>
            </a:pPr>
            <a:r>
              <a:rPr lang="en-US" sz="1800" b="1" dirty="0"/>
              <a:t>Process consistency</a:t>
            </a:r>
            <a:r>
              <a:rPr lang="en-US" sz="1800" dirty="0"/>
              <a:t> — reduces variation in performance. </a:t>
            </a:r>
          </a:p>
          <a:p>
            <a:pPr>
              <a:buFont typeface="Arial" panose="020B0604020202020204" pitchFamily="34" charset="0"/>
              <a:buChar char="•"/>
            </a:pPr>
            <a:r>
              <a:rPr lang="en-US" sz="1800" b="1" dirty="0"/>
              <a:t>Root cause identification</a:t>
            </a:r>
            <a:r>
              <a:rPr lang="en-US" sz="1800" dirty="0"/>
              <a:t> — finds the underlying causes of problems. </a:t>
            </a:r>
          </a:p>
          <a:p>
            <a:pPr>
              <a:buFont typeface="Arial" panose="020B0604020202020204" pitchFamily="34" charset="0"/>
              <a:buChar char="•"/>
            </a:pPr>
            <a:r>
              <a:rPr lang="en-US" sz="1800" b="1" dirty="0"/>
              <a:t>Customer satisfaction</a:t>
            </a:r>
            <a:r>
              <a:rPr lang="en-US" sz="1800" dirty="0"/>
              <a:t> — improves quality from the customer's perspective. </a:t>
            </a:r>
          </a:p>
          <a:p>
            <a:pPr>
              <a:buFont typeface="Arial" panose="020B0604020202020204" pitchFamily="34" charset="0"/>
              <a:buChar char="•"/>
            </a:pPr>
            <a:r>
              <a:rPr lang="en-US" sz="1800" b="1" dirty="0"/>
              <a:t>Continuous monitoring</a:t>
            </a:r>
            <a:r>
              <a:rPr lang="en-US" sz="1800" dirty="0"/>
              <a:t> — ensures improvements are maintained.</a:t>
            </a:r>
          </a:p>
        </p:txBody>
      </p:sp>
    </p:spTree>
    <p:extLst>
      <p:ext uri="{BB962C8B-B14F-4D97-AF65-F5344CB8AC3E}">
        <p14:creationId xmlns:p14="http://schemas.microsoft.com/office/powerpoint/2010/main" val="3504098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EBB7CD-80A3-4560-8446-CBAAF77CCCAB}"/>
              </a:ext>
            </a:extLst>
          </p:cNvPr>
          <p:cNvSpPr txBox="1"/>
          <p:nvPr/>
        </p:nvSpPr>
        <p:spPr>
          <a:xfrm>
            <a:off x="3046810" y="3167390"/>
            <a:ext cx="6093618" cy="523220"/>
          </a:xfrm>
          <a:prstGeom prst="rect">
            <a:avLst/>
          </a:prstGeom>
          <a:noFill/>
        </p:spPr>
        <p:txBody>
          <a:bodyPr wrap="square">
            <a:spAutoFit/>
          </a:bodyPr>
          <a:lstStyle/>
          <a:p>
            <a:pPr algn="ctr"/>
            <a:r>
              <a:rPr lang="en-GB" b="1" dirty="0"/>
              <a:t>Thanks</a:t>
            </a:r>
          </a:p>
        </p:txBody>
      </p:sp>
    </p:spTree>
    <p:extLst>
      <p:ext uri="{BB962C8B-B14F-4D97-AF65-F5344CB8AC3E}">
        <p14:creationId xmlns:p14="http://schemas.microsoft.com/office/powerpoint/2010/main" val="9973008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569424" y="375000"/>
            <a:ext cx="6093618" cy="4832092"/>
          </a:xfrm>
          <a:prstGeom prst="rect">
            <a:avLst/>
          </a:prstGeom>
          <a:noFill/>
        </p:spPr>
        <p:txBody>
          <a:bodyPr wrap="square">
            <a:spAutoFit/>
          </a:bodyPr>
          <a:lstStyle/>
          <a:p>
            <a:r>
              <a:rPr lang="en-US" b="1" dirty="0"/>
              <a:t>6. Benchmarking</a:t>
            </a:r>
          </a:p>
          <a:p>
            <a:r>
              <a:rPr lang="en-US" u="sng" dirty="0"/>
              <a:t>Benchmarking compares an organization’s performance with industry leaders or competitors</a:t>
            </a:r>
            <a:r>
              <a:rPr lang="en-US" dirty="0"/>
              <a:t>. It helps identify gaps, adopt best practices, and set realistic improvement targets. By studying high-performing organizations, companies learn effective strategies that can be adapted to their own context, driving continuous growth, innovation, and competitive advantage.</a:t>
            </a:r>
          </a:p>
        </p:txBody>
      </p:sp>
      <p:sp>
        <p:nvSpPr>
          <p:cNvPr id="4" name="TextBox 3">
            <a:extLst>
              <a:ext uri="{FF2B5EF4-FFF2-40B4-BE49-F238E27FC236}">
                <a16:creationId xmlns:a16="http://schemas.microsoft.com/office/drawing/2014/main" id="{1E10065E-3E1A-4097-83AD-45F4F98AF18F}"/>
              </a:ext>
            </a:extLst>
          </p:cNvPr>
          <p:cNvSpPr txBox="1"/>
          <p:nvPr/>
        </p:nvSpPr>
        <p:spPr>
          <a:xfrm>
            <a:off x="8201024" y="375000"/>
            <a:ext cx="3682603" cy="3631763"/>
          </a:xfrm>
          <a:prstGeom prst="rect">
            <a:avLst/>
          </a:prstGeom>
          <a:noFill/>
        </p:spPr>
        <p:txBody>
          <a:bodyPr wrap="square">
            <a:spAutoFit/>
          </a:bodyPr>
          <a:lstStyle/>
          <a:p>
            <a:r>
              <a:rPr lang="en-US" sz="2300" dirty="0">
                <a:solidFill>
                  <a:srgbClr val="FF0000"/>
                </a:solidFill>
              </a:rPr>
              <a:t>Benchmarking is a </a:t>
            </a:r>
            <a:r>
              <a:rPr lang="en-US" sz="2300" b="1" dirty="0">
                <a:solidFill>
                  <a:srgbClr val="FF0000"/>
                </a:solidFill>
              </a:rPr>
              <a:t>systematic process of comparing an organization’s products, services, processes, or performance with high-performing organizations or established standards</a:t>
            </a:r>
            <a:r>
              <a:rPr lang="en-US" sz="2300" dirty="0">
                <a:solidFill>
                  <a:srgbClr val="FF0000"/>
                </a:solidFill>
              </a:rPr>
              <a:t> to identify opportunities for improvement.</a:t>
            </a:r>
            <a:endParaRPr lang="th-TH" sz="2300" dirty="0">
              <a:solidFill>
                <a:srgbClr val="FF0000"/>
              </a:solidFill>
            </a:endParaRPr>
          </a:p>
        </p:txBody>
      </p:sp>
    </p:spTree>
    <p:extLst>
      <p:ext uri="{BB962C8B-B14F-4D97-AF65-F5344CB8AC3E}">
        <p14:creationId xmlns:p14="http://schemas.microsoft.com/office/powerpoint/2010/main" val="3687954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3183FC-727E-43FA-B6C2-0DAABD70E614}"/>
              </a:ext>
            </a:extLst>
          </p:cNvPr>
          <p:cNvPicPr>
            <a:picLocks noChangeAspect="1"/>
          </p:cNvPicPr>
          <p:nvPr/>
        </p:nvPicPr>
        <p:blipFill>
          <a:blip r:embed="rId2"/>
          <a:stretch>
            <a:fillRect/>
          </a:stretch>
        </p:blipFill>
        <p:spPr>
          <a:xfrm>
            <a:off x="2386012" y="114300"/>
            <a:ext cx="7419975" cy="6629400"/>
          </a:xfrm>
          <a:prstGeom prst="rect">
            <a:avLst/>
          </a:prstGeom>
        </p:spPr>
      </p:pic>
    </p:spTree>
    <p:extLst>
      <p:ext uri="{BB962C8B-B14F-4D97-AF65-F5344CB8AC3E}">
        <p14:creationId xmlns:p14="http://schemas.microsoft.com/office/powerpoint/2010/main" val="2897359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omparative Analysis For Partnership Marketing Companies">
            <a:extLst>
              <a:ext uri="{FF2B5EF4-FFF2-40B4-BE49-F238E27FC236}">
                <a16:creationId xmlns:a16="http://schemas.microsoft.com/office/drawing/2014/main" id="{1A85B777-78E3-42BD-A803-EAECDDFB9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 y="566142"/>
            <a:ext cx="10677525" cy="6006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871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CDA4B5-BD51-487C-B38A-E26836A4F1A4}"/>
              </a:ext>
            </a:extLst>
          </p:cNvPr>
          <p:cNvSpPr txBox="1"/>
          <p:nvPr/>
        </p:nvSpPr>
        <p:spPr>
          <a:xfrm>
            <a:off x="403621" y="230833"/>
            <a:ext cx="11412141" cy="5755422"/>
          </a:xfrm>
          <a:prstGeom prst="rect">
            <a:avLst/>
          </a:prstGeom>
          <a:noFill/>
        </p:spPr>
        <p:txBody>
          <a:bodyPr wrap="square">
            <a:spAutoFit/>
          </a:bodyPr>
          <a:lstStyle/>
          <a:p>
            <a:r>
              <a:rPr lang="en-US" sz="2300" b="1" dirty="0"/>
              <a:t>Example:</a:t>
            </a:r>
            <a:endParaRPr lang="en-US" sz="2300" dirty="0"/>
          </a:p>
          <a:p>
            <a:r>
              <a:rPr lang="en-US" sz="2300" dirty="0"/>
              <a:t>A bank wants to improve the </a:t>
            </a:r>
            <a:r>
              <a:rPr lang="en-US" sz="2300" b="1" dirty="0"/>
              <a:t>speed of its mobile banking application</a:t>
            </a:r>
            <a:r>
              <a:rPr lang="en-US" sz="2300" dirty="0"/>
              <a:t>. It discovers that customers need an average of </a:t>
            </a:r>
            <a:r>
              <a:rPr lang="en-US" sz="2300" b="1" dirty="0"/>
              <a:t>90 seconds to complete a money transfer</a:t>
            </a:r>
            <a:r>
              <a:rPr lang="en-US" sz="2300" dirty="0"/>
              <a:t>.</a:t>
            </a:r>
          </a:p>
          <a:p>
            <a:r>
              <a:rPr lang="en-US" sz="2300" dirty="0"/>
              <a:t>The bank compares its performance with leading digital banking applications and finds that similar transactions can be completed in approximately </a:t>
            </a:r>
            <a:r>
              <a:rPr lang="en-US" sz="2300" b="1" dirty="0"/>
              <a:t>45 seconds</a:t>
            </a:r>
            <a:r>
              <a:rPr lang="en-US" sz="2300" dirty="0"/>
              <a:t>. The development team studies the differences and identifies unnecessary steps in its transfer process. After redesigning the process, the average transaction time decreases to </a:t>
            </a:r>
            <a:r>
              <a:rPr lang="en-US" sz="2300" b="1" dirty="0"/>
              <a:t>50 seconds</a:t>
            </a:r>
            <a:r>
              <a:rPr lang="en-US" sz="2300" dirty="0"/>
              <a:t>.</a:t>
            </a:r>
          </a:p>
          <a:p>
            <a:r>
              <a:rPr lang="en-US" sz="2300" dirty="0"/>
              <a:t>Benchmarking can include:</a:t>
            </a:r>
          </a:p>
          <a:p>
            <a:pPr>
              <a:buFont typeface="Arial" panose="020B0604020202020204" pitchFamily="34" charset="0"/>
              <a:buChar char="•"/>
            </a:pPr>
            <a:r>
              <a:rPr lang="en-US" sz="2300" b="1" dirty="0"/>
              <a:t>Internal benchmarking</a:t>
            </a:r>
            <a:r>
              <a:rPr lang="en-US" sz="2300" dirty="0"/>
              <a:t> — comparing departments, branches, or teams within the same organization. </a:t>
            </a:r>
          </a:p>
          <a:p>
            <a:pPr>
              <a:buFont typeface="Arial" panose="020B0604020202020204" pitchFamily="34" charset="0"/>
              <a:buChar char="•"/>
            </a:pPr>
            <a:r>
              <a:rPr lang="en-US" sz="2300" b="1" dirty="0"/>
              <a:t>Competitive benchmarking</a:t>
            </a:r>
            <a:r>
              <a:rPr lang="en-US" sz="2300" dirty="0"/>
              <a:t> — comparing performance with direct competitors. </a:t>
            </a:r>
          </a:p>
          <a:p>
            <a:pPr>
              <a:buFont typeface="Arial" panose="020B0604020202020204" pitchFamily="34" charset="0"/>
              <a:buChar char="•"/>
            </a:pPr>
            <a:r>
              <a:rPr lang="en-US" sz="2300" b="1" dirty="0"/>
              <a:t>Functional benchmarking</a:t>
            </a:r>
            <a:r>
              <a:rPr lang="en-US" sz="2300" dirty="0"/>
              <a:t> — comparing a particular function with organizations that perform it well. </a:t>
            </a:r>
          </a:p>
          <a:p>
            <a:pPr>
              <a:buFont typeface="Arial" panose="020B0604020202020204" pitchFamily="34" charset="0"/>
              <a:buChar char="•"/>
            </a:pPr>
            <a:r>
              <a:rPr lang="en-US" sz="2300" b="1" dirty="0"/>
              <a:t>Best-practice benchmarking</a:t>
            </a:r>
            <a:r>
              <a:rPr lang="en-US" sz="2300" dirty="0"/>
              <a:t> — studying leading practices regardless of industry. </a:t>
            </a:r>
          </a:p>
          <a:p>
            <a:pPr>
              <a:buFont typeface="Arial" panose="020B0604020202020204" pitchFamily="34" charset="0"/>
              <a:buChar char="•"/>
            </a:pPr>
            <a:r>
              <a:rPr lang="en-US" sz="2300" b="1" dirty="0"/>
              <a:t>Performance benchmarking</a:t>
            </a:r>
            <a:r>
              <a:rPr lang="en-US" sz="2300" dirty="0"/>
              <a:t> — comparing measurable indicators such as cost, speed, quality, or customer satisfaction.</a:t>
            </a:r>
          </a:p>
        </p:txBody>
      </p:sp>
    </p:spTree>
    <p:extLst>
      <p:ext uri="{BB962C8B-B14F-4D97-AF65-F5344CB8AC3E}">
        <p14:creationId xmlns:p14="http://schemas.microsoft.com/office/powerpoint/2010/main" val="318981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589692" y="364368"/>
            <a:ext cx="6093618" cy="5693866"/>
          </a:xfrm>
          <a:prstGeom prst="rect">
            <a:avLst/>
          </a:prstGeom>
          <a:noFill/>
        </p:spPr>
        <p:txBody>
          <a:bodyPr wrap="square">
            <a:spAutoFit/>
          </a:bodyPr>
          <a:lstStyle/>
          <a:p>
            <a:r>
              <a:rPr lang="en-US" b="1" dirty="0"/>
              <a:t>7. Continuous Feedback Systems</a:t>
            </a:r>
          </a:p>
          <a:p>
            <a:r>
              <a:rPr lang="en-US" dirty="0"/>
              <a:t>Continuous feedback mechanisms collect real-time insights from employees, customers, and stakeholders. This information helps identify issues early, evaluate progress, and guide improvements. Feedback loops strengthen communication, enhance responsiveness, and support cultures where learning and refinement are constant, enabling quicker adaptation to changing conditions and expectations.</a:t>
            </a:r>
          </a:p>
        </p:txBody>
      </p:sp>
      <p:sp>
        <p:nvSpPr>
          <p:cNvPr id="4" name="TextBox 3">
            <a:extLst>
              <a:ext uri="{FF2B5EF4-FFF2-40B4-BE49-F238E27FC236}">
                <a16:creationId xmlns:a16="http://schemas.microsoft.com/office/drawing/2014/main" id="{8A838084-9AE6-46E4-ABEC-0A153AE481EE}"/>
              </a:ext>
            </a:extLst>
          </p:cNvPr>
          <p:cNvSpPr txBox="1"/>
          <p:nvPr/>
        </p:nvSpPr>
        <p:spPr>
          <a:xfrm>
            <a:off x="8615888" y="364368"/>
            <a:ext cx="3044428" cy="4401205"/>
          </a:xfrm>
          <a:prstGeom prst="rect">
            <a:avLst/>
          </a:prstGeom>
          <a:noFill/>
        </p:spPr>
        <p:txBody>
          <a:bodyPr wrap="square">
            <a:spAutoFit/>
          </a:bodyPr>
          <a:lstStyle/>
          <a:p>
            <a:r>
              <a:rPr lang="en-US" b="1" dirty="0">
                <a:solidFill>
                  <a:srgbClr val="FF0000"/>
                </a:solidFill>
              </a:rPr>
              <a:t>mechanisms that continuously collect, analyze, and use feedback from users, employees, customers, or digital systems to support ongoing improvement</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185755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erformance management tools">
            <a:extLst>
              <a:ext uri="{FF2B5EF4-FFF2-40B4-BE49-F238E27FC236}">
                <a16:creationId xmlns:a16="http://schemas.microsoft.com/office/drawing/2014/main" id="{EE215C79-FFA0-4BAD-B05E-BE2AE1D566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660293"/>
            <a:ext cx="9848850" cy="5537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691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6A2B54-7330-404D-B1ED-297C894DACD1}"/>
              </a:ext>
            </a:extLst>
          </p:cNvPr>
          <p:cNvPicPr>
            <a:picLocks noChangeAspect="1"/>
          </p:cNvPicPr>
          <p:nvPr/>
        </p:nvPicPr>
        <p:blipFill>
          <a:blip r:embed="rId2"/>
          <a:stretch>
            <a:fillRect/>
          </a:stretch>
        </p:blipFill>
        <p:spPr>
          <a:xfrm>
            <a:off x="1371600" y="600075"/>
            <a:ext cx="9448800" cy="5657850"/>
          </a:xfrm>
          <a:prstGeom prst="rect">
            <a:avLst/>
          </a:prstGeom>
        </p:spPr>
      </p:pic>
    </p:spTree>
    <p:extLst>
      <p:ext uri="{BB962C8B-B14F-4D97-AF65-F5344CB8AC3E}">
        <p14:creationId xmlns:p14="http://schemas.microsoft.com/office/powerpoint/2010/main" val="3702906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FD38C7-320A-4888-B3F7-2E43A890BD8B}"/>
              </a:ext>
            </a:extLst>
          </p:cNvPr>
          <p:cNvSpPr txBox="1"/>
          <p:nvPr/>
        </p:nvSpPr>
        <p:spPr>
          <a:xfrm>
            <a:off x="446484" y="414308"/>
            <a:ext cx="11169253" cy="6109365"/>
          </a:xfrm>
          <a:prstGeom prst="rect">
            <a:avLst/>
          </a:prstGeom>
          <a:noFill/>
        </p:spPr>
        <p:txBody>
          <a:bodyPr wrap="square">
            <a:spAutoFit/>
          </a:bodyPr>
          <a:lstStyle/>
          <a:p>
            <a:r>
              <a:rPr lang="en-US" sz="2300" b="1" dirty="0"/>
              <a:t>Example:</a:t>
            </a:r>
            <a:endParaRPr lang="en-US" sz="2300" dirty="0"/>
          </a:p>
          <a:p>
            <a:r>
              <a:rPr lang="en-US" sz="2300" dirty="0"/>
              <a:t>A bank operates a </a:t>
            </a:r>
            <a:r>
              <a:rPr lang="en-US" sz="2300" b="1" dirty="0"/>
              <a:t>mobile banking application</a:t>
            </a:r>
            <a:r>
              <a:rPr lang="en-US" sz="2300" dirty="0"/>
              <a:t>. After customers complete a money transfer, the application asks them to rate their experience and provide comments.</a:t>
            </a:r>
          </a:p>
          <a:p>
            <a:r>
              <a:rPr lang="en-US" sz="2300" dirty="0"/>
              <a:t>The bank also automatically collects data such as </a:t>
            </a:r>
            <a:r>
              <a:rPr lang="en-US" sz="2300" b="1" dirty="0"/>
              <a:t>transaction completion time, error rates, abandoned transactions, and application crashes</a:t>
            </a:r>
            <a:r>
              <a:rPr lang="en-US" sz="2300" dirty="0"/>
              <a:t>.</a:t>
            </a:r>
          </a:p>
          <a:p>
            <a:r>
              <a:rPr lang="en-US" sz="2300" dirty="0"/>
              <a:t>For example, feedback shows that many customers find the </a:t>
            </a:r>
            <a:r>
              <a:rPr lang="en-US" sz="2300" b="1" dirty="0"/>
              <a:t>money-transfer confirmation page confusing</a:t>
            </a:r>
            <a:r>
              <a:rPr lang="en-US" sz="2300" dirty="0"/>
              <a:t>. The development team redesigns the page and releases the improved version. The system then continues collecting feedback to determine whether the change has improved customer experience.</a:t>
            </a:r>
          </a:p>
          <a:p>
            <a:r>
              <a:rPr lang="en-US" sz="2300" dirty="0"/>
              <a:t>Continuous feedback systems include:</a:t>
            </a:r>
          </a:p>
          <a:p>
            <a:pPr>
              <a:buFont typeface="Arial" panose="020B0604020202020204" pitchFamily="34" charset="0"/>
              <a:buChar char="•"/>
            </a:pPr>
            <a:r>
              <a:rPr lang="en-US" sz="2300" b="1" dirty="0"/>
              <a:t>User feedback</a:t>
            </a:r>
            <a:r>
              <a:rPr lang="en-US" sz="2300" dirty="0"/>
              <a:t> — ratings, surveys, comments, and complaints. </a:t>
            </a:r>
          </a:p>
          <a:p>
            <a:pPr>
              <a:buFont typeface="Arial" panose="020B0604020202020204" pitchFamily="34" charset="0"/>
              <a:buChar char="•"/>
            </a:pPr>
            <a:r>
              <a:rPr lang="en-US" sz="2300" b="1" dirty="0"/>
              <a:t>Real-time analytics</a:t>
            </a:r>
            <a:r>
              <a:rPr lang="en-US" sz="2300" dirty="0"/>
              <a:t> — continuously monitors user behavior. </a:t>
            </a:r>
          </a:p>
          <a:p>
            <a:pPr>
              <a:buFont typeface="Arial" panose="020B0604020202020204" pitchFamily="34" charset="0"/>
              <a:buChar char="•"/>
            </a:pPr>
            <a:r>
              <a:rPr lang="en-US" sz="2300" b="1" dirty="0"/>
              <a:t>Performance monitoring</a:t>
            </a:r>
            <a:r>
              <a:rPr lang="en-US" sz="2300" dirty="0"/>
              <a:t> — tracks system speed, errors, and reliability. </a:t>
            </a:r>
          </a:p>
          <a:p>
            <a:pPr>
              <a:buFont typeface="Arial" panose="020B0604020202020204" pitchFamily="34" charset="0"/>
              <a:buChar char="•"/>
            </a:pPr>
            <a:r>
              <a:rPr lang="en-US" sz="2300" b="1" dirty="0"/>
              <a:t>Automated alerts</a:t>
            </a:r>
            <a:r>
              <a:rPr lang="en-US" sz="2300" dirty="0"/>
              <a:t> — informs teams when important problems occur. </a:t>
            </a:r>
          </a:p>
          <a:p>
            <a:pPr>
              <a:buFont typeface="Arial" panose="020B0604020202020204" pitchFamily="34" charset="0"/>
              <a:buChar char="•"/>
            </a:pPr>
            <a:r>
              <a:rPr lang="en-US" sz="2300" b="1" dirty="0"/>
              <a:t>Feedback analysis</a:t>
            </a:r>
            <a:r>
              <a:rPr lang="en-US" sz="2300" dirty="0"/>
              <a:t> — identifies common issues and improvement opportunities. </a:t>
            </a:r>
          </a:p>
          <a:p>
            <a:pPr>
              <a:buFont typeface="Arial" panose="020B0604020202020204" pitchFamily="34" charset="0"/>
              <a:buChar char="•"/>
            </a:pPr>
            <a:r>
              <a:rPr lang="en-US" sz="2300" b="1" dirty="0"/>
              <a:t>Rapid response</a:t>
            </a:r>
            <a:r>
              <a:rPr lang="en-US" sz="2300" dirty="0"/>
              <a:t> — enables teams to make improvements quickly. </a:t>
            </a:r>
          </a:p>
          <a:p>
            <a:pPr>
              <a:buFont typeface="Arial" panose="020B0604020202020204" pitchFamily="34" charset="0"/>
              <a:buChar char="•"/>
            </a:pPr>
            <a:r>
              <a:rPr lang="en-US" sz="2300" b="1" dirty="0"/>
              <a:t>Continuous measurement</a:t>
            </a:r>
            <a:r>
              <a:rPr lang="en-US" sz="2300" dirty="0"/>
              <a:t> — evaluates whether changes produce better results.</a:t>
            </a:r>
          </a:p>
        </p:txBody>
      </p:sp>
    </p:spTree>
    <p:extLst>
      <p:ext uri="{BB962C8B-B14F-4D97-AF65-F5344CB8AC3E}">
        <p14:creationId xmlns:p14="http://schemas.microsoft.com/office/powerpoint/2010/main" val="420556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529274" y="329346"/>
            <a:ext cx="6093618" cy="4832092"/>
          </a:xfrm>
          <a:prstGeom prst="rect">
            <a:avLst/>
          </a:prstGeom>
          <a:noFill/>
        </p:spPr>
        <p:txBody>
          <a:bodyPr wrap="square">
            <a:spAutoFit/>
          </a:bodyPr>
          <a:lstStyle/>
          <a:p>
            <a:r>
              <a:rPr lang="en-US" b="1" dirty="0"/>
              <a:t>8. Process Mapping and Analysis</a:t>
            </a:r>
          </a:p>
          <a:p>
            <a:r>
              <a:rPr lang="en-US" dirty="0"/>
              <a:t>Process mapping visualizes workflows to identify inefficiencies, redundancies, and bottlenecks. By understanding each step clearly, organizations can redesign processes to enhance coherence and performance. Process analysis supports smoother coordination, reduced delays, and improved quality, making it a key tool in continuous improvement initiatives.</a:t>
            </a:r>
          </a:p>
        </p:txBody>
      </p:sp>
      <p:sp>
        <p:nvSpPr>
          <p:cNvPr id="4" name="TextBox 3">
            <a:extLst>
              <a:ext uri="{FF2B5EF4-FFF2-40B4-BE49-F238E27FC236}">
                <a16:creationId xmlns:a16="http://schemas.microsoft.com/office/drawing/2014/main" id="{45FB8847-7DE9-47C7-B4FA-DF331B05620A}"/>
              </a:ext>
            </a:extLst>
          </p:cNvPr>
          <p:cNvSpPr txBox="1"/>
          <p:nvPr/>
        </p:nvSpPr>
        <p:spPr>
          <a:xfrm>
            <a:off x="8737361" y="533966"/>
            <a:ext cx="2925365" cy="3631763"/>
          </a:xfrm>
          <a:prstGeom prst="rect">
            <a:avLst/>
          </a:prstGeom>
          <a:noFill/>
        </p:spPr>
        <p:txBody>
          <a:bodyPr wrap="square">
            <a:spAutoFit/>
          </a:bodyPr>
          <a:lstStyle/>
          <a:p>
            <a:r>
              <a:rPr lang="en-US" sz="2300" dirty="0">
                <a:solidFill>
                  <a:srgbClr val="FF0000"/>
                </a:solidFill>
              </a:rPr>
              <a:t>a method used to </a:t>
            </a:r>
            <a:r>
              <a:rPr lang="en-US" sz="2300" b="1" dirty="0">
                <a:solidFill>
                  <a:srgbClr val="FF0000"/>
                </a:solidFill>
              </a:rPr>
              <a:t>visually represent each step of a business or digital process and analyze it to identify delays, duplication, bottlenecks, errors, and opportunities for improvement</a:t>
            </a:r>
            <a:r>
              <a:rPr lang="en-US" sz="2300" dirty="0">
                <a:solidFill>
                  <a:srgbClr val="FF0000"/>
                </a:solidFill>
              </a:rPr>
              <a:t>.</a:t>
            </a:r>
            <a:endParaRPr lang="th-TH" sz="2300" dirty="0">
              <a:solidFill>
                <a:srgbClr val="FF0000"/>
              </a:solidFill>
            </a:endParaRPr>
          </a:p>
        </p:txBody>
      </p:sp>
    </p:spTree>
    <p:extLst>
      <p:ext uri="{BB962C8B-B14F-4D97-AF65-F5344CB8AC3E}">
        <p14:creationId xmlns:p14="http://schemas.microsoft.com/office/powerpoint/2010/main" val="4126813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line Shopping Cart DFD: Levels 0, 1, 2 (2026)">
            <a:extLst>
              <a:ext uri="{FF2B5EF4-FFF2-40B4-BE49-F238E27FC236}">
                <a16:creationId xmlns:a16="http://schemas.microsoft.com/office/drawing/2014/main" id="{C365A4DA-6A6A-CC99-73EA-407E2E5F8A82}"/>
              </a:ext>
            </a:extLst>
          </p:cNvPr>
          <p:cNvPicPr>
            <a:picLocks noChangeAspect="1"/>
          </p:cNvPicPr>
          <p:nvPr/>
        </p:nvPicPr>
        <p:blipFill>
          <a:blip r:embed="rId2"/>
          <a:stretch>
            <a:fillRect/>
          </a:stretch>
        </p:blipFill>
        <p:spPr>
          <a:xfrm>
            <a:off x="3122467" y="413903"/>
            <a:ext cx="5974235" cy="5974235"/>
          </a:xfrm>
          <a:prstGeom prst="rect">
            <a:avLst/>
          </a:prstGeom>
        </p:spPr>
      </p:pic>
    </p:spTree>
    <p:extLst>
      <p:ext uri="{BB962C8B-B14F-4D97-AF65-F5344CB8AC3E}">
        <p14:creationId xmlns:p14="http://schemas.microsoft.com/office/powerpoint/2010/main" val="3313455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5BBF21-0909-4B70-A7ED-E9FE17F8160E}"/>
              </a:ext>
            </a:extLst>
          </p:cNvPr>
          <p:cNvPicPr>
            <a:picLocks noChangeAspect="1"/>
          </p:cNvPicPr>
          <p:nvPr/>
        </p:nvPicPr>
        <p:blipFill rotWithShape="1">
          <a:blip r:embed="rId2"/>
          <a:srcRect t="13958"/>
          <a:stretch/>
        </p:blipFill>
        <p:spPr>
          <a:xfrm>
            <a:off x="860885" y="728662"/>
            <a:ext cx="10470229" cy="5900737"/>
          </a:xfrm>
          <a:prstGeom prst="rect">
            <a:avLst/>
          </a:prstGeom>
        </p:spPr>
      </p:pic>
    </p:spTree>
    <p:extLst>
      <p:ext uri="{BB962C8B-B14F-4D97-AF65-F5344CB8AC3E}">
        <p14:creationId xmlns:p14="http://schemas.microsoft.com/office/powerpoint/2010/main" val="2399188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DB6ACC-4C8A-4191-83CA-3E124817D7B2}"/>
              </a:ext>
            </a:extLst>
          </p:cNvPr>
          <p:cNvSpPr txBox="1"/>
          <p:nvPr/>
        </p:nvSpPr>
        <p:spPr>
          <a:xfrm>
            <a:off x="389930" y="151179"/>
            <a:ext cx="11412140" cy="6555641"/>
          </a:xfrm>
          <a:prstGeom prst="rect">
            <a:avLst/>
          </a:prstGeom>
          <a:noFill/>
        </p:spPr>
        <p:txBody>
          <a:bodyPr wrap="square">
            <a:spAutoFit/>
          </a:bodyPr>
          <a:lstStyle/>
          <a:p>
            <a:r>
              <a:rPr lang="en-US" sz="2000" b="1" dirty="0"/>
              <a:t>Example:</a:t>
            </a:r>
            <a:endParaRPr lang="en-US" sz="2000" dirty="0"/>
          </a:p>
          <a:p>
            <a:r>
              <a:rPr lang="en-US" sz="2000" dirty="0"/>
              <a:t>A bank wants to improve its </a:t>
            </a:r>
            <a:r>
              <a:rPr lang="en-US" sz="2000" b="1" dirty="0"/>
              <a:t>digital loan application process</a:t>
            </a:r>
            <a:r>
              <a:rPr lang="en-US" sz="2000" dirty="0"/>
              <a:t>. The team creates a process map showing every step a customer must complete.</a:t>
            </a:r>
          </a:p>
          <a:p>
            <a:r>
              <a:rPr lang="en-US" sz="2000" b="1" dirty="0"/>
              <a:t>Current process:</a:t>
            </a:r>
            <a:br>
              <a:rPr lang="en-US" sz="2000" dirty="0"/>
            </a:br>
            <a:r>
              <a:rPr lang="en-US" sz="2000" b="1" dirty="0"/>
              <a:t>Customer Applies → Enter Personal Data → Upload Documents → Staff Review → Credit Check → Manager Approval → Customer Notification</a:t>
            </a:r>
            <a:endParaRPr lang="en-US" sz="2000" dirty="0"/>
          </a:p>
          <a:p>
            <a:r>
              <a:rPr lang="en-US" sz="2000" dirty="0"/>
              <a:t>After analyzing the process, the team discovers that employees are </a:t>
            </a:r>
            <a:r>
              <a:rPr lang="en-US" sz="2000" b="1" dirty="0"/>
              <a:t>manually entering customer information twice</a:t>
            </a:r>
            <a:r>
              <a:rPr lang="en-US" sz="2000" dirty="0"/>
              <a:t>, creating delays and increasing the possibility of errors.</a:t>
            </a:r>
          </a:p>
          <a:p>
            <a:r>
              <a:rPr lang="en-US" sz="2000" dirty="0"/>
              <a:t>The bank improves the process by integrating the systems so that customer information is automatically transferred between departments.</a:t>
            </a:r>
          </a:p>
          <a:p>
            <a:r>
              <a:rPr lang="en-US" sz="2000" b="1" dirty="0"/>
              <a:t>Improved process:</a:t>
            </a:r>
            <a:br>
              <a:rPr lang="en-US" sz="2000" dirty="0"/>
            </a:br>
            <a:r>
              <a:rPr lang="en-US" sz="2000" b="1" dirty="0"/>
              <a:t>Customer Applies → Upload Documents → Automatic Data Verification → Credit Check → Digital Approval → Customer Notification</a:t>
            </a:r>
            <a:endParaRPr lang="en-US" sz="2000" dirty="0"/>
          </a:p>
          <a:p>
            <a:r>
              <a:rPr lang="en-US" sz="2000" dirty="0"/>
              <a:t>Process Mapping and Analysis helps organizations:</a:t>
            </a:r>
          </a:p>
          <a:p>
            <a:pPr>
              <a:buFont typeface="Arial" panose="020B0604020202020204" pitchFamily="34" charset="0"/>
              <a:buChar char="•"/>
            </a:pPr>
            <a:r>
              <a:rPr lang="en-US" sz="2000" b="1" dirty="0"/>
              <a:t>Visualize workflows</a:t>
            </a:r>
            <a:r>
              <a:rPr lang="en-US" sz="2000" dirty="0"/>
              <a:t> — clearly understand how work moves through a process. </a:t>
            </a:r>
          </a:p>
          <a:p>
            <a:pPr>
              <a:buFont typeface="Arial" panose="020B0604020202020204" pitchFamily="34" charset="0"/>
              <a:buChar char="•"/>
            </a:pPr>
            <a:r>
              <a:rPr lang="en-US" sz="2000" b="1" dirty="0"/>
              <a:t>Identify bottlenecks</a:t>
            </a:r>
            <a:r>
              <a:rPr lang="en-US" sz="2000" dirty="0"/>
              <a:t> — find stages that cause delays. </a:t>
            </a:r>
          </a:p>
          <a:p>
            <a:pPr>
              <a:buFont typeface="Arial" panose="020B0604020202020204" pitchFamily="34" charset="0"/>
              <a:buChar char="•"/>
            </a:pPr>
            <a:r>
              <a:rPr lang="en-US" sz="2000" b="1" dirty="0"/>
              <a:t>Detect duplication</a:t>
            </a:r>
            <a:r>
              <a:rPr lang="en-US" sz="2000" dirty="0"/>
              <a:t> — identify unnecessary repeated activities. </a:t>
            </a:r>
          </a:p>
          <a:p>
            <a:pPr>
              <a:buFont typeface="Arial" panose="020B0604020202020204" pitchFamily="34" charset="0"/>
              <a:buChar char="•"/>
            </a:pPr>
            <a:r>
              <a:rPr lang="en-US" sz="2000" b="1" dirty="0"/>
              <a:t>Reduce waste</a:t>
            </a:r>
            <a:r>
              <a:rPr lang="en-US" sz="2000" dirty="0"/>
              <a:t> — eliminate activities that do not create value. </a:t>
            </a:r>
          </a:p>
          <a:p>
            <a:pPr>
              <a:buFont typeface="Arial" panose="020B0604020202020204" pitchFamily="34" charset="0"/>
              <a:buChar char="•"/>
            </a:pPr>
            <a:r>
              <a:rPr lang="en-US" sz="2000" b="1" dirty="0"/>
              <a:t>Clarify responsibilities</a:t>
            </a:r>
            <a:r>
              <a:rPr lang="en-US" sz="2000" dirty="0"/>
              <a:t> — show who is responsible for each activity. </a:t>
            </a:r>
          </a:p>
          <a:p>
            <a:pPr>
              <a:buFont typeface="Arial" panose="020B0604020202020204" pitchFamily="34" charset="0"/>
              <a:buChar char="•"/>
            </a:pPr>
            <a:r>
              <a:rPr lang="en-US" sz="2000" b="1" dirty="0"/>
              <a:t>Improve efficiency</a:t>
            </a:r>
            <a:r>
              <a:rPr lang="en-US" sz="2000" dirty="0"/>
              <a:t> — simplify and automate processes where appropriate. </a:t>
            </a:r>
          </a:p>
          <a:p>
            <a:pPr>
              <a:buFont typeface="Arial" panose="020B0604020202020204" pitchFamily="34" charset="0"/>
              <a:buChar char="•"/>
            </a:pPr>
            <a:r>
              <a:rPr lang="en-US" sz="2000" b="1" dirty="0"/>
              <a:t>Standardize processes</a:t>
            </a:r>
            <a:r>
              <a:rPr lang="en-US" sz="2000" dirty="0"/>
              <a:t> — establish consistent ways of performing activities.</a:t>
            </a:r>
          </a:p>
        </p:txBody>
      </p:sp>
    </p:spTree>
    <p:extLst>
      <p:ext uri="{BB962C8B-B14F-4D97-AF65-F5344CB8AC3E}">
        <p14:creationId xmlns:p14="http://schemas.microsoft.com/office/powerpoint/2010/main" val="22416447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08203" y="421122"/>
            <a:ext cx="6093618" cy="5262979"/>
          </a:xfrm>
          <a:prstGeom prst="rect">
            <a:avLst/>
          </a:prstGeom>
          <a:noFill/>
        </p:spPr>
        <p:txBody>
          <a:bodyPr wrap="square">
            <a:spAutoFit/>
          </a:bodyPr>
          <a:lstStyle/>
          <a:p>
            <a:r>
              <a:rPr lang="en-US" b="1" dirty="0"/>
              <a:t>9. Performance Measurement Metrics</a:t>
            </a:r>
          </a:p>
          <a:p>
            <a:r>
              <a:rPr lang="en-US" dirty="0"/>
              <a:t>Performance metrics such as KPIs, quality indicators, and efficiency ratios help track organizational progress and identify improvement areas. Regular measurement ensures transparency, accountability, and data-driven decision-making. These metrics enable stakeholders to evaluate trends, set targets, and drive continuous enhancement of operations and outcomes.</a:t>
            </a:r>
          </a:p>
        </p:txBody>
      </p:sp>
      <p:sp>
        <p:nvSpPr>
          <p:cNvPr id="4" name="TextBox 3">
            <a:extLst>
              <a:ext uri="{FF2B5EF4-FFF2-40B4-BE49-F238E27FC236}">
                <a16:creationId xmlns:a16="http://schemas.microsoft.com/office/drawing/2014/main" id="{52990D7A-8804-45AE-B4C3-36A132FF33BA}"/>
              </a:ext>
            </a:extLst>
          </p:cNvPr>
          <p:cNvSpPr txBox="1"/>
          <p:nvPr/>
        </p:nvSpPr>
        <p:spPr>
          <a:xfrm>
            <a:off x="8372475" y="421122"/>
            <a:ext cx="3411140" cy="3970318"/>
          </a:xfrm>
          <a:prstGeom prst="rect">
            <a:avLst/>
          </a:prstGeom>
          <a:noFill/>
        </p:spPr>
        <p:txBody>
          <a:bodyPr wrap="square">
            <a:spAutoFit/>
          </a:bodyPr>
          <a:lstStyle/>
          <a:p>
            <a:r>
              <a:rPr lang="en-US" b="1" dirty="0">
                <a:solidFill>
                  <a:srgbClr val="FF0000"/>
                </a:solidFill>
              </a:rPr>
              <a:t>quantifiable indicators used to evaluate how effectively and efficiently a system, process, project, or organization is achieving its objectives</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3533018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Key Metrics for Tracking and Analyzing Performance">
            <a:extLst>
              <a:ext uri="{FF2B5EF4-FFF2-40B4-BE49-F238E27FC236}">
                <a16:creationId xmlns:a16="http://schemas.microsoft.com/office/drawing/2014/main" id="{D2B4B498-0826-42FB-8171-F65B18158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6075" y="1262063"/>
            <a:ext cx="641985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772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EA00DE-897F-49A6-A2BB-EFA8C64BD23B}"/>
              </a:ext>
            </a:extLst>
          </p:cNvPr>
          <p:cNvPicPr>
            <a:picLocks noChangeAspect="1"/>
          </p:cNvPicPr>
          <p:nvPr/>
        </p:nvPicPr>
        <p:blipFill rotWithShape="1">
          <a:blip r:embed="rId2"/>
          <a:srcRect t="5416" b="4375"/>
          <a:stretch/>
        </p:blipFill>
        <p:spPr>
          <a:xfrm>
            <a:off x="1507686" y="371475"/>
            <a:ext cx="9176628" cy="6186488"/>
          </a:xfrm>
          <a:prstGeom prst="rect">
            <a:avLst/>
          </a:prstGeom>
        </p:spPr>
      </p:pic>
    </p:spTree>
    <p:extLst>
      <p:ext uri="{BB962C8B-B14F-4D97-AF65-F5344CB8AC3E}">
        <p14:creationId xmlns:p14="http://schemas.microsoft.com/office/powerpoint/2010/main" val="3232505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CFC1F4-2783-46B1-BC8F-561D03323CE6}"/>
              </a:ext>
            </a:extLst>
          </p:cNvPr>
          <p:cNvSpPr txBox="1"/>
          <p:nvPr/>
        </p:nvSpPr>
        <p:spPr>
          <a:xfrm>
            <a:off x="432198" y="313164"/>
            <a:ext cx="11397852" cy="5324535"/>
          </a:xfrm>
          <a:prstGeom prst="rect">
            <a:avLst/>
          </a:prstGeom>
          <a:noFill/>
        </p:spPr>
        <p:txBody>
          <a:bodyPr wrap="square">
            <a:spAutoFit/>
          </a:bodyPr>
          <a:lstStyle/>
          <a:p>
            <a:r>
              <a:rPr lang="en-US" sz="2000" b="1" dirty="0"/>
              <a:t>Example:</a:t>
            </a:r>
            <a:endParaRPr lang="en-US" sz="2000" dirty="0"/>
          </a:p>
          <a:p>
            <a:r>
              <a:rPr lang="en-US" sz="2000" dirty="0"/>
              <a:t>A bank wants to evaluate the performance of its </a:t>
            </a:r>
            <a:r>
              <a:rPr lang="en-US" sz="2000" b="1" dirty="0"/>
              <a:t>mobile banking application</a:t>
            </a:r>
            <a:r>
              <a:rPr lang="en-US" sz="2000" dirty="0"/>
              <a:t>. Instead of simply assuming that the application is performing well, the bank defines specific metrics and regularly measures them.</a:t>
            </a:r>
          </a:p>
          <a:p>
            <a:r>
              <a:rPr lang="en-US" sz="2000" dirty="0"/>
              <a:t>For example, the bank may monitor:</a:t>
            </a:r>
          </a:p>
          <a:p>
            <a:pPr>
              <a:buFont typeface="Arial" panose="020B0604020202020204" pitchFamily="34" charset="0"/>
              <a:buChar char="•"/>
            </a:pPr>
            <a:r>
              <a:rPr lang="en-US" sz="2000" b="1" dirty="0"/>
              <a:t>Transaction success rate</a:t>
            </a:r>
            <a:r>
              <a:rPr lang="en-US" sz="2000" dirty="0"/>
              <a:t> — percentage of transactions completed successfully. </a:t>
            </a:r>
          </a:p>
          <a:p>
            <a:pPr>
              <a:buFont typeface="Arial" panose="020B0604020202020204" pitchFamily="34" charset="0"/>
              <a:buChar char="•"/>
            </a:pPr>
            <a:r>
              <a:rPr lang="en-US" sz="2000" b="1" dirty="0"/>
              <a:t>Average response time</a:t>
            </a:r>
            <a:r>
              <a:rPr lang="en-US" sz="2000" dirty="0"/>
              <a:t> — how quickly the application responds to users. </a:t>
            </a:r>
          </a:p>
          <a:p>
            <a:pPr>
              <a:buFont typeface="Arial" panose="020B0604020202020204" pitchFamily="34" charset="0"/>
              <a:buChar char="•"/>
            </a:pPr>
            <a:r>
              <a:rPr lang="en-US" sz="2000" b="1" dirty="0"/>
              <a:t>Error rate</a:t>
            </a:r>
            <a:r>
              <a:rPr lang="en-US" sz="2000" dirty="0"/>
              <a:t> — percentage of transactions or activities that produce errors. </a:t>
            </a:r>
          </a:p>
          <a:p>
            <a:pPr>
              <a:buFont typeface="Arial" panose="020B0604020202020204" pitchFamily="34" charset="0"/>
              <a:buChar char="•"/>
            </a:pPr>
            <a:r>
              <a:rPr lang="en-US" sz="2000" b="1" dirty="0"/>
              <a:t>System uptime</a:t>
            </a:r>
            <a:r>
              <a:rPr lang="en-US" sz="2000" dirty="0"/>
              <a:t> — percentage of time the application remains available. </a:t>
            </a:r>
          </a:p>
          <a:p>
            <a:pPr>
              <a:buFont typeface="Arial" panose="020B0604020202020204" pitchFamily="34" charset="0"/>
              <a:buChar char="•"/>
            </a:pPr>
            <a:r>
              <a:rPr lang="en-US" sz="2000" b="1" dirty="0"/>
              <a:t>Customer satisfaction score</a:t>
            </a:r>
            <a:r>
              <a:rPr lang="en-US" sz="2000" dirty="0"/>
              <a:t> — measures users' satisfaction with the service. </a:t>
            </a:r>
          </a:p>
          <a:p>
            <a:pPr>
              <a:buFont typeface="Arial" panose="020B0604020202020204" pitchFamily="34" charset="0"/>
              <a:buChar char="•"/>
            </a:pPr>
            <a:r>
              <a:rPr lang="en-US" sz="2000" b="1" dirty="0"/>
              <a:t>Task completion time</a:t>
            </a:r>
            <a:r>
              <a:rPr lang="en-US" sz="2000" dirty="0"/>
              <a:t> — measures how long users take to complete activities. </a:t>
            </a:r>
          </a:p>
          <a:p>
            <a:pPr>
              <a:buFont typeface="Arial" panose="020B0604020202020204" pitchFamily="34" charset="0"/>
              <a:buChar char="•"/>
            </a:pPr>
            <a:r>
              <a:rPr lang="en-US" sz="2000" b="1" dirty="0"/>
              <a:t>User retention rate</a:t>
            </a:r>
            <a:r>
              <a:rPr lang="en-US" sz="2000" dirty="0"/>
              <a:t> — percentage of users who continue using the application. </a:t>
            </a:r>
          </a:p>
          <a:p>
            <a:pPr>
              <a:buFont typeface="Arial" panose="020B0604020202020204" pitchFamily="34" charset="0"/>
              <a:buChar char="•"/>
            </a:pPr>
            <a:r>
              <a:rPr lang="en-US" sz="2000" b="1" dirty="0"/>
              <a:t>Cost per transaction</a:t>
            </a:r>
            <a:r>
              <a:rPr lang="en-US" sz="2000" dirty="0"/>
              <a:t> — measures the operational cost of processing each transaction. </a:t>
            </a:r>
          </a:p>
          <a:p>
            <a:r>
              <a:rPr lang="en-US" sz="2000" b="1" dirty="0"/>
              <a:t>Simple example:</a:t>
            </a:r>
            <a:endParaRPr lang="en-US" sz="2000" dirty="0"/>
          </a:p>
          <a:p>
            <a:r>
              <a:rPr lang="en-US" sz="2000" dirty="0"/>
              <a:t>Suppose the bank sets the following targets:</a:t>
            </a:r>
          </a:p>
          <a:p>
            <a:r>
              <a:rPr lang="en-US" sz="2000" b="1" dirty="0"/>
              <a:t>Transaction Success Rate:</a:t>
            </a:r>
            <a:r>
              <a:rPr lang="en-US" sz="2000" dirty="0"/>
              <a:t> Target = 99% → Actual = 97%</a:t>
            </a:r>
            <a:br>
              <a:rPr lang="en-US" sz="2000" dirty="0"/>
            </a:br>
            <a:r>
              <a:rPr lang="en-US" sz="2000" b="1" dirty="0"/>
              <a:t>Average Response Time:</a:t>
            </a:r>
            <a:r>
              <a:rPr lang="en-US" sz="2000" dirty="0"/>
              <a:t> Target = 2 seconds → Actual = 3.5 seconds</a:t>
            </a:r>
            <a:br>
              <a:rPr lang="en-US" sz="2000" dirty="0"/>
            </a:br>
            <a:r>
              <a:rPr lang="en-US" sz="2000" b="1" dirty="0"/>
              <a:t>Customer Satisfaction:</a:t>
            </a:r>
            <a:r>
              <a:rPr lang="en-US" sz="2000" dirty="0"/>
              <a:t> Target = 90% → Actual = 85%</a:t>
            </a:r>
          </a:p>
        </p:txBody>
      </p:sp>
    </p:spTree>
    <p:extLst>
      <p:ext uri="{BB962C8B-B14F-4D97-AF65-F5344CB8AC3E}">
        <p14:creationId xmlns:p14="http://schemas.microsoft.com/office/powerpoint/2010/main" val="2781563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375048" y="227141"/>
            <a:ext cx="6093618" cy="6124754"/>
          </a:xfrm>
          <a:prstGeom prst="rect">
            <a:avLst/>
          </a:prstGeom>
          <a:noFill/>
        </p:spPr>
        <p:txBody>
          <a:bodyPr wrap="square">
            <a:spAutoFit/>
          </a:bodyPr>
          <a:lstStyle/>
          <a:p>
            <a:r>
              <a:rPr lang="en-US" b="1" dirty="0"/>
              <a:t>10. Employee Empowerment in Improvement</a:t>
            </a:r>
          </a:p>
          <a:p>
            <a:r>
              <a:rPr lang="en-US" dirty="0"/>
              <a:t>Employee empowerment encourages workers to participate actively in generating ideas, solving problems, and implementing improvements. Empowered employees are more motivated, creative, and committed to organizational success. Their involvement strengthens continuous improvement efforts by leveraging frontline insights, building ownership, and fostering a collaborative culture of excellence.</a:t>
            </a:r>
          </a:p>
        </p:txBody>
      </p:sp>
      <p:sp>
        <p:nvSpPr>
          <p:cNvPr id="4" name="TextBox 3">
            <a:extLst>
              <a:ext uri="{FF2B5EF4-FFF2-40B4-BE49-F238E27FC236}">
                <a16:creationId xmlns:a16="http://schemas.microsoft.com/office/drawing/2014/main" id="{58F8033C-C81F-4006-93FA-293D526516E4}"/>
              </a:ext>
            </a:extLst>
          </p:cNvPr>
          <p:cNvSpPr txBox="1"/>
          <p:nvPr/>
        </p:nvSpPr>
        <p:spPr>
          <a:xfrm>
            <a:off x="8954691" y="476816"/>
            <a:ext cx="2671762" cy="3985706"/>
          </a:xfrm>
          <a:prstGeom prst="rect">
            <a:avLst/>
          </a:prstGeom>
          <a:noFill/>
        </p:spPr>
        <p:txBody>
          <a:bodyPr wrap="square">
            <a:spAutoFit/>
          </a:bodyPr>
          <a:lstStyle/>
          <a:p>
            <a:r>
              <a:rPr lang="en-US" sz="2300" b="1" dirty="0">
                <a:solidFill>
                  <a:srgbClr val="FF0000"/>
                </a:solidFill>
              </a:rPr>
              <a:t>giving employees the authority, responsibility, skills, and opportunities to identify problems, suggest solutions, and participate directly in improving organizational processes</a:t>
            </a:r>
            <a:r>
              <a:rPr lang="en-US" sz="2300" dirty="0">
                <a:solidFill>
                  <a:srgbClr val="FF0000"/>
                </a:solidFill>
              </a:rPr>
              <a:t>.</a:t>
            </a:r>
            <a:endParaRPr lang="th-TH" sz="2300" dirty="0">
              <a:solidFill>
                <a:srgbClr val="FF0000"/>
              </a:solidFill>
            </a:endParaRPr>
          </a:p>
        </p:txBody>
      </p:sp>
    </p:spTree>
    <p:extLst>
      <p:ext uri="{BB962C8B-B14F-4D97-AF65-F5344CB8AC3E}">
        <p14:creationId xmlns:p14="http://schemas.microsoft.com/office/powerpoint/2010/main" val="336193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A1188F-4FEE-4A55-B6D5-069C623F45E1}"/>
              </a:ext>
            </a:extLst>
          </p:cNvPr>
          <p:cNvPicPr>
            <a:picLocks noChangeAspect="1"/>
          </p:cNvPicPr>
          <p:nvPr/>
        </p:nvPicPr>
        <p:blipFill>
          <a:blip r:embed="rId2"/>
          <a:stretch>
            <a:fillRect/>
          </a:stretch>
        </p:blipFill>
        <p:spPr>
          <a:xfrm>
            <a:off x="3238500" y="1095375"/>
            <a:ext cx="5715000" cy="4667250"/>
          </a:xfrm>
          <a:prstGeom prst="rect">
            <a:avLst/>
          </a:prstGeom>
        </p:spPr>
      </p:pic>
    </p:spTree>
    <p:extLst>
      <p:ext uri="{BB962C8B-B14F-4D97-AF65-F5344CB8AC3E}">
        <p14:creationId xmlns:p14="http://schemas.microsoft.com/office/powerpoint/2010/main" val="10258868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8C3345-A881-470F-8A51-703DCA5A3777}"/>
              </a:ext>
            </a:extLst>
          </p:cNvPr>
          <p:cNvPicPr>
            <a:picLocks noChangeAspect="1"/>
          </p:cNvPicPr>
          <p:nvPr/>
        </p:nvPicPr>
        <p:blipFill rotWithShape="1">
          <a:blip r:embed="rId2"/>
          <a:srcRect t="2500" b="3750"/>
          <a:stretch/>
        </p:blipFill>
        <p:spPr>
          <a:xfrm>
            <a:off x="2847826" y="171450"/>
            <a:ext cx="6496348" cy="6429375"/>
          </a:xfrm>
          <a:prstGeom prst="rect">
            <a:avLst/>
          </a:prstGeom>
        </p:spPr>
      </p:pic>
    </p:spTree>
    <p:extLst>
      <p:ext uri="{BB962C8B-B14F-4D97-AF65-F5344CB8AC3E}">
        <p14:creationId xmlns:p14="http://schemas.microsoft.com/office/powerpoint/2010/main" val="3189094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879446-6832-4579-B4D2-569B2FE86051}"/>
              </a:ext>
            </a:extLst>
          </p:cNvPr>
          <p:cNvSpPr txBox="1"/>
          <p:nvPr/>
        </p:nvSpPr>
        <p:spPr>
          <a:xfrm>
            <a:off x="246459" y="306379"/>
            <a:ext cx="11840765" cy="6186309"/>
          </a:xfrm>
          <a:prstGeom prst="rect">
            <a:avLst/>
          </a:prstGeom>
          <a:noFill/>
        </p:spPr>
        <p:txBody>
          <a:bodyPr wrap="square">
            <a:spAutoFit/>
          </a:bodyPr>
          <a:lstStyle/>
          <a:p>
            <a:r>
              <a:rPr lang="en-US" sz="2200" b="1" dirty="0"/>
              <a:t>Example:</a:t>
            </a:r>
            <a:endParaRPr lang="en-US" sz="2200" dirty="0"/>
          </a:p>
          <a:p>
            <a:r>
              <a:rPr lang="en-US" sz="2200" dirty="0"/>
              <a:t>A bank's customer service employees notice that customers frequently complain about the </a:t>
            </a:r>
            <a:r>
              <a:rPr lang="en-US" sz="2200" b="1" dirty="0"/>
              <a:t>long process for resetting mobile banking passwords</a:t>
            </a:r>
            <a:r>
              <a:rPr lang="en-US" sz="2200" dirty="0"/>
              <a:t>. Because these employees communicate with customers every day, they understand the problem well.</a:t>
            </a:r>
          </a:p>
          <a:p>
            <a:r>
              <a:rPr lang="en-US" sz="2200" dirty="0"/>
              <a:t>Instead of requiring all improvement ideas to come from senior management, the bank encourages employees to propose solutions. The customer service team suggests introducing </a:t>
            </a:r>
            <a:r>
              <a:rPr lang="en-US" sz="2200" b="1" dirty="0"/>
              <a:t>automated identity verification and a simpler password-reset process</a:t>
            </a:r>
            <a:r>
              <a:rPr lang="en-US" sz="2200" dirty="0"/>
              <a:t>. Management reviews the idea, tests it, and implements the improved process.</a:t>
            </a:r>
          </a:p>
          <a:p>
            <a:r>
              <a:rPr lang="en-US" sz="2200" dirty="0"/>
              <a:t>As a result, customers can reset their passwords faster, while employees receive fewer repetitive support requests.</a:t>
            </a:r>
          </a:p>
          <a:p>
            <a:r>
              <a:rPr lang="en-US" sz="2200" dirty="0"/>
              <a:t>Employee empowerment supports improvement through:</a:t>
            </a:r>
          </a:p>
          <a:p>
            <a:pPr>
              <a:buFont typeface="Arial" panose="020B0604020202020204" pitchFamily="34" charset="0"/>
              <a:buChar char="•"/>
            </a:pPr>
            <a:r>
              <a:rPr lang="en-US" sz="2200" b="1" dirty="0"/>
              <a:t>Decision-making authority</a:t>
            </a:r>
            <a:r>
              <a:rPr lang="en-US" sz="2200" dirty="0"/>
              <a:t> — employees can make appropriate decisions within their responsibilities. </a:t>
            </a:r>
          </a:p>
          <a:p>
            <a:pPr>
              <a:buFont typeface="Arial" panose="020B0604020202020204" pitchFamily="34" charset="0"/>
              <a:buChar char="•"/>
            </a:pPr>
            <a:r>
              <a:rPr lang="en-US" sz="2200" b="1" dirty="0"/>
              <a:t>Idea sharing</a:t>
            </a:r>
            <a:r>
              <a:rPr lang="en-US" sz="2200" dirty="0"/>
              <a:t> — employees are encouraged to suggest improvements. </a:t>
            </a:r>
          </a:p>
          <a:p>
            <a:pPr>
              <a:buFont typeface="Arial" panose="020B0604020202020204" pitchFamily="34" charset="0"/>
              <a:buChar char="•"/>
            </a:pPr>
            <a:r>
              <a:rPr lang="en-US" sz="2200" b="1" dirty="0"/>
              <a:t>Problem-solving participation</a:t>
            </a:r>
            <a:r>
              <a:rPr lang="en-US" sz="2200" dirty="0"/>
              <a:t> — employees help identify and solve operational problems. </a:t>
            </a:r>
          </a:p>
          <a:p>
            <a:pPr>
              <a:buFont typeface="Arial" panose="020B0604020202020204" pitchFamily="34" charset="0"/>
              <a:buChar char="•"/>
            </a:pPr>
            <a:r>
              <a:rPr lang="en-US" sz="2200" b="1" dirty="0"/>
              <a:t>Training and development</a:t>
            </a:r>
            <a:r>
              <a:rPr lang="en-US" sz="2200" dirty="0"/>
              <a:t> — employees receive skills needed to contribute effectively. </a:t>
            </a:r>
          </a:p>
          <a:p>
            <a:pPr>
              <a:buFont typeface="Arial" panose="020B0604020202020204" pitchFamily="34" charset="0"/>
              <a:buChar char="•"/>
            </a:pPr>
            <a:r>
              <a:rPr lang="en-US" sz="2200" b="1" dirty="0"/>
              <a:t>Team collaboration</a:t>
            </a:r>
            <a:r>
              <a:rPr lang="en-US" sz="2200" dirty="0"/>
              <a:t> — employees work together to improve processes. </a:t>
            </a:r>
          </a:p>
          <a:p>
            <a:pPr>
              <a:buFont typeface="Arial" panose="020B0604020202020204" pitchFamily="34" charset="0"/>
              <a:buChar char="•"/>
            </a:pPr>
            <a:r>
              <a:rPr lang="en-US" sz="2200" b="1" dirty="0"/>
              <a:t>Recognition and support</a:t>
            </a:r>
            <a:r>
              <a:rPr lang="en-US" sz="2200" dirty="0"/>
              <a:t> — useful improvement ideas are acknowledged and encouraged. </a:t>
            </a:r>
          </a:p>
          <a:p>
            <a:pPr>
              <a:buFont typeface="Arial" panose="020B0604020202020204" pitchFamily="34" charset="0"/>
              <a:buChar char="•"/>
            </a:pPr>
            <a:r>
              <a:rPr lang="en-US" sz="2200" b="1" dirty="0"/>
              <a:t>Ownership</a:t>
            </a:r>
            <a:r>
              <a:rPr lang="en-US" sz="2200" dirty="0"/>
              <a:t> — employees feel responsible for the quality of their work and processes.</a:t>
            </a:r>
          </a:p>
        </p:txBody>
      </p:sp>
    </p:spTree>
    <p:extLst>
      <p:ext uri="{BB962C8B-B14F-4D97-AF65-F5344CB8AC3E}">
        <p14:creationId xmlns:p14="http://schemas.microsoft.com/office/powerpoint/2010/main" val="291067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2706FE-429D-4FB2-B9BB-291C4201D986}"/>
              </a:ext>
            </a:extLst>
          </p:cNvPr>
          <p:cNvSpPr txBox="1"/>
          <p:nvPr/>
        </p:nvSpPr>
        <p:spPr>
          <a:xfrm>
            <a:off x="3046810" y="3167390"/>
            <a:ext cx="6093618" cy="523220"/>
          </a:xfrm>
          <a:prstGeom prst="rect">
            <a:avLst/>
          </a:prstGeom>
          <a:noFill/>
        </p:spPr>
        <p:txBody>
          <a:bodyPr wrap="square">
            <a:spAutoFit/>
          </a:bodyPr>
          <a:lstStyle/>
          <a:p>
            <a:pPr algn="ctr"/>
            <a:r>
              <a:rPr lang="en-GB" b="1" dirty="0"/>
              <a:t>Thanks</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946</TotalTime>
  <Words>2638</Words>
  <Application>Microsoft Office PowerPoint</Application>
  <PresentationFormat>Widescreen</PresentationFormat>
  <Paragraphs>170</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TH SarabunPSK</vt:lpstr>
      <vt:lpstr>Office Theme</vt:lpstr>
      <vt:lpstr>Chapter 12 Continuous improvement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THACHA LAWANNA</cp:lastModifiedBy>
  <cp:revision>45</cp:revision>
  <dcterms:created xsi:type="dcterms:W3CDTF">2025-11-15T02:26:25Z</dcterms:created>
  <dcterms:modified xsi:type="dcterms:W3CDTF">2026-10-05T03:48:49Z</dcterms:modified>
</cp:coreProperties>
</file>