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9" r:id="rId5"/>
    <p:sldId id="259" r:id="rId6"/>
    <p:sldId id="290" r:id="rId7"/>
    <p:sldId id="260" r:id="rId8"/>
    <p:sldId id="291" r:id="rId9"/>
    <p:sldId id="261" r:id="rId10"/>
    <p:sldId id="292" r:id="rId11"/>
    <p:sldId id="262" r:id="rId12"/>
    <p:sldId id="288" r:id="rId13"/>
    <p:sldId id="293" r:id="rId14"/>
    <p:sldId id="263" r:id="rId15"/>
    <p:sldId id="299" r:id="rId16"/>
    <p:sldId id="294" r:id="rId17"/>
    <p:sldId id="264" r:id="rId18"/>
    <p:sldId id="295" r:id="rId19"/>
    <p:sldId id="265" r:id="rId20"/>
    <p:sldId id="296" r:id="rId21"/>
    <p:sldId id="266" r:id="rId22"/>
    <p:sldId id="297" r:id="rId23"/>
    <p:sldId id="267" r:id="rId24"/>
    <p:sldId id="298" r:id="rId25"/>
    <p:sldId id="268" r:id="rId26"/>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69" d="100"/>
          <a:sy n="69"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10/09/69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9 </a:t>
            </a:r>
            <a:r>
              <a:rPr lang="en-US" sz="8000" b="1" dirty="0">
                <a:effectLst/>
                <a:highlight>
                  <a:srgbClr val="FFFF00"/>
                </a:highlight>
                <a:latin typeface="TH SarabunPSK" panose="020B0500040200020003" pitchFamily="34" charset="-34"/>
                <a:ea typeface="Calibri" panose="020F0502020204030204" pitchFamily="34" charset="0"/>
              </a:rPr>
              <a:t>Iterative</a:t>
            </a:r>
            <a:r>
              <a:rPr lang="en-US" sz="8000" b="1" dirty="0">
                <a:effectLst/>
                <a:latin typeface="TH SarabunPSK" panose="020B0500040200020003" pitchFamily="34" charset="-34"/>
                <a:ea typeface="Calibri" panose="020F0502020204030204" pitchFamily="34" charset="0"/>
              </a:rPr>
              <a:t> design</a:t>
            </a:r>
            <a:r>
              <a:rPr lang="th-TH" sz="8000" b="1" dirty="0">
                <a:effectLst/>
                <a:latin typeface="TH SarabunPSK" panose="020B0500040200020003" pitchFamily="34" charset="-34"/>
                <a:ea typeface="Calibri" panose="020F0502020204030204" pitchFamily="34" charset="0"/>
              </a:rPr>
              <a:t> </a:t>
            </a:r>
            <a:r>
              <a:rPr lang="en-US" sz="8000" b="1" dirty="0">
                <a:effectLst/>
                <a:latin typeface="TH SarabunPSK" panose="020B0500040200020003" pitchFamily="34" charset="-34"/>
                <a:ea typeface="Calibri" panose="020F0502020204030204" pitchFamily="34" charset="0"/>
              </a:rPr>
              <a:t>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1815882"/>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examine how iterative design cycles—comprising prototyping, testing, feedback integration, and refinement—enhance the effectiveness, usability, and adaptability of digital innovation solutions across diverse user contexts.</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479380" y="369416"/>
            <a:ext cx="4783736" cy="5693866"/>
          </a:xfrm>
          <a:prstGeom prst="rect">
            <a:avLst/>
          </a:prstGeom>
          <a:noFill/>
        </p:spPr>
        <p:txBody>
          <a:bodyPr wrap="square">
            <a:spAutoFit/>
          </a:bodyPr>
          <a:lstStyle/>
          <a:p>
            <a:r>
              <a:rPr lang="en-US" b="1" dirty="0"/>
              <a:t>1. User-Centered Iteration</a:t>
            </a:r>
          </a:p>
          <a:p>
            <a:r>
              <a:rPr lang="en-US" dirty="0"/>
              <a:t>Iterative design emphasizes </a:t>
            </a:r>
            <a:r>
              <a:rPr lang="en-US" dirty="0">
                <a:solidFill>
                  <a:srgbClr val="FF0000"/>
                </a:solidFill>
              </a:rPr>
              <a:t>continual improvements based on real user needs</a:t>
            </a:r>
            <a:r>
              <a:rPr lang="en-US" dirty="0"/>
              <a:t>. Each cycle gathers insights from </a:t>
            </a:r>
            <a:r>
              <a:rPr lang="en-US" dirty="0">
                <a:solidFill>
                  <a:srgbClr val="FF0000"/>
                </a:solidFill>
              </a:rPr>
              <a:t>actual user behavior</a:t>
            </a:r>
            <a:r>
              <a:rPr lang="en-US" dirty="0"/>
              <a:t>, correcting design assumptions and aligning </a:t>
            </a:r>
            <a:r>
              <a:rPr lang="en-US" dirty="0">
                <a:solidFill>
                  <a:srgbClr val="FF0000"/>
                </a:solidFill>
              </a:rPr>
              <a:t>solutions with user expectations</a:t>
            </a:r>
            <a:r>
              <a:rPr lang="en-US" dirty="0"/>
              <a:t>. This ensures that the final product is relevant, usable, and context-appropriate, improving overall adoption and satisfaction.</a:t>
            </a:r>
          </a:p>
        </p:txBody>
      </p:sp>
      <p:pic>
        <p:nvPicPr>
          <p:cNvPr id="2" name="Picture 1">
            <a:extLst>
              <a:ext uri="{FF2B5EF4-FFF2-40B4-BE49-F238E27FC236}">
                <a16:creationId xmlns:a16="http://schemas.microsoft.com/office/drawing/2014/main" id="{92411FFB-572D-4471-A7F2-02E10061288F}"/>
              </a:ext>
            </a:extLst>
          </p:cNvPr>
          <p:cNvPicPr>
            <a:picLocks noChangeAspect="1"/>
          </p:cNvPicPr>
          <p:nvPr/>
        </p:nvPicPr>
        <p:blipFill>
          <a:blip r:embed="rId2"/>
          <a:stretch>
            <a:fillRect/>
          </a:stretch>
        </p:blipFill>
        <p:spPr>
          <a:xfrm>
            <a:off x="6326031" y="489085"/>
            <a:ext cx="4877481" cy="4944165"/>
          </a:xfrm>
          <a:prstGeom prst="rect">
            <a:avLst/>
          </a:prstGeom>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661499-FB50-4880-A961-4F306D180BBE}"/>
              </a:ext>
            </a:extLst>
          </p:cNvPr>
          <p:cNvPicPr>
            <a:picLocks noChangeAspect="1"/>
          </p:cNvPicPr>
          <p:nvPr/>
        </p:nvPicPr>
        <p:blipFill rotWithShape="1">
          <a:blip r:embed="rId2"/>
          <a:srcRect t="54839"/>
          <a:stretch/>
        </p:blipFill>
        <p:spPr>
          <a:xfrm>
            <a:off x="903426" y="1573619"/>
            <a:ext cx="4877481" cy="2232850"/>
          </a:xfrm>
          <a:prstGeom prst="rect">
            <a:avLst/>
          </a:prstGeom>
        </p:spPr>
      </p:pic>
      <p:pic>
        <p:nvPicPr>
          <p:cNvPr id="3" name="Picture 2">
            <a:extLst>
              <a:ext uri="{FF2B5EF4-FFF2-40B4-BE49-F238E27FC236}">
                <a16:creationId xmlns:a16="http://schemas.microsoft.com/office/drawing/2014/main" id="{23A3F4F5-7EAE-414E-840D-F6A54FEAB5CB}"/>
              </a:ext>
            </a:extLst>
          </p:cNvPr>
          <p:cNvPicPr>
            <a:picLocks noChangeAspect="1"/>
          </p:cNvPicPr>
          <p:nvPr/>
        </p:nvPicPr>
        <p:blipFill>
          <a:blip r:embed="rId3"/>
          <a:stretch>
            <a:fillRect/>
          </a:stretch>
        </p:blipFill>
        <p:spPr>
          <a:xfrm>
            <a:off x="6718705" y="1373679"/>
            <a:ext cx="2667372" cy="3515216"/>
          </a:xfrm>
          <a:prstGeom prst="rect">
            <a:avLst/>
          </a:prstGeom>
        </p:spPr>
      </p:pic>
    </p:spTree>
    <p:extLst>
      <p:ext uri="{BB962C8B-B14F-4D97-AF65-F5344CB8AC3E}">
        <p14:creationId xmlns:p14="http://schemas.microsoft.com/office/powerpoint/2010/main" val="34534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86745" y="414009"/>
            <a:ext cx="5609255" cy="4324261"/>
          </a:xfrm>
          <a:prstGeom prst="rect">
            <a:avLst/>
          </a:prstGeom>
          <a:noFill/>
        </p:spPr>
        <p:txBody>
          <a:bodyPr wrap="square">
            <a:spAutoFit/>
          </a:bodyPr>
          <a:lstStyle/>
          <a:p>
            <a:r>
              <a:rPr lang="en-US" sz="2500" b="1" dirty="0"/>
              <a:t>2. Rapid Prototyping</a:t>
            </a:r>
          </a:p>
          <a:p>
            <a:r>
              <a:rPr lang="en-US" sz="2500" dirty="0"/>
              <a:t>Rapid prototyping allows designers to </a:t>
            </a:r>
            <a:r>
              <a:rPr lang="en-US" sz="2500" dirty="0">
                <a:solidFill>
                  <a:srgbClr val="FF0000"/>
                </a:solidFill>
              </a:rPr>
              <a:t>quickly visualize concepts</a:t>
            </a:r>
            <a:r>
              <a:rPr lang="en-US" sz="2500" dirty="0"/>
              <a:t>, </a:t>
            </a:r>
            <a:r>
              <a:rPr lang="en-US" sz="2500" u="sng" dirty="0"/>
              <a:t>test ideas, and identify early flaws</a:t>
            </a:r>
            <a:r>
              <a:rPr lang="en-US" sz="2500" dirty="0"/>
              <a:t> before full development. </a:t>
            </a:r>
          </a:p>
          <a:p>
            <a:r>
              <a:rPr lang="en-US" sz="2500" dirty="0"/>
              <a:t>Low-fidelity and high-fidelity prototypes support different exploration needs, enabling teams to compare alternative solutions efficiently and ensure that design choices are grounded in evidence rather than assumptions.</a:t>
            </a:r>
          </a:p>
        </p:txBody>
      </p:sp>
      <p:pic>
        <p:nvPicPr>
          <p:cNvPr id="2" name="Picture 1">
            <a:extLst>
              <a:ext uri="{FF2B5EF4-FFF2-40B4-BE49-F238E27FC236}">
                <a16:creationId xmlns:a16="http://schemas.microsoft.com/office/drawing/2014/main" id="{24CA8C42-452F-41D4-8758-8D8E2751E519}"/>
              </a:ext>
            </a:extLst>
          </p:cNvPr>
          <p:cNvPicPr>
            <a:picLocks noChangeAspect="1"/>
          </p:cNvPicPr>
          <p:nvPr/>
        </p:nvPicPr>
        <p:blipFill>
          <a:blip r:embed="rId2"/>
          <a:stretch>
            <a:fillRect/>
          </a:stretch>
        </p:blipFill>
        <p:spPr>
          <a:xfrm>
            <a:off x="7415809" y="599680"/>
            <a:ext cx="4143953" cy="2829320"/>
          </a:xfrm>
          <a:prstGeom prst="rect">
            <a:avLst/>
          </a:prstGeom>
        </p:spPr>
      </p:pic>
    </p:spTree>
    <p:extLst>
      <p:ext uri="{BB962C8B-B14F-4D97-AF65-F5344CB8AC3E}">
        <p14:creationId xmlns:p14="http://schemas.microsoft.com/office/powerpoint/2010/main" val="54594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6E2ED2-C441-4C6E-95D9-080876553819}"/>
              </a:ext>
            </a:extLst>
          </p:cNvPr>
          <p:cNvPicPr>
            <a:picLocks noChangeAspect="1"/>
          </p:cNvPicPr>
          <p:nvPr/>
        </p:nvPicPr>
        <p:blipFill>
          <a:blip r:embed="rId2"/>
          <a:stretch>
            <a:fillRect/>
          </a:stretch>
        </p:blipFill>
        <p:spPr>
          <a:xfrm>
            <a:off x="3768842" y="2014340"/>
            <a:ext cx="4143953" cy="2829320"/>
          </a:xfrm>
          <a:prstGeom prst="rect">
            <a:avLst/>
          </a:prstGeom>
        </p:spPr>
      </p:pic>
      <p:graphicFrame>
        <p:nvGraphicFramePr>
          <p:cNvPr id="3" name="Table 2">
            <a:extLst>
              <a:ext uri="{FF2B5EF4-FFF2-40B4-BE49-F238E27FC236}">
                <a16:creationId xmlns:a16="http://schemas.microsoft.com/office/drawing/2014/main" id="{EE1D0823-2555-4166-A582-F604FBB3EAF6}"/>
              </a:ext>
            </a:extLst>
          </p:cNvPr>
          <p:cNvGraphicFramePr>
            <a:graphicFrameLocks noGrp="1"/>
          </p:cNvGraphicFramePr>
          <p:nvPr>
            <p:extLst>
              <p:ext uri="{D42A27DB-BD31-4B8C-83A1-F6EECF244321}">
                <p14:modId xmlns:p14="http://schemas.microsoft.com/office/powerpoint/2010/main" val="2676687098"/>
              </p:ext>
            </p:extLst>
          </p:nvPr>
        </p:nvGraphicFramePr>
        <p:xfrm>
          <a:off x="838200" y="3742214"/>
          <a:ext cx="2930642" cy="518160"/>
        </p:xfrm>
        <a:graphic>
          <a:graphicData uri="http://schemas.openxmlformats.org/drawingml/2006/table">
            <a:tbl>
              <a:tblPr/>
              <a:tblGrid>
                <a:gridCol w="2930642">
                  <a:extLst>
                    <a:ext uri="{9D8B030D-6E8A-4147-A177-3AD203B41FA5}">
                      <a16:colId xmlns:a16="http://schemas.microsoft.com/office/drawing/2014/main" val="1666216024"/>
                    </a:ext>
                  </a:extLst>
                </a:gridCol>
              </a:tblGrid>
              <a:tr h="0">
                <a:tc>
                  <a:txBody>
                    <a:bodyPr/>
                    <a:lstStyle/>
                    <a:p>
                      <a:endParaRPr lang="th-TH" dirty="0"/>
                    </a:p>
                  </a:txBody>
                  <a:tcPr anchor="ctr">
                    <a:lnL>
                      <a:noFill/>
                    </a:lnL>
                    <a:lnR>
                      <a:noFill/>
                    </a:lnR>
                    <a:lnT>
                      <a:noFill/>
                    </a:lnT>
                    <a:lnB>
                      <a:noFill/>
                    </a:lnB>
                  </a:tcPr>
                </a:tc>
                <a:extLst>
                  <a:ext uri="{0D108BD9-81ED-4DB2-BD59-A6C34878D82A}">
                    <a16:rowId xmlns:a16="http://schemas.microsoft.com/office/drawing/2014/main" val="3950884407"/>
                  </a:ext>
                </a:extLst>
              </a:tr>
            </a:tbl>
          </a:graphicData>
        </a:graphic>
      </p:graphicFrame>
      <p:graphicFrame>
        <p:nvGraphicFramePr>
          <p:cNvPr id="4" name="Table 3">
            <a:extLst>
              <a:ext uri="{FF2B5EF4-FFF2-40B4-BE49-F238E27FC236}">
                <a16:creationId xmlns:a16="http://schemas.microsoft.com/office/drawing/2014/main" id="{47CBAA3B-860B-46AC-9A9D-57CA93EC381B}"/>
              </a:ext>
            </a:extLst>
          </p:cNvPr>
          <p:cNvGraphicFramePr>
            <a:graphicFrameLocks noGrp="1"/>
          </p:cNvGraphicFramePr>
          <p:nvPr>
            <p:extLst>
              <p:ext uri="{D42A27DB-BD31-4B8C-83A1-F6EECF244321}">
                <p14:modId xmlns:p14="http://schemas.microsoft.com/office/powerpoint/2010/main" val="1706513299"/>
              </p:ext>
            </p:extLst>
          </p:nvPr>
        </p:nvGraphicFramePr>
        <p:xfrm>
          <a:off x="1043840" y="3158928"/>
          <a:ext cx="2519363" cy="1005840"/>
        </p:xfrm>
        <a:graphic>
          <a:graphicData uri="http://schemas.openxmlformats.org/drawingml/2006/table">
            <a:tbl>
              <a:tblPr/>
              <a:tblGrid>
                <a:gridCol w="2519363">
                  <a:extLst>
                    <a:ext uri="{9D8B030D-6E8A-4147-A177-3AD203B41FA5}">
                      <a16:colId xmlns:a16="http://schemas.microsoft.com/office/drawing/2014/main" val="3881504495"/>
                    </a:ext>
                  </a:extLst>
                </a:gridCol>
              </a:tblGrid>
              <a:tr h="0">
                <a:tc>
                  <a:txBody>
                    <a:bodyPr/>
                    <a:lstStyle/>
                    <a:p>
                      <a:r>
                        <a:rPr lang="en-US" sz="1500" dirty="0"/>
                        <a:t>Create an app helping students organize assignments and study schedules.</a:t>
                      </a:r>
                    </a:p>
                  </a:txBody>
                  <a:tcPr anchor="ctr">
                    <a:lnL>
                      <a:noFill/>
                    </a:lnL>
                    <a:lnR>
                      <a:noFill/>
                    </a:lnR>
                    <a:lnT>
                      <a:noFill/>
                    </a:lnT>
                    <a:lnB>
                      <a:noFill/>
                    </a:lnB>
                  </a:tcPr>
                </a:tc>
                <a:extLst>
                  <a:ext uri="{0D108BD9-81ED-4DB2-BD59-A6C34878D82A}">
                    <a16:rowId xmlns:a16="http://schemas.microsoft.com/office/drawing/2014/main" val="392547975"/>
                  </a:ext>
                </a:extLst>
              </a:tr>
            </a:tbl>
          </a:graphicData>
        </a:graphic>
      </p:graphicFrame>
      <p:sp>
        <p:nvSpPr>
          <p:cNvPr id="6" name="TextBox 5">
            <a:extLst>
              <a:ext uri="{FF2B5EF4-FFF2-40B4-BE49-F238E27FC236}">
                <a16:creationId xmlns:a16="http://schemas.microsoft.com/office/drawing/2014/main" id="{BA91C83C-0DB5-43AC-B9B8-226DE023DF55}"/>
              </a:ext>
            </a:extLst>
          </p:cNvPr>
          <p:cNvSpPr txBox="1"/>
          <p:nvPr/>
        </p:nvSpPr>
        <p:spPr>
          <a:xfrm>
            <a:off x="2027553" y="2012584"/>
            <a:ext cx="3482578" cy="553998"/>
          </a:xfrm>
          <a:prstGeom prst="rect">
            <a:avLst/>
          </a:prstGeom>
          <a:noFill/>
        </p:spPr>
        <p:txBody>
          <a:bodyPr wrap="square">
            <a:spAutoFit/>
          </a:bodyPr>
          <a:lstStyle/>
          <a:p>
            <a:r>
              <a:rPr lang="en-US" sz="1500" dirty="0"/>
              <a:t>Develop a simple prototype showing calendar, reminders, and task functions.</a:t>
            </a:r>
            <a:endParaRPr lang="th-TH" sz="1500" dirty="0"/>
          </a:p>
        </p:txBody>
      </p:sp>
      <p:sp>
        <p:nvSpPr>
          <p:cNvPr id="8" name="TextBox 7">
            <a:extLst>
              <a:ext uri="{FF2B5EF4-FFF2-40B4-BE49-F238E27FC236}">
                <a16:creationId xmlns:a16="http://schemas.microsoft.com/office/drawing/2014/main" id="{EA1AE550-26AD-4A57-B2F3-5FC6EB4A4353}"/>
              </a:ext>
            </a:extLst>
          </p:cNvPr>
          <p:cNvSpPr txBox="1"/>
          <p:nvPr/>
        </p:nvSpPr>
        <p:spPr>
          <a:xfrm>
            <a:off x="6681871" y="1975333"/>
            <a:ext cx="4352329" cy="553998"/>
          </a:xfrm>
          <a:prstGeom prst="rect">
            <a:avLst/>
          </a:prstGeom>
          <a:noFill/>
        </p:spPr>
        <p:txBody>
          <a:bodyPr wrap="square">
            <a:spAutoFit/>
          </a:bodyPr>
          <a:lstStyle/>
          <a:p>
            <a:r>
              <a:rPr lang="en-US" sz="1500" dirty="0"/>
              <a:t>Students test the prototype and provide feedback about usability problems.</a:t>
            </a:r>
            <a:endParaRPr lang="th-TH" sz="1500" dirty="0"/>
          </a:p>
        </p:txBody>
      </p:sp>
      <p:sp>
        <p:nvSpPr>
          <p:cNvPr id="10" name="TextBox 9">
            <a:extLst>
              <a:ext uri="{FF2B5EF4-FFF2-40B4-BE49-F238E27FC236}">
                <a16:creationId xmlns:a16="http://schemas.microsoft.com/office/drawing/2014/main" id="{CB173CDF-BE91-44DD-B8AA-5EF843AABBC6}"/>
              </a:ext>
            </a:extLst>
          </p:cNvPr>
          <p:cNvSpPr txBox="1"/>
          <p:nvPr/>
        </p:nvSpPr>
        <p:spPr>
          <a:xfrm>
            <a:off x="3175398" y="4843660"/>
            <a:ext cx="6093618" cy="553998"/>
          </a:xfrm>
          <a:prstGeom prst="rect">
            <a:avLst/>
          </a:prstGeom>
          <a:noFill/>
        </p:spPr>
        <p:txBody>
          <a:bodyPr wrap="square">
            <a:spAutoFit/>
          </a:bodyPr>
          <a:lstStyle/>
          <a:p>
            <a:r>
              <a:rPr lang="en-US" sz="1500" dirty="0"/>
              <a:t>Improve features based on feedback, then repeatedly test updated prototypes.</a:t>
            </a:r>
            <a:endParaRPr lang="th-TH" sz="1500" dirty="0"/>
          </a:p>
        </p:txBody>
      </p:sp>
      <p:sp>
        <p:nvSpPr>
          <p:cNvPr id="12" name="TextBox 11">
            <a:extLst>
              <a:ext uri="{FF2B5EF4-FFF2-40B4-BE49-F238E27FC236}">
                <a16:creationId xmlns:a16="http://schemas.microsoft.com/office/drawing/2014/main" id="{DB700FC4-6D7B-4D6A-BB04-5F2F94A6028E}"/>
              </a:ext>
            </a:extLst>
          </p:cNvPr>
          <p:cNvSpPr txBox="1"/>
          <p:nvPr/>
        </p:nvSpPr>
        <p:spPr>
          <a:xfrm>
            <a:off x="8295531" y="3129242"/>
            <a:ext cx="2717106" cy="784830"/>
          </a:xfrm>
          <a:prstGeom prst="rect">
            <a:avLst/>
          </a:prstGeom>
          <a:noFill/>
        </p:spPr>
        <p:txBody>
          <a:bodyPr wrap="square">
            <a:spAutoFit/>
          </a:bodyPr>
          <a:lstStyle/>
          <a:p>
            <a:r>
              <a:rPr lang="en-US" sz="1500" dirty="0"/>
              <a:t>Launch the completed application for students to use in practice.</a:t>
            </a:r>
            <a:endParaRPr lang="th-TH" sz="1500" dirty="0"/>
          </a:p>
        </p:txBody>
      </p:sp>
    </p:spTree>
    <p:extLst>
      <p:ext uri="{BB962C8B-B14F-4D97-AF65-F5344CB8AC3E}">
        <p14:creationId xmlns:p14="http://schemas.microsoft.com/office/powerpoint/2010/main" val="2615598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69424" y="523856"/>
            <a:ext cx="4959506" cy="6124754"/>
          </a:xfrm>
          <a:prstGeom prst="rect">
            <a:avLst/>
          </a:prstGeom>
          <a:noFill/>
        </p:spPr>
        <p:txBody>
          <a:bodyPr wrap="square">
            <a:spAutoFit/>
          </a:bodyPr>
          <a:lstStyle/>
          <a:p>
            <a:r>
              <a:rPr lang="en-US" b="1" dirty="0"/>
              <a:t>3. Continuous Feedback Integration</a:t>
            </a:r>
          </a:p>
          <a:p>
            <a:r>
              <a:rPr lang="en-US" dirty="0"/>
              <a:t>Feedback collected from users, </a:t>
            </a:r>
            <a:r>
              <a:rPr lang="en-US" dirty="0">
                <a:solidFill>
                  <a:srgbClr val="FF0000"/>
                </a:solidFill>
              </a:rPr>
              <a:t>stakeholders</a:t>
            </a:r>
            <a:r>
              <a:rPr lang="en-US" dirty="0"/>
              <a:t>, and testing sessions drives every iteration. This feedback identifies usability issues, unmet needs, and new opportunities. By integrating feedback continuously, designers ensure that solutions evolve responsively, reducing project risks and fostering a product that is both functional and user-friendly.</a:t>
            </a:r>
          </a:p>
        </p:txBody>
      </p:sp>
      <p:pic>
        <p:nvPicPr>
          <p:cNvPr id="2" name="Picture 1">
            <a:extLst>
              <a:ext uri="{FF2B5EF4-FFF2-40B4-BE49-F238E27FC236}">
                <a16:creationId xmlns:a16="http://schemas.microsoft.com/office/drawing/2014/main" id="{02503180-870C-4269-AFC3-2540FD80911F}"/>
              </a:ext>
            </a:extLst>
          </p:cNvPr>
          <p:cNvPicPr>
            <a:picLocks noChangeAspect="1"/>
          </p:cNvPicPr>
          <p:nvPr/>
        </p:nvPicPr>
        <p:blipFill>
          <a:blip r:embed="rId2"/>
          <a:stretch>
            <a:fillRect/>
          </a:stretch>
        </p:blipFill>
        <p:spPr>
          <a:xfrm>
            <a:off x="5528930" y="523856"/>
            <a:ext cx="6373296" cy="3141534"/>
          </a:xfrm>
          <a:prstGeom prst="rect">
            <a:avLst/>
          </a:prstGeom>
        </p:spPr>
      </p:pic>
    </p:spTree>
    <p:extLst>
      <p:ext uri="{BB962C8B-B14F-4D97-AF65-F5344CB8AC3E}">
        <p14:creationId xmlns:p14="http://schemas.microsoft.com/office/powerpoint/2010/main" val="2342095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A7595B-66C6-4B77-ACD6-85A62E98798A}"/>
              </a:ext>
            </a:extLst>
          </p:cNvPr>
          <p:cNvPicPr>
            <a:picLocks noChangeAspect="1"/>
          </p:cNvPicPr>
          <p:nvPr/>
        </p:nvPicPr>
        <p:blipFill>
          <a:blip r:embed="rId2"/>
          <a:stretch>
            <a:fillRect/>
          </a:stretch>
        </p:blipFill>
        <p:spPr>
          <a:xfrm>
            <a:off x="2542843" y="1724006"/>
            <a:ext cx="6373296" cy="3141534"/>
          </a:xfrm>
          <a:prstGeom prst="rect">
            <a:avLst/>
          </a:prstGeom>
        </p:spPr>
      </p:pic>
      <p:sp>
        <p:nvSpPr>
          <p:cNvPr id="4" name="TextBox 3">
            <a:extLst>
              <a:ext uri="{FF2B5EF4-FFF2-40B4-BE49-F238E27FC236}">
                <a16:creationId xmlns:a16="http://schemas.microsoft.com/office/drawing/2014/main" id="{1A650E4F-E6E5-4BBF-8C15-342CF1BF47EA}"/>
              </a:ext>
            </a:extLst>
          </p:cNvPr>
          <p:cNvSpPr txBox="1"/>
          <p:nvPr/>
        </p:nvSpPr>
        <p:spPr>
          <a:xfrm>
            <a:off x="702914" y="1967595"/>
            <a:ext cx="2553891" cy="553998"/>
          </a:xfrm>
          <a:prstGeom prst="rect">
            <a:avLst/>
          </a:prstGeom>
          <a:noFill/>
        </p:spPr>
        <p:txBody>
          <a:bodyPr wrap="square">
            <a:spAutoFit/>
          </a:bodyPr>
          <a:lstStyle/>
          <a:p>
            <a:r>
              <a:rPr lang="en-US" sz="1500" dirty="0"/>
              <a:t>Identify student needs and requirements.</a:t>
            </a:r>
            <a:endParaRPr lang="th-TH" sz="1500" dirty="0"/>
          </a:p>
        </p:txBody>
      </p:sp>
      <p:sp>
        <p:nvSpPr>
          <p:cNvPr id="6" name="TextBox 5">
            <a:extLst>
              <a:ext uri="{FF2B5EF4-FFF2-40B4-BE49-F238E27FC236}">
                <a16:creationId xmlns:a16="http://schemas.microsoft.com/office/drawing/2014/main" id="{74487E3F-9F36-44DA-87CB-AF304A11D9F0}"/>
              </a:ext>
            </a:extLst>
          </p:cNvPr>
          <p:cNvSpPr txBox="1"/>
          <p:nvPr/>
        </p:nvSpPr>
        <p:spPr>
          <a:xfrm>
            <a:off x="860076" y="4059409"/>
            <a:ext cx="2239565" cy="553998"/>
          </a:xfrm>
          <a:prstGeom prst="rect">
            <a:avLst/>
          </a:prstGeom>
          <a:noFill/>
        </p:spPr>
        <p:txBody>
          <a:bodyPr wrap="square">
            <a:spAutoFit/>
          </a:bodyPr>
          <a:lstStyle/>
          <a:p>
            <a:r>
              <a:rPr lang="en-GB" sz="1500" dirty="0"/>
              <a:t>Develop essential student application features.</a:t>
            </a:r>
            <a:endParaRPr lang="th-TH" sz="1500" dirty="0"/>
          </a:p>
        </p:txBody>
      </p:sp>
      <p:sp>
        <p:nvSpPr>
          <p:cNvPr id="8" name="TextBox 7">
            <a:extLst>
              <a:ext uri="{FF2B5EF4-FFF2-40B4-BE49-F238E27FC236}">
                <a16:creationId xmlns:a16="http://schemas.microsoft.com/office/drawing/2014/main" id="{40B6F816-127A-4D55-BB91-8AC1E9F96702}"/>
              </a:ext>
            </a:extLst>
          </p:cNvPr>
          <p:cNvSpPr txBox="1"/>
          <p:nvPr/>
        </p:nvSpPr>
        <p:spPr>
          <a:xfrm>
            <a:off x="4084107" y="4611231"/>
            <a:ext cx="1768078" cy="553998"/>
          </a:xfrm>
          <a:prstGeom prst="rect">
            <a:avLst/>
          </a:prstGeom>
          <a:noFill/>
        </p:spPr>
        <p:txBody>
          <a:bodyPr wrap="square">
            <a:spAutoFit/>
          </a:bodyPr>
          <a:lstStyle/>
          <a:p>
            <a:r>
              <a:rPr lang="en-US" sz="1500" dirty="0"/>
              <a:t>Combine and test code continuously.</a:t>
            </a:r>
            <a:endParaRPr lang="th-TH" sz="1500" dirty="0"/>
          </a:p>
        </p:txBody>
      </p:sp>
      <p:sp>
        <p:nvSpPr>
          <p:cNvPr id="10" name="TextBox 9">
            <a:extLst>
              <a:ext uri="{FF2B5EF4-FFF2-40B4-BE49-F238E27FC236}">
                <a16:creationId xmlns:a16="http://schemas.microsoft.com/office/drawing/2014/main" id="{AA734D43-E610-41C9-8C4A-AB034BEF1D61}"/>
              </a:ext>
            </a:extLst>
          </p:cNvPr>
          <p:cNvSpPr txBox="1"/>
          <p:nvPr/>
        </p:nvSpPr>
        <p:spPr>
          <a:xfrm>
            <a:off x="5232798" y="1185397"/>
            <a:ext cx="2068115" cy="553998"/>
          </a:xfrm>
          <a:prstGeom prst="rect">
            <a:avLst/>
          </a:prstGeom>
          <a:noFill/>
        </p:spPr>
        <p:txBody>
          <a:bodyPr wrap="square">
            <a:spAutoFit/>
          </a:bodyPr>
          <a:lstStyle/>
          <a:p>
            <a:r>
              <a:rPr lang="en-US" sz="1500" dirty="0"/>
              <a:t>Connect all application modules together.</a:t>
            </a:r>
            <a:endParaRPr lang="th-TH" sz="1500" dirty="0"/>
          </a:p>
        </p:txBody>
      </p:sp>
      <p:sp>
        <p:nvSpPr>
          <p:cNvPr id="12" name="TextBox 11">
            <a:extLst>
              <a:ext uri="{FF2B5EF4-FFF2-40B4-BE49-F238E27FC236}">
                <a16:creationId xmlns:a16="http://schemas.microsoft.com/office/drawing/2014/main" id="{DEEF9840-74CA-4796-A772-52DBDC05631E}"/>
              </a:ext>
            </a:extLst>
          </p:cNvPr>
          <p:cNvSpPr txBox="1"/>
          <p:nvPr/>
        </p:nvSpPr>
        <p:spPr>
          <a:xfrm>
            <a:off x="8542246" y="1748901"/>
            <a:ext cx="2213822" cy="553998"/>
          </a:xfrm>
          <a:prstGeom prst="rect">
            <a:avLst/>
          </a:prstGeom>
          <a:noFill/>
        </p:spPr>
        <p:txBody>
          <a:bodyPr wrap="square">
            <a:spAutoFit/>
          </a:bodyPr>
          <a:lstStyle/>
          <a:p>
            <a:r>
              <a:rPr lang="en-US" sz="1500" dirty="0"/>
              <a:t>Release application for student use.</a:t>
            </a:r>
            <a:endParaRPr lang="th-TH" sz="1500" dirty="0"/>
          </a:p>
        </p:txBody>
      </p:sp>
      <p:sp>
        <p:nvSpPr>
          <p:cNvPr id="14" name="TextBox 13">
            <a:extLst>
              <a:ext uri="{FF2B5EF4-FFF2-40B4-BE49-F238E27FC236}">
                <a16:creationId xmlns:a16="http://schemas.microsoft.com/office/drawing/2014/main" id="{EDA65BBC-8FE2-4E70-91F7-1FD9F2FC8BFB}"/>
              </a:ext>
            </a:extLst>
          </p:cNvPr>
          <p:cNvSpPr txBox="1"/>
          <p:nvPr/>
        </p:nvSpPr>
        <p:spPr>
          <a:xfrm>
            <a:off x="7972832" y="4757818"/>
            <a:ext cx="3139678" cy="553998"/>
          </a:xfrm>
          <a:prstGeom prst="rect">
            <a:avLst/>
          </a:prstGeom>
          <a:noFill/>
        </p:spPr>
        <p:txBody>
          <a:bodyPr wrap="square">
            <a:spAutoFit/>
          </a:bodyPr>
          <a:lstStyle/>
          <a:p>
            <a:r>
              <a:rPr lang="en-GB" sz="1500" dirty="0"/>
              <a:t>Monitor and maintain application performance.</a:t>
            </a:r>
            <a:endParaRPr lang="th-TH" sz="1500" dirty="0"/>
          </a:p>
        </p:txBody>
      </p:sp>
    </p:spTree>
    <p:extLst>
      <p:ext uri="{BB962C8B-B14F-4D97-AF65-F5344CB8AC3E}">
        <p14:creationId xmlns:p14="http://schemas.microsoft.com/office/powerpoint/2010/main" val="3123211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4688708" cy="5693866"/>
          </a:xfrm>
          <a:prstGeom prst="rect">
            <a:avLst/>
          </a:prstGeom>
          <a:noFill/>
        </p:spPr>
        <p:txBody>
          <a:bodyPr wrap="square">
            <a:spAutoFit/>
          </a:bodyPr>
          <a:lstStyle/>
          <a:p>
            <a:r>
              <a:rPr lang="en-US" b="1" dirty="0"/>
              <a:t>4. Usability Testing Cycles</a:t>
            </a:r>
          </a:p>
          <a:p>
            <a:r>
              <a:rPr lang="en-US" dirty="0"/>
              <a:t>Usability testing is repeated at key stages to evaluate </a:t>
            </a:r>
            <a:r>
              <a:rPr lang="en-US" dirty="0">
                <a:solidFill>
                  <a:srgbClr val="FF0000"/>
                </a:solidFill>
              </a:rPr>
              <a:t>how users interact with evolving prototypes</a:t>
            </a:r>
            <a:r>
              <a:rPr lang="en-US" dirty="0"/>
              <a:t>. Insights from these cycles reveal navigation issues, cognitive load challenges, and unclear interfaces. Testing ensures the solution becomes more intuitive over time, improving efficiency and reducing user frustration.</a:t>
            </a:r>
          </a:p>
        </p:txBody>
      </p:sp>
      <p:pic>
        <p:nvPicPr>
          <p:cNvPr id="2" name="Picture 1">
            <a:extLst>
              <a:ext uri="{FF2B5EF4-FFF2-40B4-BE49-F238E27FC236}">
                <a16:creationId xmlns:a16="http://schemas.microsoft.com/office/drawing/2014/main" id="{613E1E16-0BE2-40D4-9977-340AFE93EDF9}"/>
              </a:ext>
            </a:extLst>
          </p:cNvPr>
          <p:cNvPicPr>
            <a:picLocks noChangeAspect="1"/>
          </p:cNvPicPr>
          <p:nvPr/>
        </p:nvPicPr>
        <p:blipFill rotWithShape="1">
          <a:blip r:embed="rId2"/>
          <a:srcRect t="6819"/>
          <a:stretch/>
        </p:blipFill>
        <p:spPr>
          <a:xfrm>
            <a:off x="5762536" y="492750"/>
            <a:ext cx="5410560" cy="4387593"/>
          </a:xfrm>
          <a:prstGeom prst="rect">
            <a:avLst/>
          </a:prstGeom>
        </p:spPr>
      </p:pic>
    </p:spTree>
    <p:extLst>
      <p:ext uri="{BB962C8B-B14F-4D97-AF65-F5344CB8AC3E}">
        <p14:creationId xmlns:p14="http://schemas.microsoft.com/office/powerpoint/2010/main" val="1079645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03E27E-6A97-4FC2-AB55-FF055645845B}"/>
              </a:ext>
            </a:extLst>
          </p:cNvPr>
          <p:cNvPicPr>
            <a:picLocks noChangeAspect="1"/>
          </p:cNvPicPr>
          <p:nvPr/>
        </p:nvPicPr>
        <p:blipFill rotWithShape="1">
          <a:blip r:embed="rId2"/>
          <a:srcRect t="6819"/>
          <a:stretch/>
        </p:blipFill>
        <p:spPr>
          <a:xfrm>
            <a:off x="3046810" y="1235203"/>
            <a:ext cx="5410560" cy="4387593"/>
          </a:xfrm>
          <a:prstGeom prst="rect">
            <a:avLst/>
          </a:prstGeom>
        </p:spPr>
      </p:pic>
      <p:sp>
        <p:nvSpPr>
          <p:cNvPr id="4" name="TextBox 3">
            <a:extLst>
              <a:ext uri="{FF2B5EF4-FFF2-40B4-BE49-F238E27FC236}">
                <a16:creationId xmlns:a16="http://schemas.microsoft.com/office/drawing/2014/main" id="{2EC92510-F6A7-4532-B228-65C5D73274AC}"/>
              </a:ext>
            </a:extLst>
          </p:cNvPr>
          <p:cNvSpPr txBox="1"/>
          <p:nvPr/>
        </p:nvSpPr>
        <p:spPr>
          <a:xfrm>
            <a:off x="4504135" y="681205"/>
            <a:ext cx="2196703" cy="553998"/>
          </a:xfrm>
          <a:prstGeom prst="rect">
            <a:avLst/>
          </a:prstGeom>
          <a:noFill/>
        </p:spPr>
        <p:txBody>
          <a:bodyPr wrap="square">
            <a:spAutoFit/>
          </a:bodyPr>
          <a:lstStyle/>
          <a:p>
            <a:r>
              <a:rPr lang="en-US" sz="1500" dirty="0"/>
              <a:t>Students test application usability features.</a:t>
            </a:r>
            <a:endParaRPr lang="th-TH" sz="1500" dirty="0"/>
          </a:p>
        </p:txBody>
      </p:sp>
      <p:sp>
        <p:nvSpPr>
          <p:cNvPr id="6" name="TextBox 5">
            <a:extLst>
              <a:ext uri="{FF2B5EF4-FFF2-40B4-BE49-F238E27FC236}">
                <a16:creationId xmlns:a16="http://schemas.microsoft.com/office/drawing/2014/main" id="{FCBBA45F-D695-4534-895C-275D1A8A1D88}"/>
              </a:ext>
            </a:extLst>
          </p:cNvPr>
          <p:cNvSpPr txBox="1"/>
          <p:nvPr/>
        </p:nvSpPr>
        <p:spPr>
          <a:xfrm>
            <a:off x="7986712" y="2951947"/>
            <a:ext cx="1814513" cy="784830"/>
          </a:xfrm>
          <a:prstGeom prst="rect">
            <a:avLst/>
          </a:prstGeom>
          <a:noFill/>
        </p:spPr>
        <p:txBody>
          <a:bodyPr wrap="square">
            <a:spAutoFit/>
          </a:bodyPr>
          <a:lstStyle/>
          <a:p>
            <a:r>
              <a:rPr lang="en-US" sz="1500" dirty="0"/>
              <a:t>Analyze student feedback and performance.</a:t>
            </a:r>
            <a:endParaRPr lang="th-TH" sz="1500" dirty="0"/>
          </a:p>
        </p:txBody>
      </p:sp>
      <p:sp>
        <p:nvSpPr>
          <p:cNvPr id="8" name="TextBox 7">
            <a:extLst>
              <a:ext uri="{FF2B5EF4-FFF2-40B4-BE49-F238E27FC236}">
                <a16:creationId xmlns:a16="http://schemas.microsoft.com/office/drawing/2014/main" id="{A364ABBA-63EF-4E3F-8BF2-E7D084A00574}"/>
              </a:ext>
            </a:extLst>
          </p:cNvPr>
          <p:cNvSpPr txBox="1"/>
          <p:nvPr/>
        </p:nvSpPr>
        <p:spPr>
          <a:xfrm>
            <a:off x="917972" y="4639003"/>
            <a:ext cx="3196828" cy="553998"/>
          </a:xfrm>
          <a:prstGeom prst="rect">
            <a:avLst/>
          </a:prstGeom>
          <a:noFill/>
        </p:spPr>
        <p:txBody>
          <a:bodyPr wrap="square">
            <a:spAutoFit/>
          </a:bodyPr>
          <a:lstStyle/>
          <a:p>
            <a:r>
              <a:rPr lang="en-US" sz="1500" dirty="0"/>
              <a:t>Improve application based on feedback.</a:t>
            </a:r>
            <a:endParaRPr lang="th-TH" sz="1500" dirty="0"/>
          </a:p>
        </p:txBody>
      </p:sp>
    </p:spTree>
    <p:extLst>
      <p:ext uri="{BB962C8B-B14F-4D97-AF65-F5344CB8AC3E}">
        <p14:creationId xmlns:p14="http://schemas.microsoft.com/office/powerpoint/2010/main" val="2049079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548159" y="343103"/>
            <a:ext cx="4991404" cy="5693866"/>
          </a:xfrm>
          <a:prstGeom prst="rect">
            <a:avLst/>
          </a:prstGeom>
          <a:noFill/>
        </p:spPr>
        <p:txBody>
          <a:bodyPr wrap="square">
            <a:spAutoFit/>
          </a:bodyPr>
          <a:lstStyle/>
          <a:p>
            <a:r>
              <a:rPr lang="en-US" b="1" dirty="0"/>
              <a:t>5. Design Refinement</a:t>
            </a:r>
          </a:p>
          <a:p>
            <a:r>
              <a:rPr lang="en-US" dirty="0"/>
              <a:t>Each iteration sharpens the product by addressing identified weaknesses and enhancing strengths. Refinement may involve adjusting interface elements, simplifying workflows, or improving visual hierarchy. Through repeated adjustments, the final product becomes polished, consistent, and aligned with user expectations and design standards.</a:t>
            </a:r>
          </a:p>
        </p:txBody>
      </p:sp>
      <p:pic>
        <p:nvPicPr>
          <p:cNvPr id="5" name="Picture 4">
            <a:extLst>
              <a:ext uri="{FF2B5EF4-FFF2-40B4-BE49-F238E27FC236}">
                <a16:creationId xmlns:a16="http://schemas.microsoft.com/office/drawing/2014/main" id="{F03B869B-ED75-4808-A9C0-BE7E2FC25D31}"/>
              </a:ext>
            </a:extLst>
          </p:cNvPr>
          <p:cNvPicPr>
            <a:picLocks noChangeAspect="1"/>
          </p:cNvPicPr>
          <p:nvPr/>
        </p:nvPicPr>
        <p:blipFill>
          <a:blip r:embed="rId2"/>
          <a:stretch>
            <a:fillRect/>
          </a:stretch>
        </p:blipFill>
        <p:spPr>
          <a:xfrm>
            <a:off x="5619638" y="343103"/>
            <a:ext cx="6354062" cy="5772956"/>
          </a:xfrm>
          <a:prstGeom prst="rect">
            <a:avLst/>
          </a:prstGeom>
        </p:spPr>
      </p:pic>
    </p:spTree>
    <p:extLst>
      <p:ext uri="{BB962C8B-B14F-4D97-AF65-F5344CB8AC3E}">
        <p14:creationId xmlns:p14="http://schemas.microsoft.com/office/powerpoint/2010/main" val="290141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015B91-4D80-4AF5-ABAE-61D11264170D}"/>
              </a:ext>
            </a:extLst>
          </p:cNvPr>
          <p:cNvPicPr>
            <a:picLocks noChangeAspect="1"/>
          </p:cNvPicPr>
          <p:nvPr/>
        </p:nvPicPr>
        <p:blipFill>
          <a:blip r:embed="rId2"/>
          <a:stretch>
            <a:fillRect/>
          </a:stretch>
        </p:blipFill>
        <p:spPr>
          <a:xfrm>
            <a:off x="2747850" y="743153"/>
            <a:ext cx="6354062" cy="5772956"/>
          </a:xfrm>
          <a:prstGeom prst="rect">
            <a:avLst/>
          </a:prstGeom>
        </p:spPr>
      </p:pic>
      <p:graphicFrame>
        <p:nvGraphicFramePr>
          <p:cNvPr id="4" name="Table 3">
            <a:extLst>
              <a:ext uri="{FF2B5EF4-FFF2-40B4-BE49-F238E27FC236}">
                <a16:creationId xmlns:a16="http://schemas.microsoft.com/office/drawing/2014/main" id="{7AEE8175-9D34-483A-AE89-8A75B4037155}"/>
              </a:ext>
            </a:extLst>
          </p:cNvPr>
          <p:cNvGraphicFramePr>
            <a:graphicFrameLocks noGrp="1"/>
          </p:cNvGraphicFramePr>
          <p:nvPr>
            <p:extLst>
              <p:ext uri="{D42A27DB-BD31-4B8C-83A1-F6EECF244321}">
                <p14:modId xmlns:p14="http://schemas.microsoft.com/office/powerpoint/2010/main" val="1333384449"/>
              </p:ext>
            </p:extLst>
          </p:nvPr>
        </p:nvGraphicFramePr>
        <p:xfrm>
          <a:off x="238125" y="1212159"/>
          <a:ext cx="2376488" cy="548640"/>
        </p:xfrm>
        <a:graphic>
          <a:graphicData uri="http://schemas.openxmlformats.org/drawingml/2006/table">
            <a:tbl>
              <a:tblPr/>
              <a:tblGrid>
                <a:gridCol w="2376488">
                  <a:extLst>
                    <a:ext uri="{9D8B030D-6E8A-4147-A177-3AD203B41FA5}">
                      <a16:colId xmlns:a16="http://schemas.microsoft.com/office/drawing/2014/main" val="4155888173"/>
                    </a:ext>
                  </a:extLst>
                </a:gridCol>
              </a:tblGrid>
              <a:tr h="0">
                <a:tc>
                  <a:txBody>
                    <a:bodyPr/>
                    <a:lstStyle/>
                    <a:p>
                      <a:r>
                        <a:rPr lang="en-US" sz="1500" dirty="0"/>
                        <a:t>Identify problems and plan improvements.</a:t>
                      </a:r>
                    </a:p>
                  </a:txBody>
                  <a:tcPr anchor="ctr">
                    <a:lnL>
                      <a:noFill/>
                    </a:lnL>
                    <a:lnR>
                      <a:noFill/>
                    </a:lnR>
                    <a:lnT>
                      <a:noFill/>
                    </a:lnT>
                    <a:lnB>
                      <a:noFill/>
                    </a:lnB>
                  </a:tcPr>
                </a:tc>
                <a:extLst>
                  <a:ext uri="{0D108BD9-81ED-4DB2-BD59-A6C34878D82A}">
                    <a16:rowId xmlns:a16="http://schemas.microsoft.com/office/drawing/2014/main" val="3269460148"/>
                  </a:ext>
                </a:extLst>
              </a:tr>
            </a:tbl>
          </a:graphicData>
        </a:graphic>
      </p:graphicFrame>
      <p:sp>
        <p:nvSpPr>
          <p:cNvPr id="6" name="TextBox 5">
            <a:extLst>
              <a:ext uri="{FF2B5EF4-FFF2-40B4-BE49-F238E27FC236}">
                <a16:creationId xmlns:a16="http://schemas.microsoft.com/office/drawing/2014/main" id="{85058814-6818-4553-9466-9243522D190B}"/>
              </a:ext>
            </a:extLst>
          </p:cNvPr>
          <p:cNvSpPr txBox="1"/>
          <p:nvPr/>
        </p:nvSpPr>
        <p:spPr>
          <a:xfrm>
            <a:off x="9522411" y="1486479"/>
            <a:ext cx="1410890" cy="1015663"/>
          </a:xfrm>
          <a:prstGeom prst="rect">
            <a:avLst/>
          </a:prstGeom>
          <a:noFill/>
        </p:spPr>
        <p:txBody>
          <a:bodyPr wrap="square">
            <a:spAutoFit/>
          </a:bodyPr>
          <a:lstStyle/>
          <a:p>
            <a:r>
              <a:rPr lang="en-US" sz="1500" dirty="0"/>
              <a:t>Implement the planned application improvements.</a:t>
            </a:r>
            <a:endParaRPr lang="th-TH" sz="1500" dirty="0"/>
          </a:p>
        </p:txBody>
      </p:sp>
      <p:sp>
        <p:nvSpPr>
          <p:cNvPr id="8" name="TextBox 7">
            <a:extLst>
              <a:ext uri="{FF2B5EF4-FFF2-40B4-BE49-F238E27FC236}">
                <a16:creationId xmlns:a16="http://schemas.microsoft.com/office/drawing/2014/main" id="{53871B5E-F372-4580-B733-F0CA901A5E20}"/>
              </a:ext>
            </a:extLst>
          </p:cNvPr>
          <p:cNvSpPr txBox="1"/>
          <p:nvPr/>
        </p:nvSpPr>
        <p:spPr>
          <a:xfrm>
            <a:off x="9522411" y="4260374"/>
            <a:ext cx="1710928" cy="553998"/>
          </a:xfrm>
          <a:prstGeom prst="rect">
            <a:avLst/>
          </a:prstGeom>
          <a:noFill/>
        </p:spPr>
        <p:txBody>
          <a:bodyPr wrap="square">
            <a:spAutoFit/>
          </a:bodyPr>
          <a:lstStyle/>
          <a:p>
            <a:r>
              <a:rPr lang="en-US" sz="1500" dirty="0"/>
              <a:t>Evaluate results and user feedback.</a:t>
            </a:r>
            <a:endParaRPr lang="th-TH" sz="1500" dirty="0"/>
          </a:p>
        </p:txBody>
      </p:sp>
      <p:sp>
        <p:nvSpPr>
          <p:cNvPr id="10" name="TextBox 9">
            <a:extLst>
              <a:ext uri="{FF2B5EF4-FFF2-40B4-BE49-F238E27FC236}">
                <a16:creationId xmlns:a16="http://schemas.microsoft.com/office/drawing/2014/main" id="{6CB56C95-4AB6-4DFD-8837-6CB4A1F9DE18}"/>
              </a:ext>
            </a:extLst>
          </p:cNvPr>
          <p:cNvSpPr txBox="1"/>
          <p:nvPr/>
        </p:nvSpPr>
        <p:spPr>
          <a:xfrm>
            <a:off x="702148" y="4306540"/>
            <a:ext cx="1625203" cy="1015663"/>
          </a:xfrm>
          <a:prstGeom prst="rect">
            <a:avLst/>
          </a:prstGeom>
          <a:noFill/>
        </p:spPr>
        <p:txBody>
          <a:bodyPr wrap="square">
            <a:spAutoFit/>
          </a:bodyPr>
          <a:lstStyle/>
          <a:p>
            <a:r>
              <a:rPr lang="en-US" sz="1500" dirty="0"/>
              <a:t>Apply improvements and standardize changes.</a:t>
            </a:r>
            <a:endParaRPr lang="th-TH" sz="1500" dirty="0"/>
          </a:p>
        </p:txBody>
      </p:sp>
    </p:spTree>
    <p:extLst>
      <p:ext uri="{BB962C8B-B14F-4D97-AF65-F5344CB8AC3E}">
        <p14:creationId xmlns:p14="http://schemas.microsoft.com/office/powerpoint/2010/main" val="3504098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F34CF-D641-4DD1-BEF0-B6004514DEA5}"/>
              </a:ext>
            </a:extLst>
          </p:cNvPr>
          <p:cNvSpPr txBox="1"/>
          <p:nvPr/>
        </p:nvSpPr>
        <p:spPr>
          <a:xfrm>
            <a:off x="3046810" y="3167390"/>
            <a:ext cx="6093618" cy="938719"/>
          </a:xfrm>
          <a:prstGeom prst="rect">
            <a:avLst/>
          </a:prstGeom>
          <a:noFill/>
        </p:spPr>
        <p:txBody>
          <a:bodyPr wrap="square">
            <a:spAutoFit/>
          </a:bodyPr>
          <a:lstStyle/>
          <a:p>
            <a:r>
              <a:rPr lang="en-US" sz="5500" b="1" dirty="0"/>
              <a:t>Thanks</a:t>
            </a:r>
          </a:p>
        </p:txBody>
      </p:sp>
    </p:spTree>
    <p:extLst>
      <p:ext uri="{BB962C8B-B14F-4D97-AF65-F5344CB8AC3E}">
        <p14:creationId xmlns:p14="http://schemas.microsoft.com/office/powerpoint/2010/main" val="860687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399303" y="279308"/>
            <a:ext cx="5944348" cy="4832092"/>
          </a:xfrm>
          <a:prstGeom prst="rect">
            <a:avLst/>
          </a:prstGeom>
          <a:noFill/>
        </p:spPr>
        <p:txBody>
          <a:bodyPr wrap="square">
            <a:spAutoFit/>
          </a:bodyPr>
          <a:lstStyle/>
          <a:p>
            <a:r>
              <a:rPr lang="en-US" b="1" dirty="0"/>
              <a:t>6. </a:t>
            </a:r>
            <a:r>
              <a:rPr lang="en-US" b="1" dirty="0">
                <a:highlight>
                  <a:srgbClr val="FFFF00"/>
                </a:highlight>
              </a:rPr>
              <a:t>Hypothesis</a:t>
            </a:r>
            <a:r>
              <a:rPr lang="en-US" b="1" dirty="0"/>
              <a:t>-Driven Experimentation</a:t>
            </a:r>
          </a:p>
          <a:p>
            <a:r>
              <a:rPr lang="en-US" dirty="0"/>
              <a:t>Iterative design often involves forming hypotheses about </a:t>
            </a:r>
            <a:r>
              <a:rPr lang="en-US" dirty="0">
                <a:solidFill>
                  <a:srgbClr val="FF0000"/>
                </a:solidFill>
              </a:rPr>
              <a:t>user behavior or expected improvements</a:t>
            </a:r>
            <a:r>
              <a:rPr lang="en-US" dirty="0"/>
              <a:t>. Designers test these hypotheses using prototypes, </a:t>
            </a:r>
            <a:r>
              <a:rPr lang="en-US" u="sng" dirty="0"/>
              <a:t>A/B tests</a:t>
            </a:r>
            <a:r>
              <a:rPr lang="en-US" dirty="0"/>
              <a:t>, or controlled studies. This scientific approach ensures decisions are supported by evidence, enabling teams to validate assumptions and prioritize enhancements that truly improve user experience.</a:t>
            </a:r>
          </a:p>
        </p:txBody>
      </p:sp>
      <p:pic>
        <p:nvPicPr>
          <p:cNvPr id="4" name="Picture 3">
            <a:extLst>
              <a:ext uri="{FF2B5EF4-FFF2-40B4-BE49-F238E27FC236}">
                <a16:creationId xmlns:a16="http://schemas.microsoft.com/office/drawing/2014/main" id="{AD21146B-374E-4525-9774-C4BACE5EE5E1}"/>
              </a:ext>
            </a:extLst>
          </p:cNvPr>
          <p:cNvPicPr>
            <a:picLocks noChangeAspect="1"/>
          </p:cNvPicPr>
          <p:nvPr/>
        </p:nvPicPr>
        <p:blipFill>
          <a:blip r:embed="rId2"/>
          <a:stretch>
            <a:fillRect/>
          </a:stretch>
        </p:blipFill>
        <p:spPr>
          <a:xfrm>
            <a:off x="6648479" y="409390"/>
            <a:ext cx="5144218" cy="2638793"/>
          </a:xfrm>
          <a:prstGeom prst="rect">
            <a:avLst/>
          </a:prstGeom>
        </p:spPr>
      </p:pic>
      <p:sp>
        <p:nvSpPr>
          <p:cNvPr id="5" name="TextBox 4">
            <a:extLst>
              <a:ext uri="{FF2B5EF4-FFF2-40B4-BE49-F238E27FC236}">
                <a16:creationId xmlns:a16="http://schemas.microsoft.com/office/drawing/2014/main" id="{045C6662-3756-0797-E209-B49F8E2938E2}"/>
              </a:ext>
            </a:extLst>
          </p:cNvPr>
          <p:cNvSpPr txBox="1"/>
          <p:nvPr/>
        </p:nvSpPr>
        <p:spPr>
          <a:xfrm>
            <a:off x="6648479" y="3429000"/>
            <a:ext cx="4708815" cy="1815882"/>
          </a:xfrm>
          <a:prstGeom prst="rect">
            <a:avLst/>
          </a:prstGeom>
          <a:noFill/>
        </p:spPr>
        <p:txBody>
          <a:bodyPr wrap="square">
            <a:spAutoFit/>
          </a:bodyPr>
          <a:lstStyle/>
          <a:p>
            <a:r>
              <a:rPr lang="en-US" sz="2800" dirty="0">
                <a:solidFill>
                  <a:srgbClr val="FF0000"/>
                </a:solidFill>
              </a:rPr>
              <a:t>Transportation</a:t>
            </a:r>
          </a:p>
          <a:p>
            <a:r>
              <a:rPr lang="en-US" dirty="0">
                <a:solidFill>
                  <a:srgbClr val="FF0000"/>
                </a:solidFill>
              </a:rPr>
              <a:t>Industries&gt; IoT, cloud computing, robots</a:t>
            </a:r>
          </a:p>
          <a:p>
            <a:r>
              <a:rPr lang="en-US" dirty="0">
                <a:solidFill>
                  <a:srgbClr val="FF0000"/>
                </a:solidFill>
              </a:rPr>
              <a:t>Hospital </a:t>
            </a:r>
            <a:endParaRPr lang="th-TH" dirty="0"/>
          </a:p>
        </p:txBody>
      </p:sp>
    </p:spTree>
    <p:extLst>
      <p:ext uri="{BB962C8B-B14F-4D97-AF65-F5344CB8AC3E}">
        <p14:creationId xmlns:p14="http://schemas.microsoft.com/office/powerpoint/2010/main" val="368795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emystifying A/B Testing in Machine Learning | by Dagang Wei | Medium">
            <a:extLst>
              <a:ext uri="{FF2B5EF4-FFF2-40B4-BE49-F238E27FC236}">
                <a16:creationId xmlns:a16="http://schemas.microsoft.com/office/drawing/2014/main" id="{D63367F3-D1B7-1D03-D5EB-E0EDC0A46BE0}"/>
              </a:ext>
            </a:extLst>
          </p:cNvPr>
          <p:cNvPicPr>
            <a:picLocks noChangeAspect="1"/>
          </p:cNvPicPr>
          <p:nvPr/>
        </p:nvPicPr>
        <p:blipFill>
          <a:blip r:embed="rId2"/>
          <a:stretch>
            <a:fillRect/>
          </a:stretch>
        </p:blipFill>
        <p:spPr>
          <a:xfrm>
            <a:off x="322697" y="200025"/>
            <a:ext cx="5349781" cy="3228975"/>
          </a:xfrm>
          <a:prstGeom prst="rect">
            <a:avLst/>
          </a:prstGeom>
        </p:spPr>
      </p:pic>
      <p:pic>
        <p:nvPicPr>
          <p:cNvPr id="3" name="Picture 2" descr="What is A/B Testing? — updated 2026 | IxDF">
            <a:extLst>
              <a:ext uri="{FF2B5EF4-FFF2-40B4-BE49-F238E27FC236}">
                <a16:creationId xmlns:a16="http://schemas.microsoft.com/office/drawing/2014/main" id="{91D6B716-D166-798E-DCFD-9AB2AEC1C6E1}"/>
              </a:ext>
            </a:extLst>
          </p:cNvPr>
          <p:cNvPicPr>
            <a:picLocks noChangeAspect="1"/>
          </p:cNvPicPr>
          <p:nvPr/>
        </p:nvPicPr>
        <p:blipFill>
          <a:blip r:embed="rId3"/>
          <a:srcRect l="5204" r="3392" b="13040"/>
          <a:stretch>
            <a:fillRect/>
          </a:stretch>
        </p:blipFill>
        <p:spPr>
          <a:xfrm>
            <a:off x="435334" y="3566316"/>
            <a:ext cx="5430089" cy="2905922"/>
          </a:xfrm>
          <a:prstGeom prst="rect">
            <a:avLst/>
          </a:prstGeom>
        </p:spPr>
      </p:pic>
      <p:pic>
        <p:nvPicPr>
          <p:cNvPr id="4" name="Picture 3" descr="Everything you need to know about A/B testing | helloDarwin">
            <a:extLst>
              <a:ext uri="{FF2B5EF4-FFF2-40B4-BE49-F238E27FC236}">
                <a16:creationId xmlns:a16="http://schemas.microsoft.com/office/drawing/2014/main" id="{27BE3398-EC02-8890-876D-32467F92A8D5}"/>
              </a:ext>
            </a:extLst>
          </p:cNvPr>
          <p:cNvPicPr>
            <a:picLocks noChangeAspect="1"/>
          </p:cNvPicPr>
          <p:nvPr/>
        </p:nvPicPr>
        <p:blipFill>
          <a:blip r:embed="rId4"/>
          <a:srcRect l="25279" t="7096" r="24008" b="7927"/>
          <a:stretch>
            <a:fillRect/>
          </a:stretch>
        </p:blipFill>
        <p:spPr>
          <a:xfrm>
            <a:off x="7127516" y="200025"/>
            <a:ext cx="4755793" cy="5100638"/>
          </a:xfrm>
          <a:prstGeom prst="rect">
            <a:avLst/>
          </a:prstGeom>
        </p:spPr>
      </p:pic>
    </p:spTree>
    <p:extLst>
      <p:ext uri="{BB962C8B-B14F-4D97-AF65-F5344CB8AC3E}">
        <p14:creationId xmlns:p14="http://schemas.microsoft.com/office/powerpoint/2010/main" val="3906737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3695C0-E71C-4D66-AC6C-5763D1D5064B}"/>
              </a:ext>
            </a:extLst>
          </p:cNvPr>
          <p:cNvSpPr txBox="1"/>
          <p:nvPr/>
        </p:nvSpPr>
        <p:spPr>
          <a:xfrm>
            <a:off x="552450" y="476234"/>
            <a:ext cx="11087100" cy="6124754"/>
          </a:xfrm>
          <a:prstGeom prst="rect">
            <a:avLst/>
          </a:prstGeom>
          <a:noFill/>
        </p:spPr>
        <p:txBody>
          <a:bodyPr wrap="square">
            <a:spAutoFit/>
          </a:bodyPr>
          <a:lstStyle/>
          <a:p>
            <a:r>
              <a:rPr lang="en-US" dirty="0"/>
              <a:t>For example, in </a:t>
            </a:r>
            <a:r>
              <a:rPr lang="en-US" b="1" dirty="0"/>
              <a:t>iterative design of a mobile banking application</a:t>
            </a:r>
            <a:r>
              <a:rPr lang="en-US" dirty="0"/>
              <a:t>, the design team may form the following hypothesis:</a:t>
            </a:r>
          </a:p>
          <a:p>
            <a:r>
              <a:rPr lang="en-US" b="1" dirty="0"/>
              <a:t>Hypothesis:</a:t>
            </a:r>
            <a:r>
              <a:rPr lang="en-US" dirty="0"/>
              <a:t> </a:t>
            </a:r>
            <a:r>
              <a:rPr lang="en-US" i="1" dirty="0"/>
              <a:t>“If the money-transfer process is reduced from five steps to three steps, users will complete transactions faster and make fewer errors.”</a:t>
            </a:r>
            <a:endParaRPr lang="en-US" dirty="0"/>
          </a:p>
          <a:p>
            <a:endParaRPr lang="en-US" dirty="0"/>
          </a:p>
          <a:p>
            <a:r>
              <a:rPr lang="en-US" dirty="0"/>
              <a:t>The team then creates a </a:t>
            </a:r>
            <a:r>
              <a:rPr lang="en-US" b="1" dirty="0"/>
              <a:t>prototype</a:t>
            </a:r>
            <a:r>
              <a:rPr lang="en-US" dirty="0"/>
              <a:t> with the simplified process and tests it with users. If the results show faster completion times and fewer mistakes, the design change is retained. If not, the team revises the interface and tests another version.</a:t>
            </a:r>
          </a:p>
          <a:p>
            <a:endParaRPr lang="en-US" dirty="0"/>
          </a:p>
          <a:p>
            <a:r>
              <a:rPr lang="en-US" dirty="0"/>
              <a:t>Another simple example is: </a:t>
            </a:r>
            <a:r>
              <a:rPr lang="en-US" b="1" dirty="0"/>
              <a:t>“If the ‘Buy Now’ button is made more visible, more users will complete their purchases.”</a:t>
            </a:r>
            <a:r>
              <a:rPr lang="en-US" dirty="0"/>
              <a:t> The hypothesis can be tested through A/B testing, and the findings are then used in the next design iteration.</a:t>
            </a:r>
          </a:p>
        </p:txBody>
      </p:sp>
    </p:spTree>
    <p:extLst>
      <p:ext uri="{BB962C8B-B14F-4D97-AF65-F5344CB8AC3E}">
        <p14:creationId xmlns:p14="http://schemas.microsoft.com/office/powerpoint/2010/main" val="2285830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398305" y="364368"/>
            <a:ext cx="6093618" cy="4832092"/>
          </a:xfrm>
          <a:prstGeom prst="rect">
            <a:avLst/>
          </a:prstGeom>
          <a:noFill/>
        </p:spPr>
        <p:txBody>
          <a:bodyPr wrap="square">
            <a:spAutoFit/>
          </a:bodyPr>
          <a:lstStyle/>
          <a:p>
            <a:r>
              <a:rPr lang="en-US" b="1" dirty="0"/>
              <a:t>7. Cross-Functional Collaboration</a:t>
            </a:r>
          </a:p>
          <a:p>
            <a:r>
              <a:rPr lang="en-US" dirty="0"/>
              <a:t>Effective iteration requires </a:t>
            </a:r>
            <a:r>
              <a:rPr lang="en-US" dirty="0">
                <a:solidFill>
                  <a:srgbClr val="FF0000"/>
                </a:solidFill>
              </a:rPr>
              <a:t>communication between designers, developers, researchers, and stakeholders</a:t>
            </a:r>
            <a:r>
              <a:rPr lang="en-US" dirty="0"/>
              <a:t>. Collaboration allows diverse perspectives to inform decisions, catching potential issues early. Cross-functional teamwork strengthens creativity, aligns technical and design constraints, and ensures that solutions are feasible, scalable, and user-centered.</a:t>
            </a:r>
          </a:p>
        </p:txBody>
      </p:sp>
      <p:pic>
        <p:nvPicPr>
          <p:cNvPr id="1026" name="Picture 2" descr="Cross-functional collaboration: Benefits, Strategies and Challenges">
            <a:extLst>
              <a:ext uri="{FF2B5EF4-FFF2-40B4-BE49-F238E27FC236}">
                <a16:creationId xmlns:a16="http://schemas.microsoft.com/office/drawing/2014/main" id="{310E1B9B-84F9-47DF-BB7C-A5DD5E346C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841" t="8341" r="22824" b="6185"/>
          <a:stretch/>
        </p:blipFill>
        <p:spPr bwMode="auto">
          <a:xfrm>
            <a:off x="7315200" y="457201"/>
            <a:ext cx="3678865" cy="3370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55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AEFF1C-2D69-4D84-85AF-C397AC5B3D11}"/>
              </a:ext>
            </a:extLst>
          </p:cNvPr>
          <p:cNvSpPr txBox="1"/>
          <p:nvPr/>
        </p:nvSpPr>
        <p:spPr>
          <a:xfrm>
            <a:off x="452437" y="204386"/>
            <a:ext cx="11287125" cy="6124754"/>
          </a:xfrm>
          <a:prstGeom prst="rect">
            <a:avLst/>
          </a:prstGeom>
          <a:noFill/>
        </p:spPr>
        <p:txBody>
          <a:bodyPr wrap="square">
            <a:spAutoFit/>
          </a:bodyPr>
          <a:lstStyle/>
          <a:p>
            <a:r>
              <a:rPr lang="en-US" b="1" dirty="0"/>
              <a:t>Example of Cross-Functional Collaboration:</a:t>
            </a:r>
            <a:endParaRPr lang="en-US" dirty="0"/>
          </a:p>
          <a:p>
            <a:r>
              <a:rPr lang="en-US" dirty="0"/>
              <a:t>In developing a </a:t>
            </a:r>
            <a:r>
              <a:rPr lang="en-US" b="1" dirty="0"/>
              <a:t>mobile banking application</a:t>
            </a:r>
            <a:r>
              <a:rPr lang="en-US" dirty="0"/>
              <a:t>, people from different departments work together:</a:t>
            </a:r>
          </a:p>
          <a:p>
            <a:endParaRPr lang="en-US" dirty="0"/>
          </a:p>
          <a:p>
            <a:pPr>
              <a:buFont typeface="Arial" panose="020B0604020202020204" pitchFamily="34" charset="0"/>
              <a:buChar char="•"/>
            </a:pPr>
            <a:r>
              <a:rPr lang="en-US" b="1" dirty="0"/>
              <a:t>UX/UI designers</a:t>
            </a:r>
            <a:r>
              <a:rPr lang="en-US" dirty="0"/>
              <a:t> design an easy-to-use interface. </a:t>
            </a:r>
          </a:p>
          <a:p>
            <a:pPr>
              <a:buFont typeface="Arial" panose="020B0604020202020204" pitchFamily="34" charset="0"/>
              <a:buChar char="•"/>
            </a:pPr>
            <a:r>
              <a:rPr lang="en-US" b="1" dirty="0"/>
              <a:t>Software developers</a:t>
            </a:r>
            <a:r>
              <a:rPr lang="en-US" dirty="0"/>
              <a:t> build the application and its features. </a:t>
            </a:r>
          </a:p>
          <a:p>
            <a:pPr>
              <a:buFont typeface="Arial" panose="020B0604020202020204" pitchFamily="34" charset="0"/>
              <a:buChar char="•"/>
            </a:pPr>
            <a:r>
              <a:rPr lang="en-US" b="1" dirty="0"/>
              <a:t>Cybersecurity specialists</a:t>
            </a:r>
            <a:r>
              <a:rPr lang="en-US" dirty="0"/>
              <a:t> ensure transactions are secure. </a:t>
            </a:r>
          </a:p>
          <a:p>
            <a:pPr>
              <a:buFont typeface="Arial" panose="020B0604020202020204" pitchFamily="34" charset="0"/>
              <a:buChar char="•"/>
            </a:pPr>
            <a:r>
              <a:rPr lang="en-US" b="1" dirty="0"/>
              <a:t>Marketing teams</a:t>
            </a:r>
            <a:r>
              <a:rPr lang="en-US" dirty="0"/>
              <a:t> provide information about customer needs. </a:t>
            </a:r>
          </a:p>
          <a:p>
            <a:pPr>
              <a:buFont typeface="Arial" panose="020B0604020202020204" pitchFamily="34" charset="0"/>
              <a:buChar char="•"/>
            </a:pPr>
            <a:r>
              <a:rPr lang="en-US" b="1" dirty="0"/>
              <a:t>Customer service teams</a:t>
            </a:r>
            <a:r>
              <a:rPr lang="en-US" dirty="0"/>
              <a:t> share common problems reported by users. </a:t>
            </a:r>
          </a:p>
          <a:p>
            <a:endParaRPr lang="en-US" dirty="0"/>
          </a:p>
          <a:p>
            <a:r>
              <a:rPr lang="en-US" dirty="0"/>
              <a:t>For example, if customers complain that the </a:t>
            </a:r>
            <a:r>
              <a:rPr lang="en-US" b="1" dirty="0"/>
              <a:t>money-transfer process is too complicated</a:t>
            </a:r>
            <a:r>
              <a:rPr lang="en-US" dirty="0"/>
              <a:t>, the UX designers simplify the interface, developers implement the changes, cybersecurity specialists verify that the new process remains secure, and customer service collects feedback after the update.</a:t>
            </a:r>
          </a:p>
        </p:txBody>
      </p:sp>
    </p:spTree>
    <p:extLst>
      <p:ext uri="{BB962C8B-B14F-4D97-AF65-F5344CB8AC3E}">
        <p14:creationId xmlns:p14="http://schemas.microsoft.com/office/powerpoint/2010/main" val="895656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508009" y="446304"/>
            <a:ext cx="4776372" cy="5093702"/>
          </a:xfrm>
          <a:prstGeom prst="rect">
            <a:avLst/>
          </a:prstGeom>
          <a:noFill/>
        </p:spPr>
        <p:txBody>
          <a:bodyPr wrap="square">
            <a:spAutoFit/>
          </a:bodyPr>
          <a:lstStyle/>
          <a:p>
            <a:r>
              <a:rPr lang="en-US" sz="2500" b="1" dirty="0"/>
              <a:t>8. Risk Reduction Through </a:t>
            </a:r>
            <a:r>
              <a:rPr lang="en-US" sz="2500" b="1" dirty="0">
                <a:highlight>
                  <a:srgbClr val="FFFF00"/>
                </a:highlight>
              </a:rPr>
              <a:t>Iteration</a:t>
            </a:r>
          </a:p>
          <a:p>
            <a:r>
              <a:rPr lang="en-US" sz="2500" dirty="0"/>
              <a:t>Iterative design </a:t>
            </a:r>
            <a:r>
              <a:rPr lang="en-US" sz="2500" u="sng" dirty="0"/>
              <a:t>minimizes risks </a:t>
            </a:r>
            <a:r>
              <a:rPr lang="en-US" sz="2500" dirty="0"/>
              <a:t>by uncovering problems early and allowing adjustments before final implementation. Small, incremental changes are easier and cheaper to fix compared to late-stage revisions. This approach prevents costly redesigns, strengthens product reliability, and ensures development stays aligned with goals and user needs.</a:t>
            </a:r>
          </a:p>
        </p:txBody>
      </p:sp>
      <p:pic>
        <p:nvPicPr>
          <p:cNvPr id="2" name="Picture 1">
            <a:extLst>
              <a:ext uri="{FF2B5EF4-FFF2-40B4-BE49-F238E27FC236}">
                <a16:creationId xmlns:a16="http://schemas.microsoft.com/office/drawing/2014/main" id="{84D16A8B-87C6-421E-AAF1-CA15A6A4D93A}"/>
              </a:ext>
            </a:extLst>
          </p:cNvPr>
          <p:cNvPicPr>
            <a:picLocks noChangeAspect="1"/>
          </p:cNvPicPr>
          <p:nvPr/>
        </p:nvPicPr>
        <p:blipFill>
          <a:blip r:embed="rId2"/>
          <a:stretch>
            <a:fillRect/>
          </a:stretch>
        </p:blipFill>
        <p:spPr>
          <a:xfrm>
            <a:off x="5652249" y="239612"/>
            <a:ext cx="6386299" cy="5494559"/>
          </a:xfrm>
          <a:prstGeom prst="rect">
            <a:avLst/>
          </a:prstGeom>
        </p:spPr>
      </p:pic>
    </p:spTree>
    <p:extLst>
      <p:ext uri="{BB962C8B-B14F-4D97-AF65-F5344CB8AC3E}">
        <p14:creationId xmlns:p14="http://schemas.microsoft.com/office/powerpoint/2010/main" val="4126813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96F5D3-6A72-4ED2-B257-94808F64282C}"/>
              </a:ext>
            </a:extLst>
          </p:cNvPr>
          <p:cNvSpPr txBox="1"/>
          <p:nvPr/>
        </p:nvSpPr>
        <p:spPr>
          <a:xfrm>
            <a:off x="473868" y="735420"/>
            <a:ext cx="11244263" cy="4708981"/>
          </a:xfrm>
          <a:prstGeom prst="rect">
            <a:avLst/>
          </a:prstGeom>
          <a:noFill/>
        </p:spPr>
        <p:txBody>
          <a:bodyPr wrap="square">
            <a:spAutoFit/>
          </a:bodyPr>
          <a:lstStyle/>
          <a:p>
            <a:r>
              <a:rPr lang="en-US" sz="2000" b="1" dirty="0"/>
              <a:t>Example of Risk Reduction Through Iteration:</a:t>
            </a:r>
            <a:endParaRPr lang="en-US" sz="2000" dirty="0"/>
          </a:p>
          <a:p>
            <a:r>
              <a:rPr lang="en-US" sz="2000" dirty="0"/>
              <a:t>In developing a </a:t>
            </a:r>
            <a:r>
              <a:rPr lang="en-US" sz="2000" b="1" dirty="0"/>
              <a:t>mobile banking application</a:t>
            </a:r>
            <a:r>
              <a:rPr lang="en-US" sz="2000" dirty="0"/>
              <a:t>, instead of building the entire system at once, the development team creates and tests it in several small stages.</a:t>
            </a:r>
          </a:p>
          <a:p>
            <a:endParaRPr lang="en-US" sz="2000" dirty="0"/>
          </a:p>
          <a:p>
            <a:r>
              <a:rPr lang="en-US" sz="2000" dirty="0"/>
              <a:t>For example, the team first develops a </a:t>
            </a:r>
            <a:r>
              <a:rPr lang="en-US" sz="2000" b="1" dirty="0"/>
              <a:t>prototype of the money-transfer feature</a:t>
            </a:r>
            <a:r>
              <a:rPr lang="en-US" sz="2000" dirty="0"/>
              <a:t> and tests it with 20 users. Testing reveals that some users accidentally enter the wrong account number. The team then improves the interface by adding </a:t>
            </a:r>
            <a:r>
              <a:rPr lang="en-US" sz="2000" b="1" dirty="0"/>
              <a:t>account-name confirmation</a:t>
            </a:r>
            <a:r>
              <a:rPr lang="en-US" sz="2000" dirty="0"/>
              <a:t> before the transfer is completed. The revised version is tested again before being released to more users.</a:t>
            </a:r>
          </a:p>
          <a:p>
            <a:r>
              <a:rPr lang="en-US" sz="2000" dirty="0"/>
              <a:t>This iterative process helps identify problems early, before they become expensive or dangerous.</a:t>
            </a:r>
          </a:p>
          <a:p>
            <a:endParaRPr lang="en-US" sz="2000" b="1" dirty="0"/>
          </a:p>
          <a:p>
            <a:r>
              <a:rPr lang="en-US" sz="2000" b="1" dirty="0"/>
              <a:t>In simple terms:</a:t>
            </a:r>
            <a:r>
              <a:rPr lang="en-US" sz="2000" dirty="0"/>
              <a:t> Risk reduction through iteration means </a:t>
            </a:r>
            <a:r>
              <a:rPr lang="en-US" sz="2000" b="1" dirty="0"/>
              <a:t>designing, testing, learning from problems, and improving repeatedly to reduce the chance of major failure.</a:t>
            </a:r>
            <a:endParaRPr lang="en-US" sz="2000" dirty="0"/>
          </a:p>
          <a:p>
            <a:endParaRPr lang="en-US" sz="2000" b="1" dirty="0"/>
          </a:p>
          <a:p>
            <a:r>
              <a:rPr lang="en-US" sz="2000" b="1" dirty="0"/>
              <a:t>Process:</a:t>
            </a:r>
            <a:br>
              <a:rPr lang="en-US" sz="2000" dirty="0"/>
            </a:br>
            <a:r>
              <a:rPr lang="en-US" sz="2000" b="1" dirty="0"/>
              <a:t>Design → Test → Identify Problems → Improve → Test Again → Release</a:t>
            </a:r>
            <a:endParaRPr lang="en-US" sz="2000" dirty="0"/>
          </a:p>
        </p:txBody>
      </p:sp>
    </p:spTree>
    <p:extLst>
      <p:ext uri="{BB962C8B-B14F-4D97-AF65-F5344CB8AC3E}">
        <p14:creationId xmlns:p14="http://schemas.microsoft.com/office/powerpoint/2010/main" val="571317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476112" y="336062"/>
            <a:ext cx="5339897" cy="5262979"/>
          </a:xfrm>
          <a:prstGeom prst="rect">
            <a:avLst/>
          </a:prstGeom>
          <a:noFill/>
        </p:spPr>
        <p:txBody>
          <a:bodyPr wrap="square">
            <a:spAutoFit/>
          </a:bodyPr>
          <a:lstStyle/>
          <a:p>
            <a:r>
              <a:rPr lang="en-US" b="1" dirty="0"/>
              <a:t>9. Evidence-Based Improvements</a:t>
            </a:r>
          </a:p>
          <a:p>
            <a:r>
              <a:rPr lang="en-US" dirty="0"/>
              <a:t>Every iteration uses data—from user tests, analytics, or interviews—to guide enhancements. This ensures improvements are measurable, meaningful, and justified. Evidence-based decision-making prevents subjective or biased design choices, resulting in a high-quality solution that supports continuous learning and systematic improvement.</a:t>
            </a:r>
          </a:p>
        </p:txBody>
      </p:sp>
      <p:pic>
        <p:nvPicPr>
          <p:cNvPr id="2" name="Picture 1">
            <a:extLst>
              <a:ext uri="{FF2B5EF4-FFF2-40B4-BE49-F238E27FC236}">
                <a16:creationId xmlns:a16="http://schemas.microsoft.com/office/drawing/2014/main" id="{E3713638-0E18-4C20-97C0-1820C874D86A}"/>
              </a:ext>
            </a:extLst>
          </p:cNvPr>
          <p:cNvPicPr>
            <a:picLocks noChangeAspect="1"/>
          </p:cNvPicPr>
          <p:nvPr/>
        </p:nvPicPr>
        <p:blipFill>
          <a:blip r:embed="rId2"/>
          <a:stretch>
            <a:fillRect/>
          </a:stretch>
        </p:blipFill>
        <p:spPr>
          <a:xfrm>
            <a:off x="5872716" y="336062"/>
            <a:ext cx="5971366" cy="5485617"/>
          </a:xfrm>
          <a:prstGeom prst="rect">
            <a:avLst/>
          </a:prstGeom>
        </p:spPr>
      </p:pic>
    </p:spTree>
    <p:extLst>
      <p:ext uri="{BB962C8B-B14F-4D97-AF65-F5344CB8AC3E}">
        <p14:creationId xmlns:p14="http://schemas.microsoft.com/office/powerpoint/2010/main" val="3533018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FC0D43-1F1E-40C5-9DC7-DC178BF2C630}"/>
              </a:ext>
            </a:extLst>
          </p:cNvPr>
          <p:cNvSpPr txBox="1"/>
          <p:nvPr/>
        </p:nvSpPr>
        <p:spPr>
          <a:xfrm>
            <a:off x="417909" y="458956"/>
            <a:ext cx="11326415" cy="5755422"/>
          </a:xfrm>
          <a:prstGeom prst="rect">
            <a:avLst/>
          </a:prstGeom>
          <a:noFill/>
        </p:spPr>
        <p:txBody>
          <a:bodyPr wrap="square">
            <a:spAutoFit/>
          </a:bodyPr>
          <a:lstStyle/>
          <a:p>
            <a:r>
              <a:rPr lang="en-US" sz="2300" b="1" dirty="0"/>
              <a:t>Example of Evidence-Based Improvements:</a:t>
            </a:r>
            <a:endParaRPr lang="en-US" sz="2300" dirty="0"/>
          </a:p>
          <a:p>
            <a:r>
              <a:rPr lang="en-US" sz="2300" dirty="0"/>
              <a:t>In developing a </a:t>
            </a:r>
            <a:r>
              <a:rPr lang="en-US" sz="2300" b="1" dirty="0"/>
              <a:t>mobile banking application</a:t>
            </a:r>
            <a:r>
              <a:rPr lang="en-US" sz="2300" dirty="0"/>
              <a:t>, the team uses actual user data and feedback to decide what should be improved rather than relying only on assumptions.</a:t>
            </a:r>
          </a:p>
          <a:p>
            <a:endParaRPr lang="en-US" sz="2300" dirty="0"/>
          </a:p>
          <a:p>
            <a:r>
              <a:rPr lang="en-US" sz="2300" dirty="0"/>
              <a:t>For example, usability testing shows that </a:t>
            </a:r>
            <a:r>
              <a:rPr lang="en-US" sz="2300" b="1" dirty="0"/>
              <a:t>40% of users have difficulty finding the “Transfer Money” button</a:t>
            </a:r>
            <a:r>
              <a:rPr lang="en-US" sz="2300" dirty="0"/>
              <a:t>. The design team moves the button to a more visible position on the home screen. After testing the new design, the percentage of users experiencing difficulty decreases to </a:t>
            </a:r>
            <a:r>
              <a:rPr lang="en-US" sz="2300" b="1" dirty="0"/>
              <a:t>10%</a:t>
            </a:r>
            <a:r>
              <a:rPr lang="en-US" sz="2300" dirty="0"/>
              <a:t>.</a:t>
            </a:r>
          </a:p>
          <a:p>
            <a:r>
              <a:rPr lang="en-US" sz="2300" dirty="0"/>
              <a:t>The team therefore has evidence that the design change improved usability.</a:t>
            </a:r>
          </a:p>
          <a:p>
            <a:endParaRPr lang="en-US" sz="2300" b="1" dirty="0"/>
          </a:p>
          <a:p>
            <a:r>
              <a:rPr lang="en-US" sz="2300" b="1" dirty="0"/>
              <a:t>In simple terms:</a:t>
            </a:r>
            <a:r>
              <a:rPr lang="en-US" sz="2300" dirty="0"/>
              <a:t> Evidence-based improvements mean </a:t>
            </a:r>
            <a:r>
              <a:rPr lang="en-US" sz="2300" b="1" dirty="0"/>
              <a:t>making design decisions based on real data, user feedback, testing results, and observations.</a:t>
            </a:r>
            <a:endParaRPr lang="en-US" sz="2300" dirty="0"/>
          </a:p>
          <a:p>
            <a:endParaRPr lang="en-US" sz="2300" b="1" dirty="0"/>
          </a:p>
          <a:p>
            <a:r>
              <a:rPr lang="en-US" sz="2300" b="1" dirty="0"/>
              <a:t>Process:</a:t>
            </a:r>
            <a:br>
              <a:rPr lang="en-US" sz="2300" dirty="0"/>
            </a:br>
            <a:r>
              <a:rPr lang="en-US" sz="2300" b="1" dirty="0"/>
              <a:t>Collect Evidence → Analyze Results → Identify Problems → Make Improvements → Test Again</a:t>
            </a:r>
            <a:endParaRPr lang="en-US" sz="2300" dirty="0"/>
          </a:p>
        </p:txBody>
      </p:sp>
    </p:spTree>
    <p:extLst>
      <p:ext uri="{BB962C8B-B14F-4D97-AF65-F5344CB8AC3E}">
        <p14:creationId xmlns:p14="http://schemas.microsoft.com/office/powerpoint/2010/main" val="1949956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558792" y="385633"/>
            <a:ext cx="4948873" cy="5693866"/>
          </a:xfrm>
          <a:prstGeom prst="rect">
            <a:avLst/>
          </a:prstGeom>
          <a:noFill/>
        </p:spPr>
        <p:txBody>
          <a:bodyPr wrap="square">
            <a:spAutoFit/>
          </a:bodyPr>
          <a:lstStyle/>
          <a:p>
            <a:r>
              <a:rPr lang="en-US" b="1" dirty="0"/>
              <a:t>10. Adaptation to Changing Requirements</a:t>
            </a:r>
          </a:p>
          <a:p>
            <a:r>
              <a:rPr lang="en-US" dirty="0"/>
              <a:t>Iterative design supports flexibility when user needs or project requirements change. Instead of locking into rigid plans, teams adjust direction based on new insights or emerging technologies. This adaptability ensures that the final product remains relevant and capable of meeting evolving demands.</a:t>
            </a:r>
          </a:p>
        </p:txBody>
      </p:sp>
      <p:pic>
        <p:nvPicPr>
          <p:cNvPr id="2050" name="Picture 2">
            <a:extLst>
              <a:ext uri="{FF2B5EF4-FFF2-40B4-BE49-F238E27FC236}">
                <a16:creationId xmlns:a16="http://schemas.microsoft.com/office/drawing/2014/main" id="{94D8D511-D704-4002-B037-E2FDAB647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521" y="680483"/>
            <a:ext cx="6717414" cy="4189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9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268DC2-049A-4E29-8861-B60D64F61A85}"/>
              </a:ext>
            </a:extLst>
          </p:cNvPr>
          <p:cNvSpPr txBox="1"/>
          <p:nvPr/>
        </p:nvSpPr>
        <p:spPr>
          <a:xfrm>
            <a:off x="489347" y="394783"/>
            <a:ext cx="11212116" cy="5401479"/>
          </a:xfrm>
          <a:prstGeom prst="rect">
            <a:avLst/>
          </a:prstGeom>
          <a:noFill/>
        </p:spPr>
        <p:txBody>
          <a:bodyPr wrap="square">
            <a:spAutoFit/>
          </a:bodyPr>
          <a:lstStyle/>
          <a:p>
            <a:r>
              <a:rPr lang="en-US" sz="2300" b="1" dirty="0"/>
              <a:t>Example of Adaptation to Changing Requirements:</a:t>
            </a:r>
            <a:endParaRPr lang="en-US" sz="2300" dirty="0"/>
          </a:p>
          <a:p>
            <a:r>
              <a:rPr lang="en-US" sz="2300" dirty="0"/>
              <a:t>In developing a </a:t>
            </a:r>
            <a:r>
              <a:rPr lang="en-US" sz="2300" b="1" dirty="0"/>
              <a:t>mobile banking application</a:t>
            </a:r>
            <a:r>
              <a:rPr lang="en-US" sz="2300" dirty="0"/>
              <a:t>, customer needs, technology, or regulations may change during development.</a:t>
            </a:r>
          </a:p>
          <a:p>
            <a:endParaRPr lang="en-US" sz="2300" dirty="0"/>
          </a:p>
          <a:p>
            <a:r>
              <a:rPr lang="en-US" sz="2300" dirty="0"/>
              <a:t>For example, the application was originally designed to support </a:t>
            </a:r>
            <a:r>
              <a:rPr lang="en-US" sz="2300" b="1" dirty="0"/>
              <a:t>password-based login</a:t>
            </a:r>
            <a:r>
              <a:rPr lang="en-US" sz="2300" dirty="0"/>
              <a:t>. Later, users requested a faster and more convenient login method. The development team responded by adding </a:t>
            </a:r>
            <a:r>
              <a:rPr lang="en-US" sz="2300" b="1" dirty="0"/>
              <a:t>fingerprint and facial recognition</a:t>
            </a:r>
            <a:r>
              <a:rPr lang="en-US" sz="2300" dirty="0"/>
              <a:t>. The new features were tested with users and refined before release.</a:t>
            </a:r>
          </a:p>
          <a:p>
            <a:r>
              <a:rPr lang="en-US" sz="2300" dirty="0"/>
              <a:t>This demonstrates how the design can be modified when new requirements emerge.</a:t>
            </a:r>
          </a:p>
          <a:p>
            <a:endParaRPr lang="en-US" sz="2300" b="1" dirty="0"/>
          </a:p>
          <a:p>
            <a:r>
              <a:rPr lang="en-US" sz="2300" b="1" dirty="0"/>
              <a:t>In simple terms:</a:t>
            </a:r>
            <a:r>
              <a:rPr lang="en-US" sz="2300" dirty="0"/>
              <a:t> Adaptation to changing requirements means </a:t>
            </a:r>
            <a:r>
              <a:rPr lang="en-US" sz="2300" b="1" dirty="0"/>
              <a:t>adjusting a product or system when user needs, technology, business conditions, or requirements change.</a:t>
            </a:r>
            <a:endParaRPr lang="en-US" sz="2300" dirty="0"/>
          </a:p>
          <a:p>
            <a:endParaRPr lang="en-US" sz="2300" b="1" dirty="0"/>
          </a:p>
          <a:p>
            <a:r>
              <a:rPr lang="en-US" sz="2300" b="1" dirty="0"/>
              <a:t>Process:</a:t>
            </a:r>
            <a:br>
              <a:rPr lang="en-US" sz="2300" dirty="0"/>
            </a:br>
            <a:r>
              <a:rPr lang="en-US" sz="2300" b="1" dirty="0"/>
              <a:t>Identify Change → Evaluate New Requirement → Modify Design → Test → Implement</a:t>
            </a:r>
            <a:endParaRPr lang="en-US" sz="2300" dirty="0"/>
          </a:p>
        </p:txBody>
      </p:sp>
    </p:spTree>
    <p:extLst>
      <p:ext uri="{BB962C8B-B14F-4D97-AF65-F5344CB8AC3E}">
        <p14:creationId xmlns:p14="http://schemas.microsoft.com/office/powerpoint/2010/main" val="318546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AF3D7-AC75-41D9-AF3F-8AA96B600108}"/>
              </a:ext>
            </a:extLst>
          </p:cNvPr>
          <p:cNvSpPr txBox="1"/>
          <p:nvPr/>
        </p:nvSpPr>
        <p:spPr>
          <a:xfrm>
            <a:off x="3046810" y="3167390"/>
            <a:ext cx="6093618" cy="938719"/>
          </a:xfrm>
          <a:prstGeom prst="rect">
            <a:avLst/>
          </a:prstGeom>
          <a:noFill/>
        </p:spPr>
        <p:txBody>
          <a:bodyPr wrap="square">
            <a:spAutoFit/>
          </a:bodyPr>
          <a:lstStyle/>
          <a:p>
            <a:r>
              <a:rPr lang="en-US" sz="5500" b="1" dirty="0"/>
              <a:t>Thanks</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1420</Words>
  <Application>Microsoft Office PowerPoint</Application>
  <PresentationFormat>Widescreen</PresentationFormat>
  <Paragraphs>91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TH SarabunPSK</vt:lpstr>
      <vt:lpstr>Office Theme</vt:lpstr>
      <vt:lpstr>Chapter 9 Iterative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THACHA LAWANNA</cp:lastModifiedBy>
  <cp:revision>38</cp:revision>
  <dcterms:created xsi:type="dcterms:W3CDTF">2025-11-15T02:26:25Z</dcterms:created>
  <dcterms:modified xsi:type="dcterms:W3CDTF">2026-09-10T03:41:45Z</dcterms:modified>
</cp:coreProperties>
</file>