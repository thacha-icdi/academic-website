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70" r:id="rId5"/>
    <p:sldId id="271" r:id="rId6"/>
    <p:sldId id="258" r:id="rId7"/>
    <p:sldId id="272" r:id="rId8"/>
    <p:sldId id="259" r:id="rId9"/>
    <p:sldId id="260" r:id="rId10"/>
    <p:sldId id="261" r:id="rId11"/>
    <p:sldId id="262" r:id="rId12"/>
    <p:sldId id="263" r:id="rId13"/>
    <p:sldId id="264" r:id="rId14"/>
    <p:sldId id="265" r:id="rId15"/>
    <p:sldId id="266" r:id="rId16"/>
    <p:sldId id="267" r:id="rId17"/>
    <p:sldId id="268" r:id="rId18"/>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69" d="100"/>
          <a:sy n="69"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03/09/69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03/09/69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8 </a:t>
            </a:r>
            <a:r>
              <a:rPr lang="en-US" sz="8000" b="1" dirty="0">
                <a:effectLst/>
                <a:latin typeface="TH SarabunPSK" panose="020B0500040200020003" pitchFamily="34" charset="-34"/>
                <a:ea typeface="Calibri" panose="020F0502020204030204" pitchFamily="34" charset="0"/>
              </a:rPr>
              <a:t>User testing and feedback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evaluate the usability, effectiveness, and user satisfaction of the developed system by collecting structured feedback from representative users and analyzing their interaction behaviors to identify areas for improvement.</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33D073-FA8A-B084-4E9A-1110433B1FFB}"/>
              </a:ext>
            </a:extLst>
          </p:cNvPr>
          <p:cNvPicPr>
            <a:picLocks noChangeAspect="1"/>
          </p:cNvPicPr>
          <p:nvPr/>
        </p:nvPicPr>
        <p:blipFill>
          <a:blip r:embed="rId2"/>
          <a:stretch>
            <a:fillRect/>
          </a:stretch>
        </p:blipFill>
        <p:spPr>
          <a:xfrm>
            <a:off x="287344" y="242258"/>
            <a:ext cx="3743847" cy="5410955"/>
          </a:xfrm>
          <a:prstGeom prst="rect">
            <a:avLst/>
          </a:prstGeom>
          <a:ln>
            <a:solidFill>
              <a:schemeClr val="tx1"/>
            </a:solidFill>
          </a:ln>
        </p:spPr>
      </p:pic>
      <p:pic>
        <p:nvPicPr>
          <p:cNvPr id="7" name="Picture 6">
            <a:extLst>
              <a:ext uri="{FF2B5EF4-FFF2-40B4-BE49-F238E27FC236}">
                <a16:creationId xmlns:a16="http://schemas.microsoft.com/office/drawing/2014/main" id="{6000D383-5DE0-73B2-9203-13270D38B040}"/>
              </a:ext>
            </a:extLst>
          </p:cNvPr>
          <p:cNvPicPr>
            <a:picLocks noChangeAspect="1"/>
          </p:cNvPicPr>
          <p:nvPr/>
        </p:nvPicPr>
        <p:blipFill>
          <a:blip r:embed="rId3"/>
          <a:stretch>
            <a:fillRect/>
          </a:stretch>
        </p:blipFill>
        <p:spPr>
          <a:xfrm>
            <a:off x="4386024" y="1490392"/>
            <a:ext cx="3419952" cy="3877216"/>
          </a:xfrm>
          <a:prstGeom prst="rect">
            <a:avLst/>
          </a:prstGeom>
          <a:ln>
            <a:solidFill>
              <a:schemeClr val="tx1"/>
            </a:solidFill>
          </a:ln>
        </p:spPr>
      </p:pic>
      <p:pic>
        <p:nvPicPr>
          <p:cNvPr id="9" name="Picture 8">
            <a:extLst>
              <a:ext uri="{FF2B5EF4-FFF2-40B4-BE49-F238E27FC236}">
                <a16:creationId xmlns:a16="http://schemas.microsoft.com/office/drawing/2014/main" id="{CA995332-56F8-140A-930C-74747F94EBF0}"/>
              </a:ext>
            </a:extLst>
          </p:cNvPr>
          <p:cNvPicPr>
            <a:picLocks noChangeAspect="1"/>
          </p:cNvPicPr>
          <p:nvPr/>
        </p:nvPicPr>
        <p:blipFill>
          <a:blip r:embed="rId4"/>
          <a:stretch>
            <a:fillRect/>
          </a:stretch>
        </p:blipFill>
        <p:spPr>
          <a:xfrm>
            <a:off x="8338050" y="1490392"/>
            <a:ext cx="2657846" cy="3248478"/>
          </a:xfrm>
          <a:prstGeom prst="rect">
            <a:avLst/>
          </a:prstGeom>
          <a:ln>
            <a:solidFill>
              <a:schemeClr val="tx1"/>
            </a:solidFill>
          </a:ln>
        </p:spPr>
      </p:pic>
    </p:spTree>
    <p:extLst>
      <p:ext uri="{BB962C8B-B14F-4D97-AF65-F5344CB8AC3E}">
        <p14:creationId xmlns:p14="http://schemas.microsoft.com/office/powerpoint/2010/main" val="3359006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5CFF36-FD7D-9797-B57C-E0E6405F3B68}"/>
              </a:ext>
            </a:extLst>
          </p:cNvPr>
          <p:cNvPicPr>
            <a:picLocks noChangeAspect="1"/>
          </p:cNvPicPr>
          <p:nvPr/>
        </p:nvPicPr>
        <p:blipFill>
          <a:blip r:embed="rId2"/>
          <a:stretch>
            <a:fillRect/>
          </a:stretch>
        </p:blipFill>
        <p:spPr>
          <a:xfrm>
            <a:off x="514194" y="232069"/>
            <a:ext cx="2943636" cy="3448531"/>
          </a:xfrm>
          <a:prstGeom prst="rect">
            <a:avLst/>
          </a:prstGeom>
          <a:ln>
            <a:solidFill>
              <a:schemeClr val="tx1"/>
            </a:solidFill>
          </a:ln>
        </p:spPr>
      </p:pic>
      <p:pic>
        <p:nvPicPr>
          <p:cNvPr id="5" name="Picture 4">
            <a:extLst>
              <a:ext uri="{FF2B5EF4-FFF2-40B4-BE49-F238E27FC236}">
                <a16:creationId xmlns:a16="http://schemas.microsoft.com/office/drawing/2014/main" id="{4E37DC43-2C0A-BA7D-1FAB-0BF12267EE6B}"/>
              </a:ext>
            </a:extLst>
          </p:cNvPr>
          <p:cNvPicPr>
            <a:picLocks noChangeAspect="1"/>
          </p:cNvPicPr>
          <p:nvPr/>
        </p:nvPicPr>
        <p:blipFill>
          <a:blip r:embed="rId3"/>
          <a:stretch>
            <a:fillRect/>
          </a:stretch>
        </p:blipFill>
        <p:spPr>
          <a:xfrm>
            <a:off x="3618985" y="232069"/>
            <a:ext cx="3067478" cy="2686425"/>
          </a:xfrm>
          <a:prstGeom prst="rect">
            <a:avLst/>
          </a:prstGeom>
          <a:ln>
            <a:solidFill>
              <a:schemeClr val="tx1"/>
            </a:solidFill>
          </a:ln>
        </p:spPr>
      </p:pic>
      <p:pic>
        <p:nvPicPr>
          <p:cNvPr id="7" name="Picture 6">
            <a:extLst>
              <a:ext uri="{FF2B5EF4-FFF2-40B4-BE49-F238E27FC236}">
                <a16:creationId xmlns:a16="http://schemas.microsoft.com/office/drawing/2014/main" id="{BCE8082D-7C40-A337-EC8B-A337BD37C4A6}"/>
              </a:ext>
            </a:extLst>
          </p:cNvPr>
          <p:cNvPicPr>
            <a:picLocks noChangeAspect="1"/>
          </p:cNvPicPr>
          <p:nvPr/>
        </p:nvPicPr>
        <p:blipFill>
          <a:blip r:embed="rId4"/>
          <a:stretch>
            <a:fillRect/>
          </a:stretch>
        </p:blipFill>
        <p:spPr>
          <a:xfrm>
            <a:off x="6998441" y="232069"/>
            <a:ext cx="3258005" cy="2048161"/>
          </a:xfrm>
          <a:prstGeom prst="rect">
            <a:avLst/>
          </a:prstGeom>
          <a:ln>
            <a:solidFill>
              <a:schemeClr val="tx1"/>
            </a:solidFill>
          </a:ln>
        </p:spPr>
      </p:pic>
    </p:spTree>
    <p:extLst>
      <p:ext uri="{BB962C8B-B14F-4D97-AF65-F5344CB8AC3E}">
        <p14:creationId xmlns:p14="http://schemas.microsoft.com/office/powerpoint/2010/main" val="2733283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7C4540-8A2C-48BD-D362-D92C5640F89B}"/>
              </a:ext>
            </a:extLst>
          </p:cNvPr>
          <p:cNvPicPr>
            <a:picLocks noChangeAspect="1"/>
          </p:cNvPicPr>
          <p:nvPr/>
        </p:nvPicPr>
        <p:blipFill>
          <a:blip r:embed="rId2"/>
          <a:stretch>
            <a:fillRect/>
          </a:stretch>
        </p:blipFill>
        <p:spPr>
          <a:xfrm>
            <a:off x="672368" y="456843"/>
            <a:ext cx="2819794" cy="2248214"/>
          </a:xfrm>
          <a:prstGeom prst="rect">
            <a:avLst/>
          </a:prstGeom>
          <a:ln>
            <a:solidFill>
              <a:schemeClr val="tx1"/>
            </a:solidFill>
          </a:ln>
        </p:spPr>
      </p:pic>
      <p:pic>
        <p:nvPicPr>
          <p:cNvPr id="5" name="Picture 4">
            <a:extLst>
              <a:ext uri="{FF2B5EF4-FFF2-40B4-BE49-F238E27FC236}">
                <a16:creationId xmlns:a16="http://schemas.microsoft.com/office/drawing/2014/main" id="{8E88DC8B-804D-67C0-2303-CA8D55E5E3A0}"/>
              </a:ext>
            </a:extLst>
          </p:cNvPr>
          <p:cNvPicPr>
            <a:picLocks noChangeAspect="1"/>
          </p:cNvPicPr>
          <p:nvPr/>
        </p:nvPicPr>
        <p:blipFill>
          <a:blip r:embed="rId3"/>
          <a:stretch>
            <a:fillRect/>
          </a:stretch>
        </p:blipFill>
        <p:spPr>
          <a:xfrm>
            <a:off x="3665528" y="456843"/>
            <a:ext cx="2762636" cy="2076740"/>
          </a:xfrm>
          <a:prstGeom prst="rect">
            <a:avLst/>
          </a:prstGeom>
          <a:ln>
            <a:solidFill>
              <a:schemeClr val="tx1"/>
            </a:solidFill>
          </a:ln>
        </p:spPr>
      </p:pic>
    </p:spTree>
    <p:extLst>
      <p:ext uri="{BB962C8B-B14F-4D97-AF65-F5344CB8AC3E}">
        <p14:creationId xmlns:p14="http://schemas.microsoft.com/office/powerpoint/2010/main" val="2696520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393445" y="306494"/>
            <a:ext cx="11117974" cy="2677656"/>
          </a:xfrm>
          <a:prstGeom prst="rect">
            <a:avLst/>
          </a:prstGeom>
          <a:noFill/>
        </p:spPr>
        <p:txBody>
          <a:bodyPr wrap="square">
            <a:spAutoFit/>
          </a:bodyPr>
          <a:lstStyle/>
          <a:p>
            <a:pPr algn="just"/>
            <a:r>
              <a:rPr lang="en-US" b="1" dirty="0"/>
              <a:t>1. Usability Testing</a:t>
            </a:r>
          </a:p>
          <a:p>
            <a:pPr algn="just"/>
            <a:r>
              <a:rPr lang="en-US" dirty="0"/>
              <a:t>Usability testing evaluates </a:t>
            </a:r>
            <a:r>
              <a:rPr lang="en-US" u="sng" dirty="0"/>
              <a:t>how easily users can interact with a system</a:t>
            </a:r>
            <a:r>
              <a:rPr lang="en-US" dirty="0"/>
              <a:t>. Participants perform real tasks while observers identify usability problems such as confusing navigation, unclear instructions, or inefficient workflows. The results help improve system design, enhance user experience, and ensure the product meets user expectations before final deployment.</a:t>
            </a:r>
          </a:p>
        </p:txBody>
      </p:sp>
      <p:pic>
        <p:nvPicPr>
          <p:cNvPr id="2" name="Picture 1">
            <a:extLst>
              <a:ext uri="{FF2B5EF4-FFF2-40B4-BE49-F238E27FC236}">
                <a16:creationId xmlns:a16="http://schemas.microsoft.com/office/drawing/2014/main" id="{6924AE21-E70E-6772-165B-DCAD5841C156}"/>
              </a:ext>
            </a:extLst>
          </p:cNvPr>
          <p:cNvPicPr>
            <a:picLocks noChangeAspect="1"/>
          </p:cNvPicPr>
          <p:nvPr/>
        </p:nvPicPr>
        <p:blipFill>
          <a:blip r:embed="rId2"/>
          <a:stretch>
            <a:fillRect/>
          </a:stretch>
        </p:blipFill>
        <p:spPr>
          <a:xfrm>
            <a:off x="2261106" y="3073926"/>
            <a:ext cx="7462333" cy="3276770"/>
          </a:xfrm>
          <a:prstGeom prst="rect">
            <a:avLst/>
          </a:prstGeom>
        </p:spPr>
      </p:pic>
    </p:spTree>
    <p:extLst>
      <p:ext uri="{BB962C8B-B14F-4D97-AF65-F5344CB8AC3E}">
        <p14:creationId xmlns:p14="http://schemas.microsoft.com/office/powerpoint/2010/main" val="371260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sability Test Plan Template">
            <a:extLst>
              <a:ext uri="{FF2B5EF4-FFF2-40B4-BE49-F238E27FC236}">
                <a16:creationId xmlns:a16="http://schemas.microsoft.com/office/drawing/2014/main" id="{031B27C6-360D-BA95-2266-8B211C60653C}"/>
              </a:ext>
            </a:extLst>
          </p:cNvPr>
          <p:cNvPicPr>
            <a:picLocks noChangeAspect="1"/>
          </p:cNvPicPr>
          <p:nvPr/>
        </p:nvPicPr>
        <p:blipFill>
          <a:blip r:embed="rId2"/>
          <a:srcRect t="7306" b="8923"/>
          <a:stretch>
            <a:fillRect/>
          </a:stretch>
        </p:blipFill>
        <p:spPr>
          <a:xfrm>
            <a:off x="98430" y="0"/>
            <a:ext cx="6274659" cy="6733309"/>
          </a:xfrm>
          <a:prstGeom prst="rect">
            <a:avLst/>
          </a:prstGeom>
        </p:spPr>
      </p:pic>
      <p:sp>
        <p:nvSpPr>
          <p:cNvPr id="3" name="TextBox 2">
            <a:extLst>
              <a:ext uri="{FF2B5EF4-FFF2-40B4-BE49-F238E27FC236}">
                <a16:creationId xmlns:a16="http://schemas.microsoft.com/office/drawing/2014/main" id="{269BF149-67E8-2979-3BC4-294807E0C872}"/>
              </a:ext>
            </a:extLst>
          </p:cNvPr>
          <p:cNvSpPr txBox="1"/>
          <p:nvPr/>
        </p:nvSpPr>
        <p:spPr>
          <a:xfrm>
            <a:off x="7190509" y="512618"/>
            <a:ext cx="4336473" cy="954107"/>
          </a:xfrm>
          <a:prstGeom prst="rect">
            <a:avLst/>
          </a:prstGeom>
          <a:noFill/>
        </p:spPr>
        <p:txBody>
          <a:bodyPr wrap="square" rtlCol="0">
            <a:spAutoFit/>
          </a:bodyPr>
          <a:lstStyle/>
          <a:p>
            <a:r>
              <a:rPr lang="en-US" dirty="0"/>
              <a:t>Design usability test form for TikTok or Douyin</a:t>
            </a:r>
            <a:endParaRPr lang="th-TH" dirty="0"/>
          </a:p>
        </p:txBody>
      </p:sp>
      <p:pic>
        <p:nvPicPr>
          <p:cNvPr id="4" name="Picture 2" descr="Customer Satisfaction Survey Questions ...">
            <a:extLst>
              <a:ext uri="{FF2B5EF4-FFF2-40B4-BE49-F238E27FC236}">
                <a16:creationId xmlns:a16="http://schemas.microsoft.com/office/drawing/2014/main" id="{9450D52F-532A-458F-821D-EF82692A0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7802" y="3017687"/>
            <a:ext cx="5039180" cy="2726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665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368620" y="351575"/>
            <a:ext cx="11355741" cy="1785104"/>
          </a:xfrm>
          <a:prstGeom prst="rect">
            <a:avLst/>
          </a:prstGeom>
          <a:noFill/>
        </p:spPr>
        <p:txBody>
          <a:bodyPr wrap="square">
            <a:spAutoFit/>
          </a:bodyPr>
          <a:lstStyle/>
          <a:p>
            <a:pPr algn="just"/>
            <a:r>
              <a:rPr lang="en-US" sz="2200" b="1" dirty="0"/>
              <a:t>2. User Experience (UX) Evaluation</a:t>
            </a:r>
          </a:p>
          <a:p>
            <a:pPr algn="just"/>
            <a:r>
              <a:rPr lang="en-US" sz="2200" dirty="0"/>
              <a:t>UX evaluation examines how users feel when interacting with a system. It measures satisfaction, comfort, perceived usefulness, and emotional response. Methods include observation, interviews, and surveys. Understanding UX helps designers refine interfaces, reduce frustration, and create intuitive, enjoyable digital experiences that increase acceptance and long-term engagement.</a:t>
            </a:r>
          </a:p>
        </p:txBody>
      </p:sp>
      <p:pic>
        <p:nvPicPr>
          <p:cNvPr id="2" name="Picture 1">
            <a:extLst>
              <a:ext uri="{FF2B5EF4-FFF2-40B4-BE49-F238E27FC236}">
                <a16:creationId xmlns:a16="http://schemas.microsoft.com/office/drawing/2014/main" id="{A474385F-121F-5913-2698-E3208078FCEB}"/>
              </a:ext>
            </a:extLst>
          </p:cNvPr>
          <p:cNvPicPr>
            <a:picLocks noChangeAspect="1"/>
          </p:cNvPicPr>
          <p:nvPr/>
        </p:nvPicPr>
        <p:blipFill>
          <a:blip r:embed="rId2"/>
          <a:stretch>
            <a:fillRect/>
          </a:stretch>
        </p:blipFill>
        <p:spPr>
          <a:xfrm>
            <a:off x="723150" y="2638735"/>
            <a:ext cx="10745700" cy="3867690"/>
          </a:xfrm>
          <a:prstGeom prst="rect">
            <a:avLst/>
          </a:prstGeom>
        </p:spPr>
      </p:pic>
    </p:spTree>
    <p:extLst>
      <p:ext uri="{BB962C8B-B14F-4D97-AF65-F5344CB8AC3E}">
        <p14:creationId xmlns:p14="http://schemas.microsoft.com/office/powerpoint/2010/main" val="54594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704443" y="461808"/>
            <a:ext cx="5032478" cy="5693866"/>
          </a:xfrm>
          <a:prstGeom prst="rect">
            <a:avLst/>
          </a:prstGeom>
          <a:noFill/>
        </p:spPr>
        <p:txBody>
          <a:bodyPr wrap="square">
            <a:spAutoFit/>
          </a:bodyPr>
          <a:lstStyle/>
          <a:p>
            <a:pPr algn="just"/>
            <a:r>
              <a:rPr lang="en-US" b="1" dirty="0"/>
              <a:t>3. Heuristic Evaluation</a:t>
            </a:r>
          </a:p>
          <a:p>
            <a:pPr algn="just"/>
            <a:r>
              <a:rPr lang="en-US" dirty="0"/>
              <a:t>Heuristic evaluation involves </a:t>
            </a:r>
            <a:r>
              <a:rPr lang="en-US" u="sng" dirty="0"/>
              <a:t>experts reviewing a system using established usability principles</a:t>
            </a:r>
            <a:r>
              <a:rPr lang="en-US" dirty="0"/>
              <a:t>, such as Nielsen’s heuristics. It identifies issues related to consistency, visibility, error prevention, and user control. This method is fast, cost-effective, and highlights design flaws early, enabling teams to correct problems before conducting broader user testing.</a:t>
            </a:r>
          </a:p>
        </p:txBody>
      </p:sp>
      <p:pic>
        <p:nvPicPr>
          <p:cNvPr id="2" name="Picture 1">
            <a:extLst>
              <a:ext uri="{FF2B5EF4-FFF2-40B4-BE49-F238E27FC236}">
                <a16:creationId xmlns:a16="http://schemas.microsoft.com/office/drawing/2014/main" id="{D614138A-4252-F112-67F0-B0C89AF144EB}"/>
              </a:ext>
            </a:extLst>
          </p:cNvPr>
          <p:cNvPicPr>
            <a:picLocks noChangeAspect="1"/>
          </p:cNvPicPr>
          <p:nvPr/>
        </p:nvPicPr>
        <p:blipFill>
          <a:blip r:embed="rId2"/>
          <a:stretch>
            <a:fillRect/>
          </a:stretch>
        </p:blipFill>
        <p:spPr>
          <a:xfrm>
            <a:off x="5847932" y="372739"/>
            <a:ext cx="5982535" cy="3381847"/>
          </a:xfrm>
          <a:prstGeom prst="rect">
            <a:avLst/>
          </a:prstGeom>
        </p:spPr>
      </p:pic>
    </p:spTree>
    <p:extLst>
      <p:ext uri="{BB962C8B-B14F-4D97-AF65-F5344CB8AC3E}">
        <p14:creationId xmlns:p14="http://schemas.microsoft.com/office/powerpoint/2010/main" val="2342095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4032548" cy="4493538"/>
          </a:xfrm>
          <a:prstGeom prst="rect">
            <a:avLst/>
          </a:prstGeom>
          <a:noFill/>
        </p:spPr>
        <p:txBody>
          <a:bodyPr wrap="square">
            <a:spAutoFit/>
          </a:bodyPr>
          <a:lstStyle/>
          <a:p>
            <a:pPr algn="just"/>
            <a:r>
              <a:rPr lang="en-US" sz="2200" b="1" dirty="0"/>
              <a:t>4. Think-Aloud Protocol</a:t>
            </a:r>
          </a:p>
          <a:p>
            <a:pPr algn="just"/>
            <a:r>
              <a:rPr lang="en-US" sz="2200" dirty="0"/>
              <a:t>The think-aloud method asks users to verbalize their thoughts while performing tasks. Their comments reveal confusion, decision points, and expectations. This technique offers insight into cognitive processes and helps researchers understand user reasoning, enabling targeted improvements to interface structure, navigation flow, and overall system clarity.</a:t>
            </a:r>
          </a:p>
        </p:txBody>
      </p:sp>
      <p:pic>
        <p:nvPicPr>
          <p:cNvPr id="1026" name="Picture 2" descr="Ijgi 12 00095 g002">
            <a:extLst>
              <a:ext uri="{FF2B5EF4-FFF2-40B4-BE49-F238E27FC236}">
                <a16:creationId xmlns:a16="http://schemas.microsoft.com/office/drawing/2014/main" id="{9E690DE3-FDD9-E82B-81CB-589C60DA0A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2521" y="384304"/>
            <a:ext cx="6880131" cy="3640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9645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403818" y="411705"/>
            <a:ext cx="6093618" cy="4832092"/>
          </a:xfrm>
          <a:prstGeom prst="rect">
            <a:avLst/>
          </a:prstGeom>
          <a:noFill/>
        </p:spPr>
        <p:txBody>
          <a:bodyPr wrap="square">
            <a:spAutoFit/>
          </a:bodyPr>
          <a:lstStyle/>
          <a:p>
            <a:pPr algn="just"/>
            <a:r>
              <a:rPr lang="en-US" b="1" dirty="0"/>
              <a:t>5. A/B Testing</a:t>
            </a:r>
          </a:p>
          <a:p>
            <a:pPr algn="just"/>
            <a:r>
              <a:rPr lang="en-US" u="sng" dirty="0"/>
              <a:t>A/B testing compares two design versions to determine which performs better</a:t>
            </a:r>
            <a:r>
              <a:rPr lang="en-US" dirty="0"/>
              <a:t>. Users are randomly assigned to version A or B, and their behaviors are measured quantitatively. This approach helps identify subtle design differences that improve user engagement, task completion, and conversion rates, leading to evidence-based design decisions.</a:t>
            </a:r>
          </a:p>
        </p:txBody>
      </p:sp>
      <p:pic>
        <p:nvPicPr>
          <p:cNvPr id="2050" name="Picture 2" descr="B Testing in Machine Learning ...">
            <a:extLst>
              <a:ext uri="{FF2B5EF4-FFF2-40B4-BE49-F238E27FC236}">
                <a16:creationId xmlns:a16="http://schemas.microsoft.com/office/drawing/2014/main" id="{747B8A4A-FB83-B77E-DFFE-928FB9A17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9375" y="583634"/>
            <a:ext cx="4725924" cy="2845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41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378766" y="399178"/>
            <a:ext cx="6093618" cy="4832092"/>
          </a:xfrm>
          <a:prstGeom prst="rect">
            <a:avLst/>
          </a:prstGeom>
          <a:noFill/>
        </p:spPr>
        <p:txBody>
          <a:bodyPr wrap="square">
            <a:spAutoFit/>
          </a:bodyPr>
          <a:lstStyle/>
          <a:p>
            <a:pPr algn="just"/>
            <a:r>
              <a:rPr lang="en-US" b="1" dirty="0"/>
              <a:t>6. User Satisfaction Surveys</a:t>
            </a:r>
          </a:p>
          <a:p>
            <a:pPr algn="just"/>
            <a:r>
              <a:rPr lang="en-US" dirty="0"/>
              <a:t>Surveys measure users’ perceived satisfaction with system features, usability, and overall experience. They use structured questions such as Likert scales to quantify feedback. Survey data provides actionable insights, highlights strengths and weaknesses, and helps teams prioritize improvements based on real user opinions rather than assumptions.</a:t>
            </a:r>
          </a:p>
        </p:txBody>
      </p:sp>
      <p:pic>
        <p:nvPicPr>
          <p:cNvPr id="3074" name="Picture 2" descr="Customer Satisfaction Survey Questions ...">
            <a:extLst>
              <a:ext uri="{FF2B5EF4-FFF2-40B4-BE49-F238E27FC236}">
                <a16:creationId xmlns:a16="http://schemas.microsoft.com/office/drawing/2014/main" id="{FC03CE52-CBEF-2D6A-E1D6-8EEFFD38E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025" y="399178"/>
            <a:ext cx="5039180" cy="2726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954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484169" y="123606"/>
            <a:ext cx="2500502" cy="6247864"/>
          </a:xfrm>
          <a:prstGeom prst="rect">
            <a:avLst/>
          </a:prstGeom>
          <a:noFill/>
        </p:spPr>
        <p:txBody>
          <a:bodyPr wrap="square">
            <a:spAutoFit/>
          </a:bodyPr>
          <a:lstStyle/>
          <a:p>
            <a:pPr algn="just"/>
            <a:r>
              <a:rPr lang="en-US" sz="2000" b="1" dirty="0"/>
              <a:t>7. Task Performance Analysis</a:t>
            </a:r>
          </a:p>
          <a:p>
            <a:pPr algn="just"/>
            <a:r>
              <a:rPr lang="en-US" sz="2000" dirty="0"/>
              <a:t>Task performance metrics—such as completion time, error rates, and success rates—reveal how efficiently users interact with a system. Analyzing these metrics shows which functions are easy or difficult. This data guides design refinements, improves workflow efficiency, and ensures that the system effectively supports user goals.</a:t>
            </a:r>
          </a:p>
        </p:txBody>
      </p:sp>
      <p:pic>
        <p:nvPicPr>
          <p:cNvPr id="2" name="Picture 1">
            <a:extLst>
              <a:ext uri="{FF2B5EF4-FFF2-40B4-BE49-F238E27FC236}">
                <a16:creationId xmlns:a16="http://schemas.microsoft.com/office/drawing/2014/main" id="{3CB9C4EB-724E-D803-EBE0-920E7177A9E3}"/>
              </a:ext>
            </a:extLst>
          </p:cNvPr>
          <p:cNvPicPr>
            <a:picLocks noChangeAspect="1"/>
          </p:cNvPicPr>
          <p:nvPr/>
        </p:nvPicPr>
        <p:blipFill>
          <a:blip r:embed="rId2"/>
          <a:stretch>
            <a:fillRect/>
          </a:stretch>
        </p:blipFill>
        <p:spPr>
          <a:xfrm>
            <a:off x="2984671" y="123606"/>
            <a:ext cx="9078592" cy="3734321"/>
          </a:xfrm>
          <a:prstGeom prst="rect">
            <a:avLst/>
          </a:prstGeom>
        </p:spPr>
      </p:pic>
    </p:spTree>
    <p:extLst>
      <p:ext uri="{BB962C8B-B14F-4D97-AF65-F5344CB8AC3E}">
        <p14:creationId xmlns:p14="http://schemas.microsoft.com/office/powerpoint/2010/main" val="18575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556512" y="491602"/>
            <a:ext cx="6093618" cy="4401205"/>
          </a:xfrm>
          <a:prstGeom prst="rect">
            <a:avLst/>
          </a:prstGeom>
          <a:noFill/>
        </p:spPr>
        <p:txBody>
          <a:bodyPr wrap="square">
            <a:spAutoFit/>
          </a:bodyPr>
          <a:lstStyle/>
          <a:p>
            <a:pPr algn="just"/>
            <a:r>
              <a:rPr lang="en-US" b="1" dirty="0"/>
              <a:t>8. Persona-Based Testing</a:t>
            </a:r>
          </a:p>
          <a:p>
            <a:pPr algn="just"/>
            <a:r>
              <a:rPr lang="en-US" dirty="0"/>
              <a:t>Persona-based testing uses fictional user profiles representing target audiences. </a:t>
            </a:r>
            <a:r>
              <a:rPr lang="en-US" u="sng" dirty="0"/>
              <a:t>Testers evaluate how well the system supports each persona’s goals, skills, and challenges</a:t>
            </a:r>
            <a:r>
              <a:rPr lang="en-US" dirty="0"/>
              <a:t>. This method ensures inclusiveness, helps identify overlooked user needs, and improves system accessibility and functionality across diverse user groups.</a:t>
            </a:r>
          </a:p>
        </p:txBody>
      </p:sp>
      <p:pic>
        <p:nvPicPr>
          <p:cNvPr id="4098" name="Picture 2" descr="What Is Persona Testing? &amp; How To ...">
            <a:extLst>
              <a:ext uri="{FF2B5EF4-FFF2-40B4-BE49-F238E27FC236}">
                <a16:creationId xmlns:a16="http://schemas.microsoft.com/office/drawing/2014/main" id="{48A512EA-BEB4-5CB8-9029-0DFBAEB228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5246" y="811387"/>
            <a:ext cx="4031337" cy="2119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813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491500" y="391654"/>
            <a:ext cx="6093618" cy="4832092"/>
          </a:xfrm>
          <a:prstGeom prst="rect">
            <a:avLst/>
          </a:prstGeom>
          <a:noFill/>
        </p:spPr>
        <p:txBody>
          <a:bodyPr wrap="square">
            <a:spAutoFit/>
          </a:bodyPr>
          <a:lstStyle/>
          <a:p>
            <a:pPr algn="just"/>
            <a:r>
              <a:rPr lang="en-US" b="1" dirty="0"/>
              <a:t>9. Feedback Loop Integration</a:t>
            </a:r>
          </a:p>
          <a:p>
            <a:pPr algn="just"/>
            <a:r>
              <a:rPr lang="en-US" dirty="0"/>
              <a:t>Feedback loops involve </a:t>
            </a:r>
            <a:r>
              <a:rPr lang="en-US" u="sng" dirty="0"/>
              <a:t>collecting user comments continuously throughout the development cycle</a:t>
            </a:r>
            <a:r>
              <a:rPr lang="en-US" dirty="0"/>
              <a:t>. Repeated testing and refinement ensure that improvements align with real user needs. Integrating feedback loops supports iterative design, reduces long-term development costs, and strengthens the final product’s relevance and usability.</a:t>
            </a:r>
          </a:p>
        </p:txBody>
      </p:sp>
      <p:pic>
        <p:nvPicPr>
          <p:cNvPr id="5122" name="Picture 2" descr="Feedback Loops in Training Program ...">
            <a:extLst>
              <a:ext uri="{FF2B5EF4-FFF2-40B4-BE49-F238E27FC236}">
                <a16:creationId xmlns:a16="http://schemas.microsoft.com/office/drawing/2014/main" id="{4C7346CB-7304-64E3-97CD-684FC6EF5B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9548" y="628257"/>
            <a:ext cx="4613245" cy="2403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018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466448" y="361600"/>
            <a:ext cx="6093618" cy="4832092"/>
          </a:xfrm>
          <a:prstGeom prst="rect">
            <a:avLst/>
          </a:prstGeom>
          <a:noFill/>
        </p:spPr>
        <p:txBody>
          <a:bodyPr wrap="square">
            <a:spAutoFit/>
          </a:bodyPr>
          <a:lstStyle/>
          <a:p>
            <a:pPr algn="just"/>
            <a:r>
              <a:rPr lang="en-US" b="1" dirty="0"/>
              <a:t>10. Prototype Testing</a:t>
            </a:r>
          </a:p>
          <a:p>
            <a:pPr algn="just"/>
            <a:r>
              <a:rPr lang="en-US" dirty="0"/>
              <a:t>Prototype testing involves evaluating early versions of the system, from low-fidelity wireframes to high-fidelity clickable models. Users interact with prototypes to reveal early usability issues. This process enables fast corrections, improves concept validation, and ensures that the final product is built on validated design ideas.</a:t>
            </a:r>
          </a:p>
        </p:txBody>
      </p:sp>
      <p:pic>
        <p:nvPicPr>
          <p:cNvPr id="6146" name="Picture 2" descr="Prototype Testing: How To Test Your ...">
            <a:extLst>
              <a:ext uri="{FF2B5EF4-FFF2-40B4-BE49-F238E27FC236}">
                <a16:creationId xmlns:a16="http://schemas.microsoft.com/office/drawing/2014/main" id="{57DA66A7-12E7-8E11-CCBB-3135FE29D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9826" y="361600"/>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28 Great Prototype Testing Questions ...">
            <a:extLst>
              <a:ext uri="{FF2B5EF4-FFF2-40B4-BE49-F238E27FC236}">
                <a16:creationId xmlns:a16="http://schemas.microsoft.com/office/drawing/2014/main" id="{4F055477-66E8-EC16-26AB-0E11726FF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9826" y="2279605"/>
            <a:ext cx="2857500" cy="2140367"/>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rototype Testing: A Step-by-Step Guide">
            <a:extLst>
              <a:ext uri="{FF2B5EF4-FFF2-40B4-BE49-F238E27FC236}">
                <a16:creationId xmlns:a16="http://schemas.microsoft.com/office/drawing/2014/main" id="{49AD133D-0B8F-88E9-EC3C-3A1D6790D3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9825" y="4537814"/>
            <a:ext cx="2857499" cy="2004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9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9058C-5FCE-D2C6-5C0F-391B9001BDD3}"/>
              </a:ext>
            </a:extLst>
          </p:cNvPr>
          <p:cNvSpPr txBox="1"/>
          <p:nvPr/>
        </p:nvSpPr>
        <p:spPr>
          <a:xfrm>
            <a:off x="416489" y="389764"/>
            <a:ext cx="10844409" cy="1815882"/>
          </a:xfrm>
          <a:prstGeom prst="rect">
            <a:avLst/>
          </a:prstGeom>
          <a:noFill/>
        </p:spPr>
        <p:txBody>
          <a:bodyPr wrap="square">
            <a:spAutoFit/>
          </a:bodyPr>
          <a:lstStyle/>
          <a:p>
            <a:r>
              <a:rPr lang="en-US" b="1" dirty="0"/>
              <a:t>Question:</a:t>
            </a:r>
            <a:br>
              <a:rPr lang="en-US" dirty="0"/>
            </a:br>
            <a:r>
              <a:rPr lang="en-US" dirty="0"/>
              <a:t>Why is user testing and feedback essential in the design process, and how does it help improve usability, functionality, and user satisfaction in digital solutions?</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TotalTime>
  <Words>674</Words>
  <Application>Microsoft Office PowerPoint</Application>
  <PresentationFormat>Widescreen</PresentationFormat>
  <Paragraphs>26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TH SarabunPSK</vt:lpstr>
      <vt:lpstr>Office Theme</vt:lpstr>
      <vt:lpstr>Chapter 8 User testing and feedback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THACHA LAWANNA</cp:lastModifiedBy>
  <cp:revision>30</cp:revision>
  <dcterms:created xsi:type="dcterms:W3CDTF">2025-11-15T02:26:25Z</dcterms:created>
  <dcterms:modified xsi:type="dcterms:W3CDTF">2026-09-03T03:47:06Z</dcterms:modified>
</cp:coreProperties>
</file>