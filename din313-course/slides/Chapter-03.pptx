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89" r:id="rId6"/>
    <p:sldId id="260" r:id="rId7"/>
    <p:sldId id="261" r:id="rId8"/>
    <p:sldId id="262" r:id="rId9"/>
    <p:sldId id="288" r:id="rId10"/>
    <p:sldId id="263" r:id="rId11"/>
    <p:sldId id="264" r:id="rId12"/>
    <p:sldId id="265" r:id="rId13"/>
    <p:sldId id="290" r:id="rId14"/>
    <p:sldId id="266" r:id="rId15"/>
    <p:sldId id="267" r:id="rId16"/>
    <p:sldId id="268" r:id="rId17"/>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7" autoAdjust="0"/>
    <p:restoredTop sz="94660"/>
  </p:normalViewPr>
  <p:slideViewPr>
    <p:cSldViewPr snapToGrid="0">
      <p:cViewPr varScale="1">
        <p:scale>
          <a:sx n="90" d="100"/>
          <a:sy n="90" d="100"/>
        </p:scale>
        <p:origin x="38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19/07/69</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19/07/69</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19/07/69</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19/07/69</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19/07/69</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19/07/69</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19/07/69</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19/07/69</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19/07/69</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19/07/69</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19/07/69</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19/07/69</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524000" y="842964"/>
            <a:ext cx="9144000" cy="3500436"/>
          </a:xfrm>
        </p:spPr>
        <p:txBody>
          <a:bodyPr>
            <a:noAutofit/>
          </a:bodyPr>
          <a:lstStyle/>
          <a:p>
            <a:r>
              <a:rPr lang="en-US" sz="8000" b="1" dirty="0">
                <a:effectLst/>
                <a:latin typeface="TH SarabunPSK" panose="020B0500040200020003" pitchFamily="34" charset="-34"/>
                <a:ea typeface="Angsana New" panose="02020603050405020304" pitchFamily="18" charset="-34"/>
              </a:rPr>
              <a:t>Chapter </a:t>
            </a:r>
            <a:r>
              <a:rPr lang="en-US" sz="8000" b="1" dirty="0">
                <a:latin typeface="TH SarabunPSK" panose="020B0500040200020003" pitchFamily="34" charset="-34"/>
                <a:ea typeface="Angsana New" panose="02020603050405020304" pitchFamily="18" charset="-34"/>
              </a:rPr>
              <a:t>3</a:t>
            </a:r>
            <a:r>
              <a:rPr lang="en-US" sz="8000" b="1" dirty="0">
                <a:effectLst/>
                <a:latin typeface="TH SarabunPSK" panose="020B0500040200020003" pitchFamily="34" charset="-34"/>
                <a:ea typeface="Angsana New" panose="02020603050405020304" pitchFamily="18" charset="-34"/>
              </a:rPr>
              <a:t> </a:t>
            </a:r>
            <a:r>
              <a:rPr lang="en-US" sz="8000" b="1" dirty="0">
                <a:effectLst/>
                <a:latin typeface="TH SarabunPSK" panose="020B0500040200020003" pitchFamily="34" charset="-34"/>
                <a:ea typeface="Calibri" panose="020F0502020204030204" pitchFamily="34" charset="0"/>
              </a:rPr>
              <a:t>Business Goals and Challenges </a:t>
            </a:r>
            <a:endParaRPr lang="th-TH" sz="8000" b="1"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4473576"/>
            <a:ext cx="9144000" cy="1655762"/>
          </a:xfrm>
        </p:spPr>
        <p:txBody>
          <a:bodyPr/>
          <a:lstStyle/>
          <a:p>
            <a:r>
              <a:rPr lang="en-US" dirty="0"/>
              <a:t>Assoc. Prof. Dr. </a:t>
            </a:r>
            <a:r>
              <a:rPr lang="en-US" dirty="0" err="1"/>
              <a:t>Thacha</a:t>
            </a:r>
            <a:r>
              <a:rPr lang="en-US" dirty="0"/>
              <a:t> Lawanna</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246769"/>
          </a:xfrm>
          <a:prstGeom prst="rect">
            <a:avLst/>
          </a:prstGeom>
          <a:solidFill>
            <a:schemeClr val="bg1">
              <a:lumMod val="95000"/>
            </a:schemeClr>
          </a:solidFill>
        </p:spPr>
        <p:txBody>
          <a:bodyPr wrap="square">
            <a:spAutoFit/>
          </a:bodyPr>
          <a:lstStyle/>
          <a:p>
            <a:pPr algn="just"/>
            <a:r>
              <a:rPr lang="en-US" b="1" dirty="0"/>
              <a:t>Objective of the Study:</a:t>
            </a:r>
          </a:p>
          <a:p>
            <a:r>
              <a:rPr lang="en-US" dirty="0"/>
              <a:t>To analyze how business goals align with organizational challenges in order to identify critical factors that influence strategic decision-making and propose frameworks that enhance overall business performance and competitiveness.</a:t>
            </a:r>
          </a:p>
        </p:txBody>
      </p:sp>
    </p:spTree>
    <p:extLst>
      <p:ext uri="{BB962C8B-B14F-4D97-AF65-F5344CB8AC3E}">
        <p14:creationId xmlns:p14="http://schemas.microsoft.com/office/powerpoint/2010/main" val="1731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553808" y="507639"/>
            <a:ext cx="6093618" cy="4832092"/>
          </a:xfrm>
          <a:prstGeom prst="rect">
            <a:avLst/>
          </a:prstGeom>
          <a:noFill/>
          <a:ln>
            <a:solidFill>
              <a:schemeClr val="tx1"/>
            </a:solidFill>
          </a:ln>
        </p:spPr>
        <p:txBody>
          <a:bodyPr wrap="square">
            <a:spAutoFit/>
          </a:bodyPr>
          <a:lstStyle/>
          <a:p>
            <a:pPr algn="just"/>
            <a:r>
              <a:rPr lang="en-US" b="1" dirty="0"/>
              <a:t>1. Strategic Goal Alignment</a:t>
            </a:r>
          </a:p>
          <a:p>
            <a:pPr algn="just"/>
            <a:r>
              <a:rPr lang="en-US" dirty="0"/>
              <a:t>Understanding how </a:t>
            </a:r>
            <a:r>
              <a:rPr lang="en-US" dirty="0">
                <a:solidFill>
                  <a:srgbClr val="FF0000"/>
                </a:solidFill>
              </a:rPr>
              <a:t>organizational goals (?) align with long-term strategies (?) </a:t>
            </a:r>
            <a:r>
              <a:rPr lang="en-US" dirty="0"/>
              <a:t>ensures that all departments move in the same direction. When alignment is strong, companies optimize resources, improve coordination, and reduce conflicting priorities. This knowledge helps managers design measurable objectives that support sustainable growth and competitive advantage.</a:t>
            </a:r>
          </a:p>
        </p:txBody>
      </p:sp>
      <p:pic>
        <p:nvPicPr>
          <p:cNvPr id="1026" name="Picture 2" descr="Mastering Strategic Goal Setting - SM ...">
            <a:extLst>
              <a:ext uri="{FF2B5EF4-FFF2-40B4-BE49-F238E27FC236}">
                <a16:creationId xmlns:a16="http://schemas.microsoft.com/office/drawing/2014/main" id="{70B75C12-A354-6392-A4ED-D6FC188CDE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8013" y="507639"/>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rategic Goal Setting in 2025 [Guide + ...">
            <a:extLst>
              <a:ext uri="{FF2B5EF4-FFF2-40B4-BE49-F238E27FC236}">
                <a16:creationId xmlns:a16="http://schemas.microsoft.com/office/drawing/2014/main" id="{499348CD-02C3-0521-44BF-59D9FF775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8013" y="2462213"/>
            <a:ext cx="3639230" cy="2978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60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370313" y="271951"/>
            <a:ext cx="4854830" cy="6555641"/>
          </a:xfrm>
          <a:prstGeom prst="rect">
            <a:avLst/>
          </a:prstGeom>
          <a:noFill/>
          <a:ln>
            <a:solidFill>
              <a:schemeClr val="tx1"/>
            </a:solidFill>
          </a:ln>
        </p:spPr>
        <p:txBody>
          <a:bodyPr wrap="square">
            <a:spAutoFit/>
          </a:bodyPr>
          <a:lstStyle/>
          <a:p>
            <a:pPr algn="just"/>
            <a:r>
              <a:rPr lang="en-US" b="1" dirty="0"/>
              <a:t>2. Market Opportunity Analysis</a:t>
            </a:r>
          </a:p>
          <a:p>
            <a:pPr algn="just"/>
            <a:r>
              <a:rPr lang="en-US" dirty="0"/>
              <a:t>Identifying and evaluating </a:t>
            </a:r>
            <a:r>
              <a:rPr lang="en-US" dirty="0">
                <a:solidFill>
                  <a:srgbClr val="FF0000"/>
                </a:solidFill>
              </a:rPr>
              <a:t>market opportunities (?)</a:t>
            </a:r>
            <a:r>
              <a:rPr lang="en-US" dirty="0"/>
              <a:t> helps businesses understand emerging trends, </a:t>
            </a:r>
            <a:r>
              <a:rPr lang="en-US" dirty="0">
                <a:solidFill>
                  <a:srgbClr val="FF0000"/>
                </a:solidFill>
              </a:rPr>
              <a:t>customer needs (?)</a:t>
            </a:r>
            <a:r>
              <a:rPr lang="en-US" dirty="0"/>
              <a:t>, and competitive gaps. This knowledge enables organizations to forecast demand, prioritize high-value segments, and develop strategies that capture new revenue streams. It is essential for reducing uncertainty and guiding effective business expansion.</a:t>
            </a:r>
          </a:p>
        </p:txBody>
      </p:sp>
      <p:pic>
        <p:nvPicPr>
          <p:cNvPr id="2050" name="Picture 2" descr="How to Assess Potential Opportunities ...">
            <a:extLst>
              <a:ext uri="{FF2B5EF4-FFF2-40B4-BE49-F238E27FC236}">
                <a16:creationId xmlns:a16="http://schemas.microsoft.com/office/drawing/2014/main" id="{148A6C11-7633-F53F-8F7C-92D1096721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5721" y="271951"/>
            <a:ext cx="2962275" cy="15430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arket Opportunity: เวกเตอร์สต็อก ...">
            <a:extLst>
              <a:ext uri="{FF2B5EF4-FFF2-40B4-BE49-F238E27FC236}">
                <a16:creationId xmlns:a16="http://schemas.microsoft.com/office/drawing/2014/main" id="{F374068B-1AAD-64D4-B2EB-9D4A208D1D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8574" y="272360"/>
            <a:ext cx="2962275" cy="232083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arket Opportunities for Your Business">
            <a:extLst>
              <a:ext uri="{FF2B5EF4-FFF2-40B4-BE49-F238E27FC236}">
                <a16:creationId xmlns:a16="http://schemas.microsoft.com/office/drawing/2014/main" id="{F382758B-41F7-1B40-7250-FA585BE8FC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711595"/>
            <a:ext cx="5343012" cy="3329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5943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F2C91-F5F7-4CF9-ACF6-2ED047030EFA}"/>
              </a:ext>
            </a:extLst>
          </p:cNvPr>
          <p:cNvSpPr txBox="1"/>
          <p:nvPr/>
        </p:nvSpPr>
        <p:spPr>
          <a:xfrm>
            <a:off x="467073" y="760501"/>
            <a:ext cx="10592686" cy="523220"/>
          </a:xfrm>
          <a:prstGeom prst="rect">
            <a:avLst/>
          </a:prstGeom>
          <a:noFill/>
          <a:ln>
            <a:solidFill>
              <a:schemeClr val="tx1"/>
            </a:solidFill>
          </a:ln>
        </p:spPr>
        <p:txBody>
          <a:bodyPr wrap="square">
            <a:spAutoFit/>
          </a:bodyPr>
          <a:lstStyle/>
          <a:p>
            <a:r>
              <a:rPr lang="en-US" dirty="0"/>
              <a:t>Identify and evaluate </a:t>
            </a:r>
            <a:r>
              <a:rPr lang="en-US" dirty="0">
                <a:solidFill>
                  <a:srgbClr val="FF0000"/>
                </a:solidFill>
              </a:rPr>
              <a:t>market opportunities of </a:t>
            </a:r>
            <a:r>
              <a:rPr lang="en-US" dirty="0" err="1">
                <a:solidFill>
                  <a:srgbClr val="FF0000"/>
                </a:solidFill>
              </a:rPr>
              <a:t>ChatGPT</a:t>
            </a:r>
            <a:r>
              <a:rPr lang="en-US" dirty="0">
                <a:solidFill>
                  <a:srgbClr val="FF0000"/>
                </a:solidFill>
              </a:rPr>
              <a:t> </a:t>
            </a:r>
            <a:endParaRPr lang="th-TH" dirty="0"/>
          </a:p>
        </p:txBody>
      </p:sp>
      <p:pic>
        <p:nvPicPr>
          <p:cNvPr id="3074" name="Picture 2">
            <a:extLst>
              <a:ext uri="{FF2B5EF4-FFF2-40B4-BE49-F238E27FC236}">
                <a16:creationId xmlns:a16="http://schemas.microsoft.com/office/drawing/2014/main" id="{BDE4C53A-06EB-98A2-1D6B-FC87E3EE60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524" y="1832562"/>
            <a:ext cx="5302476" cy="386610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Number Of ChatGPT Users In 2025: Stats ...">
            <a:extLst>
              <a:ext uri="{FF2B5EF4-FFF2-40B4-BE49-F238E27FC236}">
                <a16:creationId xmlns:a16="http://schemas.microsoft.com/office/drawing/2014/main" id="{94117A8E-0CC9-DDFE-5181-EEF415C2CC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9939" y="1832562"/>
            <a:ext cx="4205248" cy="2102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265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463098" y="491959"/>
            <a:ext cx="6093618" cy="5262979"/>
          </a:xfrm>
          <a:prstGeom prst="rect">
            <a:avLst/>
          </a:prstGeom>
          <a:noFill/>
          <a:ln>
            <a:solidFill>
              <a:schemeClr val="tx1"/>
            </a:solidFill>
          </a:ln>
        </p:spPr>
        <p:txBody>
          <a:bodyPr wrap="square">
            <a:spAutoFit/>
          </a:bodyPr>
          <a:lstStyle/>
          <a:p>
            <a:pPr algn="just"/>
            <a:r>
              <a:rPr lang="en-US" b="1" dirty="0"/>
              <a:t>3. Operational Efficiency Improvement</a:t>
            </a:r>
          </a:p>
          <a:p>
            <a:pPr algn="just"/>
            <a:r>
              <a:rPr lang="en-US" dirty="0"/>
              <a:t>Organizations must continuously refine processes to </a:t>
            </a:r>
            <a:r>
              <a:rPr lang="en-US" dirty="0">
                <a:solidFill>
                  <a:srgbClr val="FF0000"/>
                </a:solidFill>
              </a:rPr>
              <a:t>reduce costs, minimize waste, and improve productivity&gt;&gt;&gt;?</a:t>
            </a:r>
            <a:r>
              <a:rPr lang="en-US" dirty="0"/>
              <a:t>. Knowledge of operational efficiency includes workflow redesign, automation, and performance measurement. It helps companies deliver products or services faster, maintain quality, and allocate resources effectively, especially under competitive or resource-constrained environments.</a:t>
            </a:r>
          </a:p>
        </p:txBody>
      </p:sp>
    </p:spTree>
    <p:extLst>
      <p:ext uri="{BB962C8B-B14F-4D97-AF65-F5344CB8AC3E}">
        <p14:creationId xmlns:p14="http://schemas.microsoft.com/office/powerpoint/2010/main" val="2342095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489348" y="384304"/>
            <a:ext cx="6093618" cy="5262979"/>
          </a:xfrm>
          <a:prstGeom prst="rect">
            <a:avLst/>
          </a:prstGeom>
          <a:noFill/>
          <a:ln>
            <a:solidFill>
              <a:schemeClr val="tx1"/>
            </a:solidFill>
          </a:ln>
        </p:spPr>
        <p:txBody>
          <a:bodyPr wrap="square">
            <a:spAutoFit/>
          </a:bodyPr>
          <a:lstStyle/>
          <a:p>
            <a:pPr algn="just"/>
            <a:r>
              <a:rPr lang="en-US" b="1" dirty="0"/>
              <a:t>4. Risk Management and Mitigation</a:t>
            </a:r>
          </a:p>
          <a:p>
            <a:pPr algn="just"/>
            <a:r>
              <a:rPr lang="en-US" dirty="0"/>
              <a:t>Businesses face various risks such as </a:t>
            </a:r>
            <a:r>
              <a:rPr lang="en-US" dirty="0">
                <a:solidFill>
                  <a:srgbClr val="FF0000"/>
                </a:solidFill>
              </a:rPr>
              <a:t>financial instability (?)</a:t>
            </a:r>
            <a:r>
              <a:rPr lang="en-US" dirty="0"/>
              <a:t>, market volatility, regulatory changes, and operational disruptions. Understanding risk management helps organizations identify vulnerabilities, evaluate potential impacts, and design mitigation strategies. This ensures business continuity, protects assets, and strengthens resilience against unexpected challenges.</a:t>
            </a:r>
          </a:p>
        </p:txBody>
      </p:sp>
    </p:spTree>
    <p:extLst>
      <p:ext uri="{BB962C8B-B14F-4D97-AF65-F5344CB8AC3E}">
        <p14:creationId xmlns:p14="http://schemas.microsoft.com/office/powerpoint/2010/main" val="1079645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771443" y="460061"/>
            <a:ext cx="6093618" cy="4401205"/>
          </a:xfrm>
          <a:prstGeom prst="rect">
            <a:avLst/>
          </a:prstGeom>
          <a:noFill/>
          <a:ln>
            <a:solidFill>
              <a:schemeClr val="tx1"/>
            </a:solidFill>
          </a:ln>
        </p:spPr>
        <p:txBody>
          <a:bodyPr wrap="square">
            <a:spAutoFit/>
          </a:bodyPr>
          <a:lstStyle/>
          <a:p>
            <a:pPr algn="just"/>
            <a:r>
              <a:rPr lang="en-US" b="1" dirty="0"/>
              <a:t>5. Customer Value Proposition</a:t>
            </a:r>
          </a:p>
          <a:p>
            <a:pPr algn="just"/>
            <a:r>
              <a:rPr lang="en-US" dirty="0"/>
              <a:t>A strong value proposition clarifies </a:t>
            </a:r>
            <a:r>
              <a:rPr lang="en-US" dirty="0">
                <a:solidFill>
                  <a:srgbClr val="FF0000"/>
                </a:solidFill>
              </a:rPr>
              <a:t>why customers should choose a product or service</a:t>
            </a:r>
            <a:r>
              <a:rPr lang="en-US" dirty="0"/>
              <a:t>. Knowledge of customer expectations, preferences, and pain points helps businesses refine offerings and differentiate from competitors. It supports customer loyalty, drives sales growth, and ensures long-term market relevance.</a:t>
            </a:r>
          </a:p>
        </p:txBody>
      </p:sp>
    </p:spTree>
    <p:extLst>
      <p:ext uri="{BB962C8B-B14F-4D97-AF65-F5344CB8AC3E}">
        <p14:creationId xmlns:p14="http://schemas.microsoft.com/office/powerpoint/2010/main" val="2901413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804147-87B8-4FDB-9D74-0B1A834D9A7B}"/>
              </a:ext>
            </a:extLst>
          </p:cNvPr>
          <p:cNvSpPr txBox="1"/>
          <p:nvPr/>
        </p:nvSpPr>
        <p:spPr>
          <a:xfrm>
            <a:off x="353089" y="2579809"/>
            <a:ext cx="11485822" cy="523220"/>
          </a:xfrm>
          <a:prstGeom prst="rect">
            <a:avLst/>
          </a:prstGeom>
          <a:noFill/>
          <a:ln>
            <a:solidFill>
              <a:schemeClr val="tx1"/>
            </a:solidFill>
          </a:ln>
        </p:spPr>
        <p:txBody>
          <a:bodyPr wrap="square">
            <a:spAutoFit/>
          </a:bodyPr>
          <a:lstStyle/>
          <a:p>
            <a:r>
              <a:rPr lang="en-US" dirty="0"/>
              <a:t>Why customers should choose good product or service? Give 4 core activities</a:t>
            </a:r>
            <a:endParaRPr lang="th-TH" dirty="0"/>
          </a:p>
        </p:txBody>
      </p:sp>
    </p:spTree>
    <p:extLst>
      <p:ext uri="{BB962C8B-B14F-4D97-AF65-F5344CB8AC3E}">
        <p14:creationId xmlns:p14="http://schemas.microsoft.com/office/powerpoint/2010/main" val="3504098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29F58-E6C4-465C-8BD4-906BE64AC4FA}"/>
              </a:ext>
            </a:extLst>
          </p:cNvPr>
          <p:cNvSpPr txBox="1"/>
          <p:nvPr/>
        </p:nvSpPr>
        <p:spPr>
          <a:xfrm>
            <a:off x="452466" y="366623"/>
            <a:ext cx="5002036" cy="6124754"/>
          </a:xfrm>
          <a:prstGeom prst="rect">
            <a:avLst/>
          </a:prstGeom>
          <a:noFill/>
          <a:ln>
            <a:solidFill>
              <a:schemeClr val="tx1"/>
            </a:solidFill>
          </a:ln>
        </p:spPr>
        <p:txBody>
          <a:bodyPr wrap="square">
            <a:spAutoFit/>
          </a:bodyPr>
          <a:lstStyle/>
          <a:p>
            <a:pPr algn="just"/>
            <a:r>
              <a:rPr lang="en-US" b="1" dirty="0"/>
              <a:t>6. Competitive Landscape Assessment</a:t>
            </a:r>
          </a:p>
          <a:p>
            <a:pPr algn="just"/>
            <a:r>
              <a:rPr lang="en-US" dirty="0">
                <a:solidFill>
                  <a:srgbClr val="FF0000"/>
                </a:solidFill>
              </a:rPr>
              <a:t>Analyzing competitors (?) </a:t>
            </a:r>
            <a:r>
              <a:rPr lang="en-US" dirty="0"/>
              <a:t>allows businesses to understand strategic positions, strengths, weaknesses, and market behavior. This knowledge guides decision-making related to pricing, marketing, innovation, and positioning. It enables organizations to anticipate competitor moves and adapt strategies to maintain or enhance market share.</a:t>
            </a:r>
          </a:p>
        </p:txBody>
      </p:sp>
      <p:sp>
        <p:nvSpPr>
          <p:cNvPr id="2" name="AutoShape 2" descr="Competitive analysis">
            <a:extLst>
              <a:ext uri="{FF2B5EF4-FFF2-40B4-BE49-F238E27FC236}">
                <a16:creationId xmlns:a16="http://schemas.microsoft.com/office/drawing/2014/main" id="{E61D61DC-E314-4F9B-A87E-25A1370EB9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h-TH"/>
          </a:p>
        </p:txBody>
      </p:sp>
      <p:pic>
        <p:nvPicPr>
          <p:cNvPr id="4" name="Picture 3">
            <a:extLst>
              <a:ext uri="{FF2B5EF4-FFF2-40B4-BE49-F238E27FC236}">
                <a16:creationId xmlns:a16="http://schemas.microsoft.com/office/drawing/2014/main" id="{05B649C1-27AE-41A4-9D03-600269DD78B5}"/>
              </a:ext>
            </a:extLst>
          </p:cNvPr>
          <p:cNvPicPr>
            <a:picLocks noChangeAspect="1"/>
          </p:cNvPicPr>
          <p:nvPr/>
        </p:nvPicPr>
        <p:blipFill>
          <a:blip r:embed="rId2"/>
          <a:stretch>
            <a:fillRect/>
          </a:stretch>
        </p:blipFill>
        <p:spPr>
          <a:xfrm>
            <a:off x="5943600" y="366624"/>
            <a:ext cx="4859079" cy="2953558"/>
          </a:xfrm>
          <a:prstGeom prst="rect">
            <a:avLst/>
          </a:prstGeom>
        </p:spPr>
      </p:pic>
      <p:pic>
        <p:nvPicPr>
          <p:cNvPr id="6" name="Picture 5">
            <a:extLst>
              <a:ext uri="{FF2B5EF4-FFF2-40B4-BE49-F238E27FC236}">
                <a16:creationId xmlns:a16="http://schemas.microsoft.com/office/drawing/2014/main" id="{95E2493F-5C2F-4D45-9489-3A405D838711}"/>
              </a:ext>
            </a:extLst>
          </p:cNvPr>
          <p:cNvPicPr>
            <a:picLocks noChangeAspect="1"/>
          </p:cNvPicPr>
          <p:nvPr/>
        </p:nvPicPr>
        <p:blipFill>
          <a:blip r:embed="rId3"/>
          <a:stretch>
            <a:fillRect/>
          </a:stretch>
        </p:blipFill>
        <p:spPr>
          <a:xfrm>
            <a:off x="5943600" y="3537819"/>
            <a:ext cx="5002036" cy="2890225"/>
          </a:xfrm>
          <a:prstGeom prst="rect">
            <a:avLst/>
          </a:prstGeom>
        </p:spPr>
      </p:pic>
    </p:spTree>
    <p:extLst>
      <p:ext uri="{BB962C8B-B14F-4D97-AF65-F5344CB8AC3E}">
        <p14:creationId xmlns:p14="http://schemas.microsoft.com/office/powerpoint/2010/main" val="3687954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DDFAB-BCD1-48AE-B4EB-5C562CA462C3}"/>
              </a:ext>
            </a:extLst>
          </p:cNvPr>
          <p:cNvSpPr txBox="1"/>
          <p:nvPr/>
        </p:nvSpPr>
        <p:spPr>
          <a:xfrm>
            <a:off x="717282" y="662080"/>
            <a:ext cx="6093618" cy="4832092"/>
          </a:xfrm>
          <a:prstGeom prst="rect">
            <a:avLst/>
          </a:prstGeom>
          <a:noFill/>
          <a:ln>
            <a:solidFill>
              <a:schemeClr val="tx1"/>
            </a:solidFill>
          </a:ln>
        </p:spPr>
        <p:txBody>
          <a:bodyPr wrap="square">
            <a:spAutoFit/>
          </a:bodyPr>
          <a:lstStyle/>
          <a:p>
            <a:pPr algn="just"/>
            <a:r>
              <a:rPr lang="en-US" b="1" dirty="0"/>
              <a:t>7. Organizational Resource Allocation</a:t>
            </a:r>
          </a:p>
          <a:p>
            <a:pPr algn="just"/>
            <a:r>
              <a:rPr lang="en-US" dirty="0"/>
              <a:t>Effective allocation of </a:t>
            </a:r>
            <a:r>
              <a:rPr lang="en-US" dirty="0">
                <a:solidFill>
                  <a:srgbClr val="FF0000"/>
                </a:solidFill>
              </a:rPr>
              <a:t>financial, human, and technological</a:t>
            </a:r>
            <a:r>
              <a:rPr lang="en-US" dirty="0"/>
              <a:t> resources ensures that </a:t>
            </a:r>
            <a:r>
              <a:rPr lang="en-US" u="sng" dirty="0"/>
              <a:t>strategic priorities </a:t>
            </a:r>
            <a:r>
              <a:rPr lang="en-US" dirty="0"/>
              <a:t>receive adequate support. Understanding resource planning helps businesses maximize return on investment and avoid overextension. It also enables management to adjust quickly to changing market conditions and internal demands.</a:t>
            </a:r>
          </a:p>
        </p:txBody>
      </p:sp>
      <p:pic>
        <p:nvPicPr>
          <p:cNvPr id="2" name="Picture 1">
            <a:extLst>
              <a:ext uri="{FF2B5EF4-FFF2-40B4-BE49-F238E27FC236}">
                <a16:creationId xmlns:a16="http://schemas.microsoft.com/office/drawing/2014/main" id="{7CC3F827-F902-4CB9-817A-B21DA0F04CA1}"/>
              </a:ext>
            </a:extLst>
          </p:cNvPr>
          <p:cNvPicPr>
            <a:picLocks noChangeAspect="1"/>
          </p:cNvPicPr>
          <p:nvPr/>
        </p:nvPicPr>
        <p:blipFill>
          <a:blip r:embed="rId2"/>
          <a:stretch>
            <a:fillRect/>
          </a:stretch>
        </p:blipFill>
        <p:spPr>
          <a:xfrm>
            <a:off x="7299932" y="662080"/>
            <a:ext cx="3935605" cy="3197679"/>
          </a:xfrm>
          <a:prstGeom prst="rect">
            <a:avLst/>
          </a:prstGeom>
        </p:spPr>
      </p:pic>
      <p:pic>
        <p:nvPicPr>
          <p:cNvPr id="2050" name="Picture 2" descr="SWOT: Strengths, Weaknesses ...">
            <a:extLst>
              <a:ext uri="{FF2B5EF4-FFF2-40B4-BE49-F238E27FC236}">
                <a16:creationId xmlns:a16="http://schemas.microsoft.com/office/drawing/2014/main" id="{4A164F63-4E50-40BA-A595-FD8596758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6161" y="4148045"/>
            <a:ext cx="2228850" cy="20478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8676999-3A19-49DF-96EC-7298B394049E}"/>
              </a:ext>
            </a:extLst>
          </p:cNvPr>
          <p:cNvSpPr txBox="1"/>
          <p:nvPr/>
        </p:nvSpPr>
        <p:spPr>
          <a:xfrm>
            <a:off x="7671521" y="6091343"/>
            <a:ext cx="3192426" cy="523220"/>
          </a:xfrm>
          <a:prstGeom prst="rect">
            <a:avLst/>
          </a:prstGeom>
          <a:noFill/>
        </p:spPr>
        <p:txBody>
          <a:bodyPr wrap="square">
            <a:spAutoFit/>
          </a:bodyPr>
          <a:lstStyle/>
          <a:p>
            <a:r>
              <a:rPr lang="en-US" dirty="0"/>
              <a:t>strategic priorities </a:t>
            </a:r>
            <a:endParaRPr lang="th-TH" dirty="0"/>
          </a:p>
        </p:txBody>
      </p:sp>
    </p:spTree>
    <p:extLst>
      <p:ext uri="{BB962C8B-B14F-4D97-AF65-F5344CB8AC3E}">
        <p14:creationId xmlns:p14="http://schemas.microsoft.com/office/powerpoint/2010/main" val="185755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A0F8A-4478-48E0-94C5-CA6249682BE5}"/>
              </a:ext>
            </a:extLst>
          </p:cNvPr>
          <p:cNvSpPr txBox="1"/>
          <p:nvPr/>
        </p:nvSpPr>
        <p:spPr>
          <a:xfrm>
            <a:off x="688763" y="520732"/>
            <a:ext cx="6093618" cy="4401205"/>
          </a:xfrm>
          <a:prstGeom prst="rect">
            <a:avLst/>
          </a:prstGeom>
          <a:noFill/>
          <a:ln>
            <a:solidFill>
              <a:schemeClr val="tx1"/>
            </a:solidFill>
          </a:ln>
        </p:spPr>
        <p:txBody>
          <a:bodyPr wrap="square">
            <a:spAutoFit/>
          </a:bodyPr>
          <a:lstStyle/>
          <a:p>
            <a:pPr algn="just"/>
            <a:r>
              <a:rPr lang="en-US" b="1" dirty="0"/>
              <a:t>8. Change Management Readiness</a:t>
            </a:r>
          </a:p>
          <a:p>
            <a:pPr algn="just"/>
            <a:r>
              <a:rPr lang="en-US" dirty="0">
                <a:solidFill>
                  <a:srgbClr val="FF0000"/>
                </a:solidFill>
              </a:rPr>
              <a:t>Organizations often face challenges when implementing new technology</a:t>
            </a:r>
            <a:r>
              <a:rPr lang="en-US" dirty="0"/>
              <a:t>, policies, or processes. Knowledge of change management helps leaders prepare employees, reduce resistance, and ensure smooth transitions. It contributes to organizational agility, employee satisfaction, and long-term success of transformation initiatives.</a:t>
            </a:r>
          </a:p>
        </p:txBody>
      </p:sp>
      <p:pic>
        <p:nvPicPr>
          <p:cNvPr id="3074" name="Picture 2" descr="What is Change Management? Definition ...">
            <a:extLst>
              <a:ext uri="{FF2B5EF4-FFF2-40B4-BE49-F238E27FC236}">
                <a16:creationId xmlns:a16="http://schemas.microsoft.com/office/drawing/2014/main" id="{1360CC56-C20E-4F6B-A044-04024FDBE3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2434" y="520732"/>
            <a:ext cx="2952750" cy="15430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hange management elements – PEX Network">
            <a:extLst>
              <a:ext uri="{FF2B5EF4-FFF2-40B4-BE49-F238E27FC236}">
                <a16:creationId xmlns:a16="http://schemas.microsoft.com/office/drawing/2014/main" id="{47B4FF4C-C063-4D4C-A12D-AFDF30D56C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2434" y="2590799"/>
            <a:ext cx="2952750" cy="1817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813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862586-8E9B-4E14-988F-0D30F276E1AC}"/>
              </a:ext>
            </a:extLst>
          </p:cNvPr>
          <p:cNvSpPr txBox="1"/>
          <p:nvPr/>
        </p:nvSpPr>
        <p:spPr>
          <a:xfrm>
            <a:off x="847945" y="1792998"/>
            <a:ext cx="10443831" cy="954107"/>
          </a:xfrm>
          <a:prstGeom prst="rect">
            <a:avLst/>
          </a:prstGeom>
          <a:noFill/>
          <a:ln>
            <a:solidFill>
              <a:schemeClr val="tx1"/>
            </a:solidFill>
          </a:ln>
        </p:spPr>
        <p:txBody>
          <a:bodyPr wrap="square">
            <a:spAutoFit/>
          </a:bodyPr>
          <a:lstStyle/>
          <a:p>
            <a:r>
              <a:rPr lang="en-US" dirty="0"/>
              <a:t>Organizations often face challenges when implementing new technology&gt;&gt;&gt; Explain it with 3 issues</a:t>
            </a:r>
            <a:endParaRPr lang="th-TH" dirty="0"/>
          </a:p>
        </p:txBody>
      </p:sp>
    </p:spTree>
    <p:extLst>
      <p:ext uri="{BB962C8B-B14F-4D97-AF65-F5344CB8AC3E}">
        <p14:creationId xmlns:p14="http://schemas.microsoft.com/office/powerpoint/2010/main" val="3478326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6D539-B42C-42D7-8C4E-19C6C9B5CD60}"/>
              </a:ext>
            </a:extLst>
          </p:cNvPr>
          <p:cNvSpPr txBox="1"/>
          <p:nvPr/>
        </p:nvSpPr>
        <p:spPr>
          <a:xfrm>
            <a:off x="638898" y="117693"/>
            <a:ext cx="3858674" cy="6001643"/>
          </a:xfrm>
          <a:prstGeom prst="rect">
            <a:avLst/>
          </a:prstGeom>
          <a:noFill/>
          <a:ln>
            <a:solidFill>
              <a:schemeClr val="tx1"/>
            </a:solidFill>
          </a:ln>
        </p:spPr>
        <p:txBody>
          <a:bodyPr wrap="square">
            <a:spAutoFit/>
          </a:bodyPr>
          <a:lstStyle/>
          <a:p>
            <a:pPr algn="just"/>
            <a:r>
              <a:rPr lang="en-US" sz="2400" b="1" dirty="0"/>
              <a:t>9. Financial Performance Evaluation</a:t>
            </a:r>
          </a:p>
          <a:p>
            <a:pPr algn="just"/>
            <a:r>
              <a:rPr lang="en-US" sz="2400" dirty="0"/>
              <a:t>Understanding financial indicators such as </a:t>
            </a:r>
            <a:r>
              <a:rPr lang="en-US" sz="2400" dirty="0">
                <a:solidFill>
                  <a:srgbClr val="FF0000"/>
                </a:solidFill>
              </a:rPr>
              <a:t>profitability, liquidity, and cash flow </a:t>
            </a:r>
            <a:r>
              <a:rPr lang="en-US" sz="2400" dirty="0"/>
              <a:t>helps assess business stability and growth potential. This knowledge supports decision-making on investments, cost management, and strategic planning. Accurate evaluation ensures businesses remain competitive and capable of responding to economic changes.</a:t>
            </a:r>
          </a:p>
        </p:txBody>
      </p:sp>
      <p:pic>
        <p:nvPicPr>
          <p:cNvPr id="4" name="Picture 3">
            <a:extLst>
              <a:ext uri="{FF2B5EF4-FFF2-40B4-BE49-F238E27FC236}">
                <a16:creationId xmlns:a16="http://schemas.microsoft.com/office/drawing/2014/main" id="{59ECDEB7-03D5-4A5F-98D9-A69B61859E30}"/>
              </a:ext>
            </a:extLst>
          </p:cNvPr>
          <p:cNvPicPr>
            <a:picLocks noChangeAspect="1"/>
          </p:cNvPicPr>
          <p:nvPr/>
        </p:nvPicPr>
        <p:blipFill>
          <a:blip r:embed="rId2"/>
          <a:stretch>
            <a:fillRect/>
          </a:stretch>
        </p:blipFill>
        <p:spPr>
          <a:xfrm>
            <a:off x="4605685" y="117693"/>
            <a:ext cx="3317138" cy="2359024"/>
          </a:xfrm>
          <a:prstGeom prst="rect">
            <a:avLst/>
          </a:prstGeom>
          <a:ln>
            <a:solidFill>
              <a:schemeClr val="tx1"/>
            </a:solidFill>
          </a:ln>
        </p:spPr>
      </p:pic>
      <p:pic>
        <p:nvPicPr>
          <p:cNvPr id="5" name="Picture 4">
            <a:extLst>
              <a:ext uri="{FF2B5EF4-FFF2-40B4-BE49-F238E27FC236}">
                <a16:creationId xmlns:a16="http://schemas.microsoft.com/office/drawing/2014/main" id="{536F41B9-AC7C-427C-8CB5-089DDF2939CA}"/>
              </a:ext>
            </a:extLst>
          </p:cNvPr>
          <p:cNvPicPr>
            <a:picLocks noChangeAspect="1"/>
          </p:cNvPicPr>
          <p:nvPr/>
        </p:nvPicPr>
        <p:blipFill>
          <a:blip r:embed="rId3"/>
          <a:stretch>
            <a:fillRect/>
          </a:stretch>
        </p:blipFill>
        <p:spPr>
          <a:xfrm>
            <a:off x="7922824" y="117693"/>
            <a:ext cx="4177028" cy="2359024"/>
          </a:xfrm>
          <a:prstGeom prst="rect">
            <a:avLst/>
          </a:prstGeom>
          <a:ln>
            <a:solidFill>
              <a:schemeClr val="tx1"/>
            </a:solidFill>
          </a:ln>
        </p:spPr>
      </p:pic>
      <p:pic>
        <p:nvPicPr>
          <p:cNvPr id="6" name="Picture 5">
            <a:extLst>
              <a:ext uri="{FF2B5EF4-FFF2-40B4-BE49-F238E27FC236}">
                <a16:creationId xmlns:a16="http://schemas.microsoft.com/office/drawing/2014/main" id="{CDDEEA0B-B8A3-4AE2-B2AF-6A6AF670A7B7}"/>
              </a:ext>
            </a:extLst>
          </p:cNvPr>
          <p:cNvPicPr>
            <a:picLocks noChangeAspect="1"/>
          </p:cNvPicPr>
          <p:nvPr/>
        </p:nvPicPr>
        <p:blipFill>
          <a:blip r:embed="rId4"/>
          <a:stretch>
            <a:fillRect/>
          </a:stretch>
        </p:blipFill>
        <p:spPr>
          <a:xfrm>
            <a:off x="4605684" y="2558964"/>
            <a:ext cx="7494167" cy="3929703"/>
          </a:xfrm>
          <a:prstGeom prst="rect">
            <a:avLst/>
          </a:prstGeom>
          <a:ln>
            <a:solidFill>
              <a:schemeClr val="tx1"/>
            </a:solidFill>
          </a:ln>
        </p:spPr>
      </p:pic>
    </p:spTree>
    <p:extLst>
      <p:ext uri="{BB962C8B-B14F-4D97-AF65-F5344CB8AC3E}">
        <p14:creationId xmlns:p14="http://schemas.microsoft.com/office/powerpoint/2010/main" val="3533018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C9A4C-1242-45A0-A3B7-AE6E8496A6A9}"/>
              </a:ext>
            </a:extLst>
          </p:cNvPr>
          <p:cNvSpPr txBox="1"/>
          <p:nvPr/>
        </p:nvSpPr>
        <p:spPr>
          <a:xfrm>
            <a:off x="643852" y="640815"/>
            <a:ext cx="6093618" cy="4832092"/>
          </a:xfrm>
          <a:prstGeom prst="rect">
            <a:avLst/>
          </a:prstGeom>
          <a:noFill/>
          <a:ln>
            <a:solidFill>
              <a:schemeClr val="tx1"/>
            </a:solidFill>
          </a:ln>
        </p:spPr>
        <p:txBody>
          <a:bodyPr wrap="square">
            <a:spAutoFit/>
          </a:bodyPr>
          <a:lstStyle/>
          <a:p>
            <a:pPr algn="just"/>
            <a:r>
              <a:rPr lang="en-US" b="1" dirty="0"/>
              <a:t>10. Innovation and Digital Transformation</a:t>
            </a:r>
          </a:p>
          <a:p>
            <a:pPr algn="just"/>
            <a:r>
              <a:rPr lang="en-US" dirty="0"/>
              <a:t>Innovation and digital adoption are critical for modern business survival. Knowledge in this area includes understanding </a:t>
            </a:r>
            <a:r>
              <a:rPr lang="en-US" dirty="0">
                <a:solidFill>
                  <a:srgbClr val="FF0000"/>
                </a:solidFill>
              </a:rPr>
              <a:t>new technologies, process automation, and data-driven decision-making</a:t>
            </a:r>
            <a:r>
              <a:rPr lang="en-US" dirty="0"/>
              <a:t>. It helps organizations improve customer experience, reduce operational costs, and stay ahead of competitors in rapidly evolving markets.</a:t>
            </a:r>
          </a:p>
        </p:txBody>
      </p:sp>
    </p:spTree>
    <p:extLst>
      <p:ext uri="{BB962C8B-B14F-4D97-AF65-F5344CB8AC3E}">
        <p14:creationId xmlns:p14="http://schemas.microsoft.com/office/powerpoint/2010/main" val="33619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862586-8E9B-4E14-988F-0D30F276E1AC}"/>
              </a:ext>
            </a:extLst>
          </p:cNvPr>
          <p:cNvSpPr txBox="1"/>
          <p:nvPr/>
        </p:nvSpPr>
        <p:spPr>
          <a:xfrm>
            <a:off x="847945" y="1792998"/>
            <a:ext cx="10443831" cy="523220"/>
          </a:xfrm>
          <a:prstGeom prst="rect">
            <a:avLst/>
          </a:prstGeom>
          <a:noFill/>
          <a:ln>
            <a:solidFill>
              <a:schemeClr val="tx1"/>
            </a:solidFill>
          </a:ln>
        </p:spPr>
        <p:txBody>
          <a:bodyPr wrap="square">
            <a:spAutoFit/>
          </a:bodyPr>
          <a:lstStyle/>
          <a:p>
            <a:r>
              <a:rPr lang="en-US" dirty="0"/>
              <a:t>Explain Innovation and Digital Transformation of Chiang Mai University</a:t>
            </a:r>
            <a:endParaRPr lang="th-TH" dirty="0"/>
          </a:p>
        </p:txBody>
      </p:sp>
    </p:spTree>
    <p:extLst>
      <p:ext uri="{BB962C8B-B14F-4D97-AF65-F5344CB8AC3E}">
        <p14:creationId xmlns:p14="http://schemas.microsoft.com/office/powerpoint/2010/main" val="75001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642</Words>
  <Application>Microsoft Office PowerPoint</Application>
  <PresentationFormat>Widescreen</PresentationFormat>
  <Paragraphs>29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TH SarabunPSK</vt:lpstr>
      <vt:lpstr>Office Theme</vt:lpstr>
      <vt:lpstr>Chapter 3 Business Goals and Challenges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Adtha Lawanna</cp:lastModifiedBy>
  <cp:revision>24</cp:revision>
  <dcterms:created xsi:type="dcterms:W3CDTF">2025-11-15T02:26:25Z</dcterms:created>
  <dcterms:modified xsi:type="dcterms:W3CDTF">2026-07-19T11:58:16Z</dcterms:modified>
</cp:coreProperties>
</file>