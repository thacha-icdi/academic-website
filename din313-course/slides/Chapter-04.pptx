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0" r:id="rId5"/>
    <p:sldId id="259" r:id="rId6"/>
    <p:sldId id="260" r:id="rId7"/>
    <p:sldId id="261" r:id="rId8"/>
    <p:sldId id="262" r:id="rId9"/>
    <p:sldId id="288" r:id="rId10"/>
    <p:sldId id="263" r:id="rId11"/>
    <p:sldId id="264" r:id="rId12"/>
    <p:sldId id="265" r:id="rId13"/>
    <p:sldId id="266" r:id="rId14"/>
    <p:sldId id="268" r:id="rId15"/>
    <p:sldId id="289" r:id="rId16"/>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66" d="100"/>
          <a:sy n="66" d="100"/>
        </p:scale>
        <p:origin x="51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23/07/69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4 </a:t>
            </a:r>
            <a:r>
              <a:rPr lang="en-US" b="1" dirty="0"/>
              <a:t>Empathy and user</a:t>
            </a:r>
            <a:r>
              <a:rPr lang="th-TH" b="1" dirty="0"/>
              <a:t>-</a:t>
            </a:r>
            <a:r>
              <a:rPr lang="en-US" b="1" dirty="0"/>
              <a:t>centricity</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a:ln>
            <a:solidFill>
              <a:schemeClr val="tx1"/>
            </a:solidFill>
          </a:ln>
        </p:spPr>
        <p:txBody>
          <a:bodyPr wrap="square">
            <a:spAutoFit/>
          </a:bodyPr>
          <a:lstStyle/>
          <a:p>
            <a:pPr algn="just"/>
            <a:r>
              <a:rPr lang="en-US" b="1" dirty="0"/>
              <a:t>Objective of the Study:</a:t>
            </a:r>
          </a:p>
          <a:p>
            <a:r>
              <a:rPr lang="en-US" dirty="0"/>
              <a:t>To develop a deep understanding of </a:t>
            </a:r>
            <a:r>
              <a:rPr lang="en-US" dirty="0">
                <a:highlight>
                  <a:srgbClr val="FFFF00"/>
                </a:highlight>
              </a:rPr>
              <a:t>empathy</a:t>
            </a:r>
            <a:r>
              <a:rPr lang="en-US" dirty="0"/>
              <a:t> as a strategic foundation for </a:t>
            </a:r>
            <a:r>
              <a:rPr lang="en-US" dirty="0">
                <a:highlight>
                  <a:srgbClr val="FFFF00"/>
                </a:highlight>
              </a:rPr>
              <a:t>user-centric design </a:t>
            </a:r>
            <a:r>
              <a:rPr lang="en-US" dirty="0"/>
              <a:t>and innovation, enabling learners to analyze user needs, emotions, and behaviors systematically and apply empathy-driven approaches to improve products, services, and digital solutions.</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642528" y="417175"/>
            <a:ext cx="5329742" cy="4832092"/>
          </a:xfrm>
          <a:prstGeom prst="rect">
            <a:avLst/>
          </a:prstGeom>
          <a:noFill/>
          <a:ln>
            <a:solidFill>
              <a:schemeClr val="tx1"/>
            </a:solidFill>
          </a:ln>
        </p:spPr>
        <p:txBody>
          <a:bodyPr wrap="square">
            <a:spAutoFit/>
          </a:bodyPr>
          <a:lstStyle/>
          <a:p>
            <a:pPr algn="just"/>
            <a:r>
              <a:rPr lang="en-US" b="1" dirty="0"/>
              <a:t>1: Concept of Empathy</a:t>
            </a:r>
          </a:p>
          <a:p>
            <a:pPr algn="just"/>
            <a:r>
              <a:rPr lang="en-US" dirty="0"/>
              <a:t>Empathy refers to the ability to </a:t>
            </a:r>
            <a:r>
              <a:rPr lang="en-US" dirty="0">
                <a:solidFill>
                  <a:srgbClr val="FF0000"/>
                </a:solidFill>
              </a:rPr>
              <a:t>understand and share the feelings, needs, and perspectives of users</a:t>
            </a:r>
            <a:r>
              <a:rPr lang="en-US" dirty="0"/>
              <a:t>. In innovation and design, empathy enables creators to move beyond assumptions and see problems from the user’s viewpoint, forming the foundation for meaningful, relevant, and human-centered solutions.</a:t>
            </a:r>
          </a:p>
        </p:txBody>
      </p:sp>
      <p:pic>
        <p:nvPicPr>
          <p:cNvPr id="3" name="Picture 2">
            <a:extLst>
              <a:ext uri="{FF2B5EF4-FFF2-40B4-BE49-F238E27FC236}">
                <a16:creationId xmlns:a16="http://schemas.microsoft.com/office/drawing/2014/main" id="{51F329EC-2FE0-2B80-8CD9-6F6FD9F4F23F}"/>
              </a:ext>
            </a:extLst>
          </p:cNvPr>
          <p:cNvPicPr>
            <a:picLocks noChangeAspect="1"/>
          </p:cNvPicPr>
          <p:nvPr/>
        </p:nvPicPr>
        <p:blipFill>
          <a:blip r:embed="rId2"/>
          <a:stretch>
            <a:fillRect/>
          </a:stretch>
        </p:blipFill>
        <p:spPr>
          <a:xfrm>
            <a:off x="6219732" y="400610"/>
            <a:ext cx="5896798" cy="3934374"/>
          </a:xfrm>
          <a:prstGeom prst="rect">
            <a:avLst/>
          </a:prstGeom>
        </p:spPr>
      </p:pic>
      <p:sp>
        <p:nvSpPr>
          <p:cNvPr id="4" name="TextBox 3">
            <a:extLst>
              <a:ext uri="{FF2B5EF4-FFF2-40B4-BE49-F238E27FC236}">
                <a16:creationId xmlns:a16="http://schemas.microsoft.com/office/drawing/2014/main" id="{F9C0F2B7-CBC9-4FA1-D147-DF6CFC7DAB70}"/>
              </a:ext>
            </a:extLst>
          </p:cNvPr>
          <p:cNvSpPr txBox="1"/>
          <p:nvPr/>
        </p:nvSpPr>
        <p:spPr>
          <a:xfrm>
            <a:off x="642528" y="5484468"/>
            <a:ext cx="8934650" cy="523220"/>
          </a:xfrm>
          <a:prstGeom prst="rect">
            <a:avLst/>
          </a:prstGeom>
          <a:noFill/>
        </p:spPr>
        <p:txBody>
          <a:bodyPr wrap="square">
            <a:spAutoFit/>
          </a:bodyPr>
          <a:lstStyle/>
          <a:p>
            <a:pPr algn="just"/>
            <a:r>
              <a:rPr lang="en-US" b="1" dirty="0"/>
              <a:t>Empathy is the first process of Design Thinking</a:t>
            </a:r>
          </a:p>
        </p:txBody>
      </p:sp>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0B3A7-E0B8-A6DC-EB39-FF2B32C8A4E5}"/>
              </a:ext>
            </a:extLst>
          </p:cNvPr>
          <p:cNvSpPr txBox="1"/>
          <p:nvPr/>
        </p:nvSpPr>
        <p:spPr>
          <a:xfrm>
            <a:off x="353769" y="517832"/>
            <a:ext cx="10946289" cy="4401205"/>
          </a:xfrm>
          <a:prstGeom prst="rect">
            <a:avLst/>
          </a:prstGeom>
          <a:noFill/>
        </p:spPr>
        <p:txBody>
          <a:bodyPr wrap="square">
            <a:spAutoFit/>
          </a:bodyPr>
          <a:lstStyle/>
          <a:p>
            <a:pPr algn="just"/>
            <a:r>
              <a:rPr lang="en-US" b="1" dirty="0">
                <a:solidFill>
                  <a:srgbClr val="FF0000"/>
                </a:solidFill>
              </a:rPr>
              <a:t>Empathize</a:t>
            </a:r>
            <a:r>
              <a:rPr lang="en-US" b="1" dirty="0"/>
              <a:t> Aj. </a:t>
            </a:r>
            <a:r>
              <a:rPr lang="en-US" b="1" dirty="0" err="1"/>
              <a:t>Thacha</a:t>
            </a:r>
            <a:r>
              <a:rPr lang="en-US" b="1" dirty="0"/>
              <a:t> (ask questions </a:t>
            </a:r>
            <a:r>
              <a:rPr lang="en-US" b="1" dirty="0">
                <a:highlight>
                  <a:srgbClr val="FFFF00"/>
                </a:highlight>
              </a:rPr>
              <a:t>about what topic&gt;&gt; healthy</a:t>
            </a:r>
            <a:r>
              <a:rPr lang="en-US" b="1" dirty="0"/>
              <a:t>)</a:t>
            </a:r>
          </a:p>
          <a:p>
            <a:pPr algn="just"/>
            <a:r>
              <a:rPr lang="en-US" b="1" dirty="0"/>
              <a:t>1. How?</a:t>
            </a:r>
          </a:p>
          <a:p>
            <a:pPr algn="just"/>
            <a:r>
              <a:rPr lang="en-US" b="1" dirty="0"/>
              <a:t>2. What they say?</a:t>
            </a:r>
          </a:p>
          <a:p>
            <a:pPr algn="just"/>
            <a:r>
              <a:rPr lang="en-US" b="1" dirty="0"/>
              <a:t>3. Knees</a:t>
            </a:r>
          </a:p>
          <a:p>
            <a:pPr algn="just"/>
            <a:r>
              <a:rPr lang="en-US" b="1" dirty="0"/>
              <a:t>4. For knees</a:t>
            </a:r>
          </a:p>
          <a:p>
            <a:pPr algn="just"/>
            <a:r>
              <a:rPr lang="en-US" b="1" dirty="0"/>
              <a:t>5. I use balm &amp; herb, pill</a:t>
            </a:r>
          </a:p>
          <a:p>
            <a:pPr algn="just"/>
            <a:r>
              <a:rPr lang="en-US" b="1" u="sng" dirty="0"/>
              <a:t>6. You offer me leg supports &gt;&gt;&gt; (process 3)</a:t>
            </a:r>
          </a:p>
          <a:p>
            <a:pPr algn="just"/>
            <a:r>
              <a:rPr lang="en-US" b="1" dirty="0"/>
              <a:t>7. What&gt;&gt;&gt; </a:t>
            </a:r>
          </a:p>
          <a:p>
            <a:pPr algn="just"/>
            <a:r>
              <a:rPr lang="en-US" b="1" dirty="0"/>
              <a:t>Ask and listen (deeper than understanding, you can fell it)</a:t>
            </a:r>
          </a:p>
          <a:p>
            <a:pPr algn="just"/>
            <a:endParaRPr lang="en-US" b="1" dirty="0"/>
          </a:p>
        </p:txBody>
      </p:sp>
    </p:spTree>
    <p:extLst>
      <p:ext uri="{BB962C8B-B14F-4D97-AF65-F5344CB8AC3E}">
        <p14:creationId xmlns:p14="http://schemas.microsoft.com/office/powerpoint/2010/main" val="935114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518026" y="446519"/>
            <a:ext cx="6093618" cy="4832092"/>
          </a:xfrm>
          <a:prstGeom prst="rect">
            <a:avLst/>
          </a:prstGeom>
          <a:noFill/>
          <a:ln>
            <a:solidFill>
              <a:schemeClr val="tx1"/>
            </a:solidFill>
          </a:ln>
        </p:spPr>
        <p:txBody>
          <a:bodyPr wrap="square">
            <a:spAutoFit/>
          </a:bodyPr>
          <a:lstStyle/>
          <a:p>
            <a:pPr algn="just"/>
            <a:r>
              <a:rPr lang="en-US" b="1" dirty="0"/>
              <a:t>2: Cognitive vs. Emotional Empathy</a:t>
            </a:r>
          </a:p>
          <a:p>
            <a:pPr algn="just"/>
            <a:r>
              <a:rPr lang="en-US" i="1" u="sng" dirty="0"/>
              <a:t>Cognitive empathy focuses on understanding users’ thoughts, motivations, and decision processes</a:t>
            </a:r>
            <a:r>
              <a:rPr lang="en-US" dirty="0"/>
              <a:t>, while </a:t>
            </a:r>
            <a:r>
              <a:rPr lang="en-US" i="1" u="sng" dirty="0"/>
              <a:t>emotional empathy involves recognizing users’ feelings and emotional responses.</a:t>
            </a:r>
            <a:r>
              <a:rPr lang="en-US" dirty="0"/>
              <a:t> Both are essential in user-centric design, as effective solutions must address not only functional needs but also emotional experiences.</a:t>
            </a:r>
          </a:p>
        </p:txBody>
      </p:sp>
      <p:pic>
        <p:nvPicPr>
          <p:cNvPr id="2" name="Picture 1">
            <a:extLst>
              <a:ext uri="{FF2B5EF4-FFF2-40B4-BE49-F238E27FC236}">
                <a16:creationId xmlns:a16="http://schemas.microsoft.com/office/drawing/2014/main" id="{2D7728DE-B146-C658-710A-254EEB274CC7}"/>
              </a:ext>
            </a:extLst>
          </p:cNvPr>
          <p:cNvPicPr>
            <a:picLocks noChangeAspect="1"/>
          </p:cNvPicPr>
          <p:nvPr/>
        </p:nvPicPr>
        <p:blipFill>
          <a:blip r:embed="rId2"/>
          <a:stretch>
            <a:fillRect/>
          </a:stretch>
        </p:blipFill>
        <p:spPr>
          <a:xfrm>
            <a:off x="6910304" y="446519"/>
            <a:ext cx="5064096" cy="4443533"/>
          </a:xfrm>
          <a:prstGeom prst="rect">
            <a:avLst/>
          </a:prstGeom>
        </p:spPr>
      </p:pic>
    </p:spTree>
    <p:extLst>
      <p:ext uri="{BB962C8B-B14F-4D97-AF65-F5344CB8AC3E}">
        <p14:creationId xmlns:p14="http://schemas.microsoft.com/office/powerpoint/2010/main" val="54594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15645" y="535876"/>
            <a:ext cx="6093618" cy="3970318"/>
          </a:xfrm>
          <a:prstGeom prst="rect">
            <a:avLst/>
          </a:prstGeom>
          <a:noFill/>
          <a:ln>
            <a:solidFill>
              <a:schemeClr val="tx1"/>
            </a:solidFill>
          </a:ln>
        </p:spPr>
        <p:txBody>
          <a:bodyPr wrap="square">
            <a:spAutoFit/>
          </a:bodyPr>
          <a:lstStyle/>
          <a:p>
            <a:pPr algn="just"/>
            <a:r>
              <a:rPr lang="en-US" b="1" dirty="0"/>
              <a:t>3. User-Centricity Defined</a:t>
            </a:r>
          </a:p>
          <a:p>
            <a:pPr algn="just"/>
            <a:r>
              <a:rPr lang="en-US" dirty="0"/>
              <a:t>User-centricity is an approach that places users at the </a:t>
            </a:r>
            <a:r>
              <a:rPr lang="en-US" u="sng" dirty="0"/>
              <a:t>center of decision-making</a:t>
            </a:r>
            <a:r>
              <a:rPr lang="en-US" dirty="0"/>
              <a:t>, design, and evaluation. It emphasizes designing systems, services, and products based on real user needs, behaviors, and feedback rather than organizational assumptions or technological convenience.</a:t>
            </a:r>
          </a:p>
        </p:txBody>
      </p:sp>
      <p:pic>
        <p:nvPicPr>
          <p:cNvPr id="2" name="Picture 1">
            <a:extLst>
              <a:ext uri="{FF2B5EF4-FFF2-40B4-BE49-F238E27FC236}">
                <a16:creationId xmlns:a16="http://schemas.microsoft.com/office/drawing/2014/main" id="{A389CE98-A8DC-16A2-8D9E-BA52900AD9E4}"/>
              </a:ext>
            </a:extLst>
          </p:cNvPr>
          <p:cNvPicPr>
            <a:picLocks noChangeAspect="1"/>
          </p:cNvPicPr>
          <p:nvPr/>
        </p:nvPicPr>
        <p:blipFill>
          <a:blip r:embed="rId2"/>
          <a:stretch>
            <a:fillRect/>
          </a:stretch>
        </p:blipFill>
        <p:spPr>
          <a:xfrm>
            <a:off x="6851837" y="589340"/>
            <a:ext cx="5220429" cy="4896533"/>
          </a:xfrm>
          <a:prstGeom prst="rect">
            <a:avLst/>
          </a:prstGeom>
        </p:spPr>
      </p:pic>
    </p:spTree>
    <p:extLst>
      <p:ext uri="{BB962C8B-B14F-4D97-AF65-F5344CB8AC3E}">
        <p14:creationId xmlns:p14="http://schemas.microsoft.com/office/powerpoint/2010/main" val="234209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3970318"/>
          </a:xfrm>
          <a:prstGeom prst="rect">
            <a:avLst/>
          </a:prstGeom>
          <a:noFill/>
          <a:ln>
            <a:solidFill>
              <a:schemeClr val="tx1"/>
            </a:solidFill>
          </a:ln>
        </p:spPr>
        <p:txBody>
          <a:bodyPr wrap="square">
            <a:spAutoFit/>
          </a:bodyPr>
          <a:lstStyle/>
          <a:p>
            <a:pPr algn="just"/>
            <a:r>
              <a:rPr lang="en-US" b="1" dirty="0"/>
              <a:t>4: Importance of Empathy in Innovation</a:t>
            </a:r>
          </a:p>
          <a:p>
            <a:pPr algn="just"/>
            <a:r>
              <a:rPr lang="en-US" dirty="0"/>
              <a:t>Empathy drives innovation by </a:t>
            </a:r>
            <a:r>
              <a:rPr lang="en-US" dirty="0">
                <a:solidFill>
                  <a:srgbClr val="FF0000"/>
                </a:solidFill>
              </a:rPr>
              <a:t>revealing unmet needs and hidden pain points</a:t>
            </a:r>
            <a:r>
              <a:rPr lang="en-US" dirty="0"/>
              <a:t>. When organizations empathize with users, they can identify opportunities for improvement, reduce design failures, and create solutions that are more likely to be adopted, trusted, and valued by users.</a:t>
            </a:r>
          </a:p>
        </p:txBody>
      </p:sp>
      <p:pic>
        <p:nvPicPr>
          <p:cNvPr id="2" name="Picture 1">
            <a:extLst>
              <a:ext uri="{FF2B5EF4-FFF2-40B4-BE49-F238E27FC236}">
                <a16:creationId xmlns:a16="http://schemas.microsoft.com/office/drawing/2014/main" id="{3F2436F0-70D2-5792-1BC9-13ED5D9AABFB}"/>
              </a:ext>
            </a:extLst>
          </p:cNvPr>
          <p:cNvPicPr>
            <a:picLocks noChangeAspect="1"/>
          </p:cNvPicPr>
          <p:nvPr/>
        </p:nvPicPr>
        <p:blipFill>
          <a:blip r:embed="rId2"/>
          <a:stretch>
            <a:fillRect/>
          </a:stretch>
        </p:blipFill>
        <p:spPr>
          <a:xfrm>
            <a:off x="489348" y="4455852"/>
            <a:ext cx="3592322" cy="2102823"/>
          </a:xfrm>
          <a:prstGeom prst="rect">
            <a:avLst/>
          </a:prstGeom>
        </p:spPr>
      </p:pic>
      <p:pic>
        <p:nvPicPr>
          <p:cNvPr id="4" name="Picture 3">
            <a:extLst>
              <a:ext uri="{FF2B5EF4-FFF2-40B4-BE49-F238E27FC236}">
                <a16:creationId xmlns:a16="http://schemas.microsoft.com/office/drawing/2014/main" id="{11463658-3159-B454-0C1E-59D40FE9B132}"/>
              </a:ext>
            </a:extLst>
          </p:cNvPr>
          <p:cNvPicPr>
            <a:picLocks noChangeAspect="1"/>
          </p:cNvPicPr>
          <p:nvPr/>
        </p:nvPicPr>
        <p:blipFill>
          <a:blip r:embed="rId3"/>
          <a:stretch>
            <a:fillRect/>
          </a:stretch>
        </p:blipFill>
        <p:spPr>
          <a:xfrm>
            <a:off x="7154881" y="495294"/>
            <a:ext cx="4652834" cy="3859328"/>
          </a:xfrm>
          <a:prstGeom prst="rect">
            <a:avLst/>
          </a:prstGeom>
        </p:spPr>
      </p:pic>
    </p:spTree>
    <p:extLst>
      <p:ext uri="{BB962C8B-B14F-4D97-AF65-F5344CB8AC3E}">
        <p14:creationId xmlns:p14="http://schemas.microsoft.com/office/powerpoint/2010/main" val="107964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687923" y="509371"/>
            <a:ext cx="4665955" cy="5262979"/>
          </a:xfrm>
          <a:prstGeom prst="rect">
            <a:avLst/>
          </a:prstGeom>
          <a:noFill/>
          <a:ln>
            <a:solidFill>
              <a:schemeClr val="tx1"/>
            </a:solidFill>
          </a:ln>
        </p:spPr>
        <p:txBody>
          <a:bodyPr wrap="square">
            <a:spAutoFit/>
          </a:bodyPr>
          <a:lstStyle/>
          <a:p>
            <a:pPr algn="just"/>
            <a:r>
              <a:rPr lang="en-US" b="1" dirty="0"/>
              <a:t>5: Empathy in Digital Products</a:t>
            </a:r>
          </a:p>
          <a:p>
            <a:pPr algn="just"/>
            <a:r>
              <a:rPr lang="en-US" dirty="0"/>
              <a:t>In digital systems, </a:t>
            </a:r>
            <a:r>
              <a:rPr lang="en-US" u="sng" dirty="0"/>
              <a:t>empathy ensures usability, accessibility, and positive user experience</a:t>
            </a:r>
            <a:r>
              <a:rPr lang="en-US" dirty="0"/>
              <a:t>. Understanding users’ limitations, contexts, and expectations helps designers reduce cognitive load, improve interaction flow, and create intuitive interfaces that support diverse user groups effectively.</a:t>
            </a:r>
          </a:p>
        </p:txBody>
      </p:sp>
      <p:pic>
        <p:nvPicPr>
          <p:cNvPr id="2" name="Picture 1">
            <a:extLst>
              <a:ext uri="{FF2B5EF4-FFF2-40B4-BE49-F238E27FC236}">
                <a16:creationId xmlns:a16="http://schemas.microsoft.com/office/drawing/2014/main" id="{839C63EC-37EC-5094-4E0C-3A2B2F0AD33D}"/>
              </a:ext>
            </a:extLst>
          </p:cNvPr>
          <p:cNvPicPr>
            <a:picLocks noChangeAspect="1"/>
          </p:cNvPicPr>
          <p:nvPr/>
        </p:nvPicPr>
        <p:blipFill>
          <a:blip r:embed="rId2"/>
          <a:stretch>
            <a:fillRect/>
          </a:stretch>
        </p:blipFill>
        <p:spPr>
          <a:xfrm>
            <a:off x="5669952" y="385232"/>
            <a:ext cx="6358197" cy="3669933"/>
          </a:xfrm>
          <a:prstGeom prst="rect">
            <a:avLst/>
          </a:prstGeom>
        </p:spPr>
      </p:pic>
    </p:spTree>
    <p:extLst>
      <p:ext uri="{BB962C8B-B14F-4D97-AF65-F5344CB8AC3E}">
        <p14:creationId xmlns:p14="http://schemas.microsoft.com/office/powerpoint/2010/main" val="290141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2EAB57-52BF-D8BF-B1B6-9359CE066C57}"/>
              </a:ext>
            </a:extLst>
          </p:cNvPr>
          <p:cNvSpPr txBox="1"/>
          <p:nvPr/>
        </p:nvSpPr>
        <p:spPr>
          <a:xfrm>
            <a:off x="503582" y="400232"/>
            <a:ext cx="4240696" cy="6124754"/>
          </a:xfrm>
          <a:prstGeom prst="rect">
            <a:avLst/>
          </a:prstGeom>
          <a:noFill/>
          <a:ln>
            <a:solidFill>
              <a:schemeClr val="tx1"/>
            </a:solidFill>
          </a:ln>
        </p:spPr>
        <p:txBody>
          <a:bodyPr wrap="square">
            <a:spAutoFit/>
          </a:bodyPr>
          <a:lstStyle/>
          <a:p>
            <a:pPr algn="just">
              <a:buNone/>
            </a:pPr>
            <a:r>
              <a:rPr lang="en-US" b="1" dirty="0"/>
              <a:t>6: Methods for Building Empathy</a:t>
            </a:r>
          </a:p>
          <a:p>
            <a:pPr algn="just">
              <a:buNone/>
            </a:pPr>
            <a:r>
              <a:rPr lang="en-US" dirty="0"/>
              <a:t>Common empathy-building methods include </a:t>
            </a:r>
            <a:r>
              <a:rPr lang="en-US" u="sng" dirty="0"/>
              <a:t>user interviews, observations, surveys, personas, and journey mapping</a:t>
            </a:r>
            <a:r>
              <a:rPr lang="en-US" dirty="0"/>
              <a:t>. These techniques help collect qualitative insights about user behavior and emotions, allowing designers and researchers to ground decisions in real-world user experiences.</a:t>
            </a:r>
          </a:p>
        </p:txBody>
      </p:sp>
      <p:pic>
        <p:nvPicPr>
          <p:cNvPr id="4" name="Picture 3">
            <a:extLst>
              <a:ext uri="{FF2B5EF4-FFF2-40B4-BE49-F238E27FC236}">
                <a16:creationId xmlns:a16="http://schemas.microsoft.com/office/drawing/2014/main" id="{375E5E63-104C-B0EC-6D36-38F9B6B98B62}"/>
              </a:ext>
            </a:extLst>
          </p:cNvPr>
          <p:cNvPicPr>
            <a:picLocks noChangeAspect="1"/>
          </p:cNvPicPr>
          <p:nvPr/>
        </p:nvPicPr>
        <p:blipFill>
          <a:blip r:embed="rId2"/>
          <a:stretch>
            <a:fillRect/>
          </a:stretch>
        </p:blipFill>
        <p:spPr>
          <a:xfrm>
            <a:off x="4804174" y="400232"/>
            <a:ext cx="6983201" cy="2674272"/>
          </a:xfrm>
          <a:prstGeom prst="rect">
            <a:avLst/>
          </a:prstGeom>
        </p:spPr>
      </p:pic>
      <p:pic>
        <p:nvPicPr>
          <p:cNvPr id="5" name="Picture 4">
            <a:extLst>
              <a:ext uri="{FF2B5EF4-FFF2-40B4-BE49-F238E27FC236}">
                <a16:creationId xmlns:a16="http://schemas.microsoft.com/office/drawing/2014/main" id="{033A70AB-1E57-B2C6-141B-C032B5F72D97}"/>
              </a:ext>
            </a:extLst>
          </p:cNvPr>
          <p:cNvPicPr>
            <a:picLocks noChangeAspect="1"/>
          </p:cNvPicPr>
          <p:nvPr/>
        </p:nvPicPr>
        <p:blipFill>
          <a:blip r:embed="rId3"/>
          <a:stretch>
            <a:fillRect/>
          </a:stretch>
        </p:blipFill>
        <p:spPr>
          <a:xfrm>
            <a:off x="4804173" y="3260865"/>
            <a:ext cx="6983201" cy="3264121"/>
          </a:xfrm>
          <a:prstGeom prst="rect">
            <a:avLst/>
          </a:prstGeom>
        </p:spPr>
      </p:pic>
    </p:spTree>
    <p:extLst>
      <p:ext uri="{BB962C8B-B14F-4D97-AF65-F5344CB8AC3E}">
        <p14:creationId xmlns:p14="http://schemas.microsoft.com/office/powerpoint/2010/main" val="3504098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2A13D4-6B5D-6EE5-2DF3-826480653E48}"/>
              </a:ext>
            </a:extLst>
          </p:cNvPr>
          <p:cNvSpPr txBox="1"/>
          <p:nvPr/>
        </p:nvSpPr>
        <p:spPr>
          <a:xfrm>
            <a:off x="291548" y="333971"/>
            <a:ext cx="4691269" cy="5262979"/>
          </a:xfrm>
          <a:prstGeom prst="rect">
            <a:avLst/>
          </a:prstGeom>
          <a:noFill/>
          <a:ln>
            <a:solidFill>
              <a:schemeClr val="tx1"/>
            </a:solidFill>
          </a:ln>
        </p:spPr>
        <p:txBody>
          <a:bodyPr wrap="square">
            <a:spAutoFit/>
          </a:bodyPr>
          <a:lstStyle/>
          <a:p>
            <a:pPr algn="just">
              <a:buNone/>
            </a:pPr>
            <a:r>
              <a:rPr lang="en-US" b="1" dirty="0"/>
              <a:t>7: User Pain Points and Needs</a:t>
            </a:r>
          </a:p>
          <a:p>
            <a:pPr algn="just">
              <a:buNone/>
            </a:pPr>
            <a:r>
              <a:rPr lang="en-US" dirty="0"/>
              <a:t>Identifying pain points involves recognizing obstacles, frustrations, and inefficiencies users face. Empathy enables deeper analysis of why these issues occur and how they affect users emotionally, helping designers prioritize solutions that truly improve user satisfaction and engagement.</a:t>
            </a:r>
          </a:p>
        </p:txBody>
      </p:sp>
      <p:pic>
        <p:nvPicPr>
          <p:cNvPr id="2050" name="Picture 2" descr="ECommerce Target Market Analysis Slide Template">
            <a:extLst>
              <a:ext uri="{FF2B5EF4-FFF2-40B4-BE49-F238E27FC236}">
                <a16:creationId xmlns:a16="http://schemas.microsoft.com/office/drawing/2014/main" id="{F67BE3A8-A80F-C5DC-BF66-3FE4EE709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810" y="333971"/>
            <a:ext cx="6502642" cy="365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1FA7CF-B506-3A02-882F-A891602A1C11}"/>
              </a:ext>
            </a:extLst>
          </p:cNvPr>
          <p:cNvSpPr txBox="1"/>
          <p:nvPr/>
        </p:nvSpPr>
        <p:spPr>
          <a:xfrm>
            <a:off x="742122" y="377091"/>
            <a:ext cx="5115339" cy="4832092"/>
          </a:xfrm>
          <a:prstGeom prst="rect">
            <a:avLst/>
          </a:prstGeom>
          <a:noFill/>
          <a:ln>
            <a:solidFill>
              <a:schemeClr val="tx1"/>
            </a:solidFill>
          </a:ln>
        </p:spPr>
        <p:txBody>
          <a:bodyPr wrap="square">
            <a:spAutoFit/>
          </a:bodyPr>
          <a:lstStyle/>
          <a:p>
            <a:pPr algn="just">
              <a:buNone/>
            </a:pPr>
            <a:r>
              <a:rPr lang="en-US" b="1" dirty="0"/>
              <a:t>8: Empathy and Trust</a:t>
            </a:r>
          </a:p>
          <a:p>
            <a:pPr algn="just">
              <a:buNone/>
            </a:pPr>
            <a:r>
              <a:rPr lang="en-US" dirty="0"/>
              <a:t>Empathy strengthens trust between users and systems. When users feel understood and supported, they are more likely to engage, share feedback, and continue usage. Trust is especially critical in digital platforms involving personal data, financial transactions, or long-term user interaction.</a:t>
            </a:r>
          </a:p>
        </p:txBody>
      </p:sp>
      <p:pic>
        <p:nvPicPr>
          <p:cNvPr id="5" name="Picture 4">
            <a:extLst>
              <a:ext uri="{FF2B5EF4-FFF2-40B4-BE49-F238E27FC236}">
                <a16:creationId xmlns:a16="http://schemas.microsoft.com/office/drawing/2014/main" id="{43976255-1555-6AE5-FCD2-2FD66DA0F399}"/>
              </a:ext>
            </a:extLst>
          </p:cNvPr>
          <p:cNvPicPr>
            <a:picLocks noChangeAspect="1"/>
          </p:cNvPicPr>
          <p:nvPr/>
        </p:nvPicPr>
        <p:blipFill>
          <a:blip r:embed="rId2"/>
          <a:stretch>
            <a:fillRect/>
          </a:stretch>
        </p:blipFill>
        <p:spPr>
          <a:xfrm>
            <a:off x="6096000" y="377091"/>
            <a:ext cx="5868219" cy="5934903"/>
          </a:xfrm>
          <a:prstGeom prst="rect">
            <a:avLst/>
          </a:prstGeom>
        </p:spPr>
      </p:pic>
    </p:spTree>
    <p:extLst>
      <p:ext uri="{BB962C8B-B14F-4D97-AF65-F5344CB8AC3E}">
        <p14:creationId xmlns:p14="http://schemas.microsoft.com/office/powerpoint/2010/main" val="18575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3002F4-7844-AADA-A325-BF17F276D82E}"/>
              </a:ext>
            </a:extLst>
          </p:cNvPr>
          <p:cNvSpPr txBox="1"/>
          <p:nvPr/>
        </p:nvSpPr>
        <p:spPr>
          <a:xfrm>
            <a:off x="397565" y="333971"/>
            <a:ext cx="6096000" cy="3970318"/>
          </a:xfrm>
          <a:prstGeom prst="rect">
            <a:avLst/>
          </a:prstGeom>
          <a:noFill/>
          <a:ln>
            <a:solidFill>
              <a:schemeClr val="tx1"/>
            </a:solidFill>
          </a:ln>
        </p:spPr>
        <p:txBody>
          <a:bodyPr wrap="square">
            <a:spAutoFit/>
          </a:bodyPr>
          <a:lstStyle/>
          <a:p>
            <a:pPr algn="just">
              <a:buNone/>
            </a:pPr>
            <a:r>
              <a:rPr lang="en-US" b="1" dirty="0"/>
              <a:t>9: Measuring User-Centric Success</a:t>
            </a:r>
          </a:p>
          <a:p>
            <a:pPr algn="just">
              <a:buNone/>
            </a:pPr>
            <a:r>
              <a:rPr lang="en-US" dirty="0"/>
              <a:t>User-centric success can be measured through </a:t>
            </a:r>
            <a:r>
              <a:rPr lang="en-US" u="sng" dirty="0"/>
              <a:t>user satisfaction, usability scores, retention rates, and qualitative feedback.</a:t>
            </a:r>
            <a:r>
              <a:rPr lang="en-US" dirty="0"/>
              <a:t> Empathy-driven evaluation focuses not only on performance metrics but also on users’ perceived value, comfort, and emotional responses during interaction.</a:t>
            </a:r>
          </a:p>
        </p:txBody>
      </p:sp>
      <p:pic>
        <p:nvPicPr>
          <p:cNvPr id="5" name="Picture 4">
            <a:extLst>
              <a:ext uri="{FF2B5EF4-FFF2-40B4-BE49-F238E27FC236}">
                <a16:creationId xmlns:a16="http://schemas.microsoft.com/office/drawing/2014/main" id="{73F9E5E9-5DD5-1E77-231C-38C94CF0E7FC}"/>
              </a:ext>
            </a:extLst>
          </p:cNvPr>
          <p:cNvPicPr>
            <a:picLocks noChangeAspect="1"/>
          </p:cNvPicPr>
          <p:nvPr/>
        </p:nvPicPr>
        <p:blipFill>
          <a:blip r:embed="rId2"/>
          <a:stretch>
            <a:fillRect/>
          </a:stretch>
        </p:blipFill>
        <p:spPr>
          <a:xfrm>
            <a:off x="6848091" y="333971"/>
            <a:ext cx="3678791" cy="3970318"/>
          </a:xfrm>
          <a:prstGeom prst="rect">
            <a:avLst/>
          </a:prstGeom>
        </p:spPr>
      </p:pic>
    </p:spTree>
    <p:extLst>
      <p:ext uri="{BB962C8B-B14F-4D97-AF65-F5344CB8AC3E}">
        <p14:creationId xmlns:p14="http://schemas.microsoft.com/office/powerpoint/2010/main" val="412681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965DF6-8C9D-70F9-A2D2-DD1E66AF87C3}"/>
              </a:ext>
            </a:extLst>
          </p:cNvPr>
          <p:cNvSpPr txBox="1"/>
          <p:nvPr/>
        </p:nvSpPr>
        <p:spPr>
          <a:xfrm>
            <a:off x="477079" y="426736"/>
            <a:ext cx="6096000" cy="3970318"/>
          </a:xfrm>
          <a:prstGeom prst="rect">
            <a:avLst/>
          </a:prstGeom>
          <a:noFill/>
          <a:ln>
            <a:solidFill>
              <a:schemeClr val="tx1"/>
            </a:solidFill>
          </a:ln>
        </p:spPr>
        <p:txBody>
          <a:bodyPr wrap="square">
            <a:spAutoFit/>
          </a:bodyPr>
          <a:lstStyle/>
          <a:p>
            <a:pPr algn="just">
              <a:buNone/>
            </a:pPr>
            <a:r>
              <a:rPr lang="en-US" b="1" dirty="0"/>
              <a:t>10: Empathy as a Continuous Process</a:t>
            </a:r>
          </a:p>
          <a:p>
            <a:pPr algn="just">
              <a:buNone/>
            </a:pPr>
            <a:r>
              <a:rPr lang="en-US" dirty="0"/>
              <a:t>Empathy is not a one-time activity but an ongoing process. User needs evolve over time, requiring continuous observation, feedback, and adaptation. Sustaining user-centricity ensures long-term relevance, innovation, and alignment between systems and the people they serve.</a:t>
            </a:r>
          </a:p>
        </p:txBody>
      </p:sp>
      <p:pic>
        <p:nvPicPr>
          <p:cNvPr id="5" name="Picture 4">
            <a:extLst>
              <a:ext uri="{FF2B5EF4-FFF2-40B4-BE49-F238E27FC236}">
                <a16:creationId xmlns:a16="http://schemas.microsoft.com/office/drawing/2014/main" id="{F2E2B884-1E5F-F481-A7F9-339B37E6E57B}"/>
              </a:ext>
            </a:extLst>
          </p:cNvPr>
          <p:cNvPicPr>
            <a:picLocks noChangeAspect="1"/>
          </p:cNvPicPr>
          <p:nvPr/>
        </p:nvPicPr>
        <p:blipFill>
          <a:blip r:embed="rId2"/>
          <a:stretch>
            <a:fillRect/>
          </a:stretch>
        </p:blipFill>
        <p:spPr>
          <a:xfrm>
            <a:off x="6831134" y="426736"/>
            <a:ext cx="5182323" cy="4944165"/>
          </a:xfrm>
          <a:prstGeom prst="rect">
            <a:avLst/>
          </a:prstGeom>
        </p:spPr>
      </p:pic>
    </p:spTree>
    <p:extLst>
      <p:ext uri="{BB962C8B-B14F-4D97-AF65-F5344CB8AC3E}">
        <p14:creationId xmlns:p14="http://schemas.microsoft.com/office/powerpoint/2010/main" val="3533018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15A07-5494-A048-7A48-A77E771BE3FB}"/>
              </a:ext>
            </a:extLst>
          </p:cNvPr>
          <p:cNvSpPr txBox="1"/>
          <p:nvPr/>
        </p:nvSpPr>
        <p:spPr>
          <a:xfrm>
            <a:off x="636104" y="599398"/>
            <a:ext cx="11092070" cy="1384995"/>
          </a:xfrm>
          <a:prstGeom prst="rect">
            <a:avLst/>
          </a:prstGeom>
          <a:noFill/>
          <a:ln>
            <a:solidFill>
              <a:schemeClr val="tx1"/>
            </a:solidFill>
          </a:ln>
        </p:spPr>
        <p:txBody>
          <a:bodyPr wrap="square">
            <a:spAutoFit/>
          </a:bodyPr>
          <a:lstStyle/>
          <a:p>
            <a:r>
              <a:rPr lang="en-US" b="1" dirty="0"/>
              <a:t>Question:</a:t>
            </a:r>
            <a:br>
              <a:rPr lang="en-US" dirty="0"/>
            </a:br>
            <a:r>
              <a:rPr lang="en-US" dirty="0"/>
              <a:t>How does empathy contribute to user-centric design, and why is it essential for creating effective and sustainable digital solutions?</a:t>
            </a:r>
          </a:p>
        </p:txBody>
      </p:sp>
    </p:spTree>
    <p:extLst>
      <p:ext uri="{BB962C8B-B14F-4D97-AF65-F5344CB8AC3E}">
        <p14:creationId xmlns:p14="http://schemas.microsoft.com/office/powerpoint/2010/main" val="750014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B6A0-2EC3-0400-ECCC-B247B2DB27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53BB45-33BC-B324-6A08-97C6FFB91EB5}"/>
              </a:ext>
            </a:extLst>
          </p:cNvPr>
          <p:cNvSpPr txBox="1"/>
          <p:nvPr/>
        </p:nvSpPr>
        <p:spPr>
          <a:xfrm>
            <a:off x="636104" y="599398"/>
            <a:ext cx="11092070" cy="2246769"/>
          </a:xfrm>
          <a:prstGeom prst="rect">
            <a:avLst/>
          </a:prstGeom>
          <a:noFill/>
          <a:ln>
            <a:solidFill>
              <a:schemeClr val="tx1"/>
            </a:solidFill>
          </a:ln>
        </p:spPr>
        <p:txBody>
          <a:bodyPr wrap="square">
            <a:spAutoFit/>
          </a:bodyPr>
          <a:lstStyle/>
          <a:p>
            <a:r>
              <a:rPr lang="en-US" b="1" dirty="0"/>
              <a:t>Activity:</a:t>
            </a:r>
            <a:br>
              <a:rPr lang="en-US" dirty="0"/>
            </a:br>
            <a:r>
              <a:rPr lang="en-US" dirty="0">
                <a:highlight>
                  <a:srgbClr val="FFFF00"/>
                </a:highlight>
              </a:rPr>
              <a:t>1</a:t>
            </a:r>
            <a:r>
              <a:rPr lang="en-US" baseline="30000" dirty="0">
                <a:highlight>
                  <a:srgbClr val="FFFF00"/>
                </a:highlight>
              </a:rPr>
              <a:t>st</a:t>
            </a:r>
            <a:r>
              <a:rPr lang="en-US" dirty="0">
                <a:highlight>
                  <a:srgbClr val="FFFF00"/>
                </a:highlight>
              </a:rPr>
              <a:t> Design steps for “Empathy” process + it’s template</a:t>
            </a:r>
          </a:p>
          <a:p>
            <a:endParaRPr lang="en-US" dirty="0"/>
          </a:p>
          <a:p>
            <a:r>
              <a:rPr lang="en-US" dirty="0"/>
              <a:t>2</a:t>
            </a:r>
            <a:r>
              <a:rPr lang="en-US" baseline="30000" dirty="0"/>
              <a:t>nd</a:t>
            </a:r>
            <a:r>
              <a:rPr lang="en-US" dirty="0"/>
              <a:t> Show type </a:t>
            </a:r>
            <a:r>
              <a:rPr lang="en-US"/>
              <a:t>of users + set </a:t>
            </a:r>
            <a:r>
              <a:rPr lang="en-US" dirty="0"/>
              <a:t>of questions + Examples of report (in Template) from 1</a:t>
            </a:r>
            <a:r>
              <a:rPr lang="en-US" baseline="30000" dirty="0"/>
              <a:t>st</a:t>
            </a:r>
            <a:r>
              <a:rPr lang="en-US" dirty="0"/>
              <a:t> + Summary report (info graphic)</a:t>
            </a:r>
          </a:p>
        </p:txBody>
      </p:sp>
    </p:spTree>
    <p:extLst>
      <p:ext uri="{BB962C8B-B14F-4D97-AF65-F5344CB8AC3E}">
        <p14:creationId xmlns:p14="http://schemas.microsoft.com/office/powerpoint/2010/main" val="69292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716</Words>
  <Application>Microsoft Office PowerPoint</Application>
  <PresentationFormat>Widescreen</PresentationFormat>
  <Paragraphs>38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TH SarabunPSK</vt:lpstr>
      <vt:lpstr>Office Theme</vt:lpstr>
      <vt:lpstr>Chapter 4 Empathy and user-centricity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Acer</cp:lastModifiedBy>
  <cp:revision>23</cp:revision>
  <dcterms:created xsi:type="dcterms:W3CDTF">2025-11-15T02:26:25Z</dcterms:created>
  <dcterms:modified xsi:type="dcterms:W3CDTF">2026-07-23T03:45:34Z</dcterms:modified>
</cp:coreProperties>
</file>