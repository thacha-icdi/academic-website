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88" r:id="rId9"/>
    <p:sldId id="263" r:id="rId10"/>
    <p:sldId id="290" r:id="rId11"/>
    <p:sldId id="291" r:id="rId12"/>
    <p:sldId id="264" r:id="rId13"/>
    <p:sldId id="265" r:id="rId14"/>
    <p:sldId id="266" r:id="rId15"/>
    <p:sldId id="267" r:id="rId16"/>
    <p:sldId id="292" r:id="rId17"/>
    <p:sldId id="269" r:id="rId18"/>
    <p:sldId id="270" r:id="rId19"/>
    <p:sldId id="271" r:id="rId20"/>
    <p:sldId id="272" r:id="rId21"/>
    <p:sldId id="273" r:id="rId22"/>
    <p:sldId id="275" r:id="rId23"/>
    <p:sldId id="276" r:id="rId24"/>
    <p:sldId id="277" r:id="rId25"/>
    <p:sldId id="278" r:id="rId26"/>
    <p:sldId id="279" r:id="rId27"/>
    <p:sldId id="289" r:id="rId28"/>
  </p:sldIdLst>
  <p:sldSz cx="12192000" cy="6858000"/>
  <p:notesSz cx="6858000" cy="9144000"/>
  <p:defaultTextStyle>
    <a:defPPr>
      <a:defRPr lang="th-TH"/>
    </a:defPPr>
    <a:lvl1pPr marL="0" algn="l" defTabSz="914400" rtl="0" eaLnBrk="1" latinLnBrk="0" hangingPunct="1">
      <a:defRPr sz="2800" kern="1200">
        <a:solidFill>
          <a:schemeClr val="tx1"/>
        </a:solidFill>
        <a:latin typeface="+mn-lt"/>
        <a:ea typeface="+mn-ea"/>
        <a:cs typeface="+mn-cs"/>
      </a:defRPr>
    </a:lvl1pPr>
    <a:lvl2pPr marL="457200" algn="l" defTabSz="914400" rtl="0" eaLnBrk="1" latinLnBrk="0" hangingPunct="1">
      <a:defRPr sz="2800" kern="1200">
        <a:solidFill>
          <a:schemeClr val="tx1"/>
        </a:solidFill>
        <a:latin typeface="+mn-lt"/>
        <a:ea typeface="+mn-ea"/>
        <a:cs typeface="+mn-cs"/>
      </a:defRPr>
    </a:lvl2pPr>
    <a:lvl3pPr marL="914400" algn="l" defTabSz="914400" rtl="0" eaLnBrk="1" latinLnBrk="0" hangingPunct="1">
      <a:defRPr sz="2800" kern="1200">
        <a:solidFill>
          <a:schemeClr val="tx1"/>
        </a:solidFill>
        <a:latin typeface="+mn-lt"/>
        <a:ea typeface="+mn-ea"/>
        <a:cs typeface="+mn-cs"/>
      </a:defRPr>
    </a:lvl3pPr>
    <a:lvl4pPr marL="1371600" algn="l" defTabSz="914400" rtl="0" eaLnBrk="1" latinLnBrk="0" hangingPunct="1">
      <a:defRPr sz="2800" kern="1200">
        <a:solidFill>
          <a:schemeClr val="tx1"/>
        </a:solidFill>
        <a:latin typeface="+mn-lt"/>
        <a:ea typeface="+mn-ea"/>
        <a:cs typeface="+mn-cs"/>
      </a:defRPr>
    </a:lvl4pPr>
    <a:lvl5pPr marL="1828800" algn="l" defTabSz="914400" rtl="0" eaLnBrk="1" latinLnBrk="0" hangingPunct="1">
      <a:defRPr sz="2800" kern="1200">
        <a:solidFill>
          <a:schemeClr val="tx1"/>
        </a:solidFill>
        <a:latin typeface="+mn-lt"/>
        <a:ea typeface="+mn-ea"/>
        <a:cs typeface="+mn-cs"/>
      </a:defRPr>
    </a:lvl5pPr>
    <a:lvl6pPr marL="2286000" algn="l" defTabSz="914400" rtl="0" eaLnBrk="1" latinLnBrk="0" hangingPunct="1">
      <a:defRPr sz="2800" kern="1200">
        <a:solidFill>
          <a:schemeClr val="tx1"/>
        </a:solidFill>
        <a:latin typeface="+mn-lt"/>
        <a:ea typeface="+mn-ea"/>
        <a:cs typeface="+mn-cs"/>
      </a:defRPr>
    </a:lvl6pPr>
    <a:lvl7pPr marL="2743200" algn="l" defTabSz="914400" rtl="0" eaLnBrk="1" latinLnBrk="0" hangingPunct="1">
      <a:defRPr sz="2800" kern="1200">
        <a:solidFill>
          <a:schemeClr val="tx1"/>
        </a:solidFill>
        <a:latin typeface="+mn-lt"/>
        <a:ea typeface="+mn-ea"/>
        <a:cs typeface="+mn-cs"/>
      </a:defRPr>
    </a:lvl7pPr>
    <a:lvl8pPr marL="3200400" algn="l" defTabSz="914400" rtl="0" eaLnBrk="1" latinLnBrk="0" hangingPunct="1">
      <a:defRPr sz="2800" kern="1200">
        <a:solidFill>
          <a:schemeClr val="tx1"/>
        </a:solidFill>
        <a:latin typeface="+mn-lt"/>
        <a:ea typeface="+mn-ea"/>
        <a:cs typeface="+mn-cs"/>
      </a:defRPr>
    </a:lvl8pPr>
    <a:lvl9pPr marL="3657600" algn="l" defTabSz="914400" rtl="0" eaLnBrk="1" latinLnBrk="0" hangingPunct="1">
      <a:defRPr sz="2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264" autoAdjust="0"/>
    <p:restoredTop sz="94660"/>
  </p:normalViewPr>
  <p:slideViewPr>
    <p:cSldViewPr snapToGrid="0">
      <p:cViewPr varScale="1">
        <p:scale>
          <a:sx n="90" d="100"/>
          <a:sy n="90" d="100"/>
        </p:scale>
        <p:origin x="420"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7F12D9-7043-43C9-9022-4CB927842C7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th-TH"/>
          </a:p>
        </p:txBody>
      </p:sp>
      <p:sp>
        <p:nvSpPr>
          <p:cNvPr id="3" name="Subtitle 2">
            <a:extLst>
              <a:ext uri="{FF2B5EF4-FFF2-40B4-BE49-F238E27FC236}">
                <a16:creationId xmlns:a16="http://schemas.microsoft.com/office/drawing/2014/main" id="{3F682E85-08CB-4BAA-8425-BD2C2AE6E59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th-TH"/>
          </a:p>
        </p:txBody>
      </p:sp>
      <p:sp>
        <p:nvSpPr>
          <p:cNvPr id="4" name="Date Placeholder 3">
            <a:extLst>
              <a:ext uri="{FF2B5EF4-FFF2-40B4-BE49-F238E27FC236}">
                <a16:creationId xmlns:a16="http://schemas.microsoft.com/office/drawing/2014/main" id="{E6E5EFEC-3DF3-4A5F-8D72-0DA2D7752ED1}"/>
              </a:ext>
            </a:extLst>
          </p:cNvPr>
          <p:cNvSpPr>
            <a:spLocks noGrp="1"/>
          </p:cNvSpPr>
          <p:nvPr>
            <p:ph type="dt" sz="half" idx="10"/>
          </p:nvPr>
        </p:nvSpPr>
        <p:spPr/>
        <p:txBody>
          <a:bodyPr/>
          <a:lstStyle/>
          <a:p>
            <a:fld id="{41DB1237-82F3-41AB-8C61-F8D2C1E0FDCB}" type="datetimeFigureOut">
              <a:rPr lang="th-TH" smtClean="0"/>
              <a:t>23/10/69</a:t>
            </a:fld>
            <a:endParaRPr lang="th-TH"/>
          </a:p>
        </p:txBody>
      </p:sp>
      <p:sp>
        <p:nvSpPr>
          <p:cNvPr id="5" name="Footer Placeholder 4">
            <a:extLst>
              <a:ext uri="{FF2B5EF4-FFF2-40B4-BE49-F238E27FC236}">
                <a16:creationId xmlns:a16="http://schemas.microsoft.com/office/drawing/2014/main" id="{D653792A-4195-4E94-8B3D-4B76EB7891D4}"/>
              </a:ext>
            </a:extLst>
          </p:cNvPr>
          <p:cNvSpPr>
            <a:spLocks noGrp="1"/>
          </p:cNvSpPr>
          <p:nvPr>
            <p:ph type="ftr" sz="quarter" idx="11"/>
          </p:nvPr>
        </p:nvSpPr>
        <p:spPr/>
        <p:txBody>
          <a:bodyPr/>
          <a:lstStyle/>
          <a:p>
            <a:endParaRPr lang="th-TH"/>
          </a:p>
        </p:txBody>
      </p:sp>
      <p:sp>
        <p:nvSpPr>
          <p:cNvPr id="6" name="Slide Number Placeholder 5">
            <a:extLst>
              <a:ext uri="{FF2B5EF4-FFF2-40B4-BE49-F238E27FC236}">
                <a16:creationId xmlns:a16="http://schemas.microsoft.com/office/drawing/2014/main" id="{D982B4D4-C42F-43E5-86FD-418F718E4029}"/>
              </a:ext>
            </a:extLst>
          </p:cNvPr>
          <p:cNvSpPr>
            <a:spLocks noGrp="1"/>
          </p:cNvSpPr>
          <p:nvPr>
            <p:ph type="sldNum" sz="quarter" idx="12"/>
          </p:nvPr>
        </p:nvSpPr>
        <p:spPr/>
        <p:txBody>
          <a:bodyPr/>
          <a:lstStyle/>
          <a:p>
            <a:fld id="{4ABD73F4-EAC8-4467-9D3A-5C33D6B539A6}" type="slidenum">
              <a:rPr lang="th-TH" smtClean="0"/>
              <a:t>‹#›</a:t>
            </a:fld>
            <a:endParaRPr lang="th-TH"/>
          </a:p>
        </p:txBody>
      </p:sp>
    </p:spTree>
    <p:extLst>
      <p:ext uri="{BB962C8B-B14F-4D97-AF65-F5344CB8AC3E}">
        <p14:creationId xmlns:p14="http://schemas.microsoft.com/office/powerpoint/2010/main" val="18609212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EB4F6D-239D-4BD9-B064-CD98F9DDF972}"/>
              </a:ext>
            </a:extLst>
          </p:cNvPr>
          <p:cNvSpPr>
            <a:spLocks noGrp="1"/>
          </p:cNvSpPr>
          <p:nvPr>
            <p:ph type="title"/>
          </p:nvPr>
        </p:nvSpPr>
        <p:spPr/>
        <p:txBody>
          <a:bodyPr/>
          <a:lstStyle/>
          <a:p>
            <a:r>
              <a:rPr lang="en-US"/>
              <a:t>Click to edit Master title style</a:t>
            </a:r>
            <a:endParaRPr lang="th-TH"/>
          </a:p>
        </p:txBody>
      </p:sp>
      <p:sp>
        <p:nvSpPr>
          <p:cNvPr id="3" name="Content Placeholder 2">
            <a:extLst>
              <a:ext uri="{FF2B5EF4-FFF2-40B4-BE49-F238E27FC236}">
                <a16:creationId xmlns:a16="http://schemas.microsoft.com/office/drawing/2014/main" id="{2E485487-E44F-4186-8EE5-A32F7D41A72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4" name="Date Placeholder 3">
            <a:extLst>
              <a:ext uri="{FF2B5EF4-FFF2-40B4-BE49-F238E27FC236}">
                <a16:creationId xmlns:a16="http://schemas.microsoft.com/office/drawing/2014/main" id="{582C8408-8C53-4641-9692-6722C2637B3F}"/>
              </a:ext>
            </a:extLst>
          </p:cNvPr>
          <p:cNvSpPr>
            <a:spLocks noGrp="1"/>
          </p:cNvSpPr>
          <p:nvPr>
            <p:ph type="dt" sz="half" idx="10"/>
          </p:nvPr>
        </p:nvSpPr>
        <p:spPr/>
        <p:txBody>
          <a:bodyPr/>
          <a:lstStyle/>
          <a:p>
            <a:fld id="{41DB1237-82F3-41AB-8C61-F8D2C1E0FDCB}" type="datetimeFigureOut">
              <a:rPr lang="th-TH" smtClean="0"/>
              <a:t>23/10/69</a:t>
            </a:fld>
            <a:endParaRPr lang="th-TH"/>
          </a:p>
        </p:txBody>
      </p:sp>
      <p:sp>
        <p:nvSpPr>
          <p:cNvPr id="5" name="Footer Placeholder 4">
            <a:extLst>
              <a:ext uri="{FF2B5EF4-FFF2-40B4-BE49-F238E27FC236}">
                <a16:creationId xmlns:a16="http://schemas.microsoft.com/office/drawing/2014/main" id="{881843B3-AFB7-4CDD-A62B-8CEDE8923EB1}"/>
              </a:ext>
            </a:extLst>
          </p:cNvPr>
          <p:cNvSpPr>
            <a:spLocks noGrp="1"/>
          </p:cNvSpPr>
          <p:nvPr>
            <p:ph type="ftr" sz="quarter" idx="11"/>
          </p:nvPr>
        </p:nvSpPr>
        <p:spPr/>
        <p:txBody>
          <a:bodyPr/>
          <a:lstStyle/>
          <a:p>
            <a:endParaRPr lang="th-TH"/>
          </a:p>
        </p:txBody>
      </p:sp>
      <p:sp>
        <p:nvSpPr>
          <p:cNvPr id="6" name="Slide Number Placeholder 5">
            <a:extLst>
              <a:ext uri="{FF2B5EF4-FFF2-40B4-BE49-F238E27FC236}">
                <a16:creationId xmlns:a16="http://schemas.microsoft.com/office/drawing/2014/main" id="{48ECFB9B-20A1-4E36-9F3B-33BCEC807A96}"/>
              </a:ext>
            </a:extLst>
          </p:cNvPr>
          <p:cNvSpPr>
            <a:spLocks noGrp="1"/>
          </p:cNvSpPr>
          <p:nvPr>
            <p:ph type="sldNum" sz="quarter" idx="12"/>
          </p:nvPr>
        </p:nvSpPr>
        <p:spPr/>
        <p:txBody>
          <a:bodyPr/>
          <a:lstStyle/>
          <a:p>
            <a:fld id="{4ABD73F4-EAC8-4467-9D3A-5C33D6B539A6}" type="slidenum">
              <a:rPr lang="th-TH" smtClean="0"/>
              <a:t>‹#›</a:t>
            </a:fld>
            <a:endParaRPr lang="th-TH"/>
          </a:p>
        </p:txBody>
      </p:sp>
    </p:spTree>
    <p:extLst>
      <p:ext uri="{BB962C8B-B14F-4D97-AF65-F5344CB8AC3E}">
        <p14:creationId xmlns:p14="http://schemas.microsoft.com/office/powerpoint/2010/main" val="3107410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413F78-3C05-4DE8-A76F-7950E8EBA83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th-TH"/>
          </a:p>
        </p:txBody>
      </p:sp>
      <p:sp>
        <p:nvSpPr>
          <p:cNvPr id="3" name="Text Placeholder 2">
            <a:extLst>
              <a:ext uri="{FF2B5EF4-FFF2-40B4-BE49-F238E27FC236}">
                <a16:creationId xmlns:a16="http://schemas.microsoft.com/office/drawing/2014/main" id="{13C2A966-59B1-4752-897D-BFC1C1384A5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3D5911F-6AC6-4181-B8B9-860FA094F2CB}"/>
              </a:ext>
            </a:extLst>
          </p:cNvPr>
          <p:cNvSpPr>
            <a:spLocks noGrp="1"/>
          </p:cNvSpPr>
          <p:nvPr>
            <p:ph type="dt" sz="half" idx="10"/>
          </p:nvPr>
        </p:nvSpPr>
        <p:spPr/>
        <p:txBody>
          <a:bodyPr/>
          <a:lstStyle/>
          <a:p>
            <a:fld id="{41DB1237-82F3-41AB-8C61-F8D2C1E0FDCB}" type="datetimeFigureOut">
              <a:rPr lang="th-TH" smtClean="0"/>
              <a:t>23/10/69</a:t>
            </a:fld>
            <a:endParaRPr lang="th-TH"/>
          </a:p>
        </p:txBody>
      </p:sp>
      <p:sp>
        <p:nvSpPr>
          <p:cNvPr id="5" name="Footer Placeholder 4">
            <a:extLst>
              <a:ext uri="{FF2B5EF4-FFF2-40B4-BE49-F238E27FC236}">
                <a16:creationId xmlns:a16="http://schemas.microsoft.com/office/drawing/2014/main" id="{E299DD4F-3D70-4194-B2FA-2945C9F6E53F}"/>
              </a:ext>
            </a:extLst>
          </p:cNvPr>
          <p:cNvSpPr>
            <a:spLocks noGrp="1"/>
          </p:cNvSpPr>
          <p:nvPr>
            <p:ph type="ftr" sz="quarter" idx="11"/>
          </p:nvPr>
        </p:nvSpPr>
        <p:spPr/>
        <p:txBody>
          <a:bodyPr/>
          <a:lstStyle/>
          <a:p>
            <a:endParaRPr lang="th-TH"/>
          </a:p>
        </p:txBody>
      </p:sp>
      <p:sp>
        <p:nvSpPr>
          <p:cNvPr id="6" name="Slide Number Placeholder 5">
            <a:extLst>
              <a:ext uri="{FF2B5EF4-FFF2-40B4-BE49-F238E27FC236}">
                <a16:creationId xmlns:a16="http://schemas.microsoft.com/office/drawing/2014/main" id="{C3FCD0CF-490D-4001-A0C3-B07147970B4D}"/>
              </a:ext>
            </a:extLst>
          </p:cNvPr>
          <p:cNvSpPr>
            <a:spLocks noGrp="1"/>
          </p:cNvSpPr>
          <p:nvPr>
            <p:ph type="sldNum" sz="quarter" idx="12"/>
          </p:nvPr>
        </p:nvSpPr>
        <p:spPr/>
        <p:txBody>
          <a:bodyPr/>
          <a:lstStyle/>
          <a:p>
            <a:fld id="{4ABD73F4-EAC8-4467-9D3A-5C33D6B539A6}" type="slidenum">
              <a:rPr lang="th-TH" smtClean="0"/>
              <a:t>‹#›</a:t>
            </a:fld>
            <a:endParaRPr lang="th-TH"/>
          </a:p>
        </p:txBody>
      </p:sp>
    </p:spTree>
    <p:extLst>
      <p:ext uri="{BB962C8B-B14F-4D97-AF65-F5344CB8AC3E}">
        <p14:creationId xmlns:p14="http://schemas.microsoft.com/office/powerpoint/2010/main" val="8013973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1721E-3BA0-4FCF-81B8-9EB48D87A99F}"/>
              </a:ext>
            </a:extLst>
          </p:cNvPr>
          <p:cNvSpPr>
            <a:spLocks noGrp="1"/>
          </p:cNvSpPr>
          <p:nvPr>
            <p:ph type="title"/>
          </p:nvPr>
        </p:nvSpPr>
        <p:spPr/>
        <p:txBody>
          <a:bodyPr/>
          <a:lstStyle/>
          <a:p>
            <a:r>
              <a:rPr lang="en-US"/>
              <a:t>Click to edit Master title style</a:t>
            </a:r>
            <a:endParaRPr lang="th-TH"/>
          </a:p>
        </p:txBody>
      </p:sp>
      <p:sp>
        <p:nvSpPr>
          <p:cNvPr id="3" name="Content Placeholder 2">
            <a:extLst>
              <a:ext uri="{FF2B5EF4-FFF2-40B4-BE49-F238E27FC236}">
                <a16:creationId xmlns:a16="http://schemas.microsoft.com/office/drawing/2014/main" id="{B69CCC5A-22A8-4B78-95F5-0F3D9FDF64E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4" name="Content Placeholder 3">
            <a:extLst>
              <a:ext uri="{FF2B5EF4-FFF2-40B4-BE49-F238E27FC236}">
                <a16:creationId xmlns:a16="http://schemas.microsoft.com/office/drawing/2014/main" id="{1E0C1BC9-62C7-4484-A5FD-12FC389F006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5" name="Date Placeholder 4">
            <a:extLst>
              <a:ext uri="{FF2B5EF4-FFF2-40B4-BE49-F238E27FC236}">
                <a16:creationId xmlns:a16="http://schemas.microsoft.com/office/drawing/2014/main" id="{D2A4D17E-88DC-4B2B-9E7B-93C4228E2632}"/>
              </a:ext>
            </a:extLst>
          </p:cNvPr>
          <p:cNvSpPr>
            <a:spLocks noGrp="1"/>
          </p:cNvSpPr>
          <p:nvPr>
            <p:ph type="dt" sz="half" idx="10"/>
          </p:nvPr>
        </p:nvSpPr>
        <p:spPr/>
        <p:txBody>
          <a:bodyPr/>
          <a:lstStyle/>
          <a:p>
            <a:fld id="{41DB1237-82F3-41AB-8C61-F8D2C1E0FDCB}" type="datetimeFigureOut">
              <a:rPr lang="th-TH" smtClean="0"/>
              <a:t>23/10/69</a:t>
            </a:fld>
            <a:endParaRPr lang="th-TH"/>
          </a:p>
        </p:txBody>
      </p:sp>
      <p:sp>
        <p:nvSpPr>
          <p:cNvPr id="6" name="Footer Placeholder 5">
            <a:extLst>
              <a:ext uri="{FF2B5EF4-FFF2-40B4-BE49-F238E27FC236}">
                <a16:creationId xmlns:a16="http://schemas.microsoft.com/office/drawing/2014/main" id="{70C696E0-05F8-49EF-8B68-AB47385B605D}"/>
              </a:ext>
            </a:extLst>
          </p:cNvPr>
          <p:cNvSpPr>
            <a:spLocks noGrp="1"/>
          </p:cNvSpPr>
          <p:nvPr>
            <p:ph type="ftr" sz="quarter" idx="11"/>
          </p:nvPr>
        </p:nvSpPr>
        <p:spPr/>
        <p:txBody>
          <a:bodyPr/>
          <a:lstStyle/>
          <a:p>
            <a:endParaRPr lang="th-TH"/>
          </a:p>
        </p:txBody>
      </p:sp>
      <p:sp>
        <p:nvSpPr>
          <p:cNvPr id="7" name="Slide Number Placeholder 6">
            <a:extLst>
              <a:ext uri="{FF2B5EF4-FFF2-40B4-BE49-F238E27FC236}">
                <a16:creationId xmlns:a16="http://schemas.microsoft.com/office/drawing/2014/main" id="{E69C8EF5-0E1F-49E6-93AC-1CE65BDAE62D}"/>
              </a:ext>
            </a:extLst>
          </p:cNvPr>
          <p:cNvSpPr>
            <a:spLocks noGrp="1"/>
          </p:cNvSpPr>
          <p:nvPr>
            <p:ph type="sldNum" sz="quarter" idx="12"/>
          </p:nvPr>
        </p:nvSpPr>
        <p:spPr/>
        <p:txBody>
          <a:bodyPr/>
          <a:lstStyle/>
          <a:p>
            <a:fld id="{4ABD73F4-EAC8-4467-9D3A-5C33D6B539A6}" type="slidenum">
              <a:rPr lang="th-TH" smtClean="0"/>
              <a:t>‹#›</a:t>
            </a:fld>
            <a:endParaRPr lang="th-TH"/>
          </a:p>
        </p:txBody>
      </p:sp>
    </p:spTree>
    <p:extLst>
      <p:ext uri="{BB962C8B-B14F-4D97-AF65-F5344CB8AC3E}">
        <p14:creationId xmlns:p14="http://schemas.microsoft.com/office/powerpoint/2010/main" val="40693452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0DFE25-C3C9-411A-91A2-6924B8B3A250}"/>
              </a:ext>
            </a:extLst>
          </p:cNvPr>
          <p:cNvSpPr>
            <a:spLocks noGrp="1"/>
          </p:cNvSpPr>
          <p:nvPr>
            <p:ph type="title"/>
          </p:nvPr>
        </p:nvSpPr>
        <p:spPr>
          <a:xfrm>
            <a:off x="839788" y="365125"/>
            <a:ext cx="10515600" cy="1325563"/>
          </a:xfrm>
        </p:spPr>
        <p:txBody>
          <a:bodyPr/>
          <a:lstStyle/>
          <a:p>
            <a:r>
              <a:rPr lang="en-US"/>
              <a:t>Click to edit Master title style</a:t>
            </a:r>
            <a:endParaRPr lang="th-TH"/>
          </a:p>
        </p:txBody>
      </p:sp>
      <p:sp>
        <p:nvSpPr>
          <p:cNvPr id="3" name="Text Placeholder 2">
            <a:extLst>
              <a:ext uri="{FF2B5EF4-FFF2-40B4-BE49-F238E27FC236}">
                <a16:creationId xmlns:a16="http://schemas.microsoft.com/office/drawing/2014/main" id="{D32D7EA1-4671-4046-8317-D7FFA86F649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861D1DA-003F-4B47-9FFC-A83D6736268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5" name="Text Placeholder 4">
            <a:extLst>
              <a:ext uri="{FF2B5EF4-FFF2-40B4-BE49-F238E27FC236}">
                <a16:creationId xmlns:a16="http://schemas.microsoft.com/office/drawing/2014/main" id="{0FAE6C3B-15DC-431E-BE0A-78563880456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2E09B8C-AB0A-4D51-A3E3-4436405A13B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7" name="Date Placeholder 6">
            <a:extLst>
              <a:ext uri="{FF2B5EF4-FFF2-40B4-BE49-F238E27FC236}">
                <a16:creationId xmlns:a16="http://schemas.microsoft.com/office/drawing/2014/main" id="{0291D225-5EBF-4105-BF12-A932C2A0E99E}"/>
              </a:ext>
            </a:extLst>
          </p:cNvPr>
          <p:cNvSpPr>
            <a:spLocks noGrp="1"/>
          </p:cNvSpPr>
          <p:nvPr>
            <p:ph type="dt" sz="half" idx="10"/>
          </p:nvPr>
        </p:nvSpPr>
        <p:spPr/>
        <p:txBody>
          <a:bodyPr/>
          <a:lstStyle/>
          <a:p>
            <a:fld id="{41DB1237-82F3-41AB-8C61-F8D2C1E0FDCB}" type="datetimeFigureOut">
              <a:rPr lang="th-TH" smtClean="0"/>
              <a:t>23/10/69</a:t>
            </a:fld>
            <a:endParaRPr lang="th-TH"/>
          </a:p>
        </p:txBody>
      </p:sp>
      <p:sp>
        <p:nvSpPr>
          <p:cNvPr id="8" name="Footer Placeholder 7">
            <a:extLst>
              <a:ext uri="{FF2B5EF4-FFF2-40B4-BE49-F238E27FC236}">
                <a16:creationId xmlns:a16="http://schemas.microsoft.com/office/drawing/2014/main" id="{592E3A21-B464-45C5-BD11-BAC2D5B89C5F}"/>
              </a:ext>
            </a:extLst>
          </p:cNvPr>
          <p:cNvSpPr>
            <a:spLocks noGrp="1"/>
          </p:cNvSpPr>
          <p:nvPr>
            <p:ph type="ftr" sz="quarter" idx="11"/>
          </p:nvPr>
        </p:nvSpPr>
        <p:spPr/>
        <p:txBody>
          <a:bodyPr/>
          <a:lstStyle/>
          <a:p>
            <a:endParaRPr lang="th-TH"/>
          </a:p>
        </p:txBody>
      </p:sp>
      <p:sp>
        <p:nvSpPr>
          <p:cNvPr id="9" name="Slide Number Placeholder 8">
            <a:extLst>
              <a:ext uri="{FF2B5EF4-FFF2-40B4-BE49-F238E27FC236}">
                <a16:creationId xmlns:a16="http://schemas.microsoft.com/office/drawing/2014/main" id="{273197E2-5EDC-44B6-A35C-5371ABAB1979}"/>
              </a:ext>
            </a:extLst>
          </p:cNvPr>
          <p:cNvSpPr>
            <a:spLocks noGrp="1"/>
          </p:cNvSpPr>
          <p:nvPr>
            <p:ph type="sldNum" sz="quarter" idx="12"/>
          </p:nvPr>
        </p:nvSpPr>
        <p:spPr/>
        <p:txBody>
          <a:bodyPr/>
          <a:lstStyle/>
          <a:p>
            <a:fld id="{4ABD73F4-EAC8-4467-9D3A-5C33D6B539A6}" type="slidenum">
              <a:rPr lang="th-TH" smtClean="0"/>
              <a:t>‹#›</a:t>
            </a:fld>
            <a:endParaRPr lang="th-TH"/>
          </a:p>
        </p:txBody>
      </p:sp>
    </p:spTree>
    <p:extLst>
      <p:ext uri="{BB962C8B-B14F-4D97-AF65-F5344CB8AC3E}">
        <p14:creationId xmlns:p14="http://schemas.microsoft.com/office/powerpoint/2010/main" val="9701744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EBFEAA-EC8D-4B86-ACB8-C11C6832B04B}"/>
              </a:ext>
            </a:extLst>
          </p:cNvPr>
          <p:cNvSpPr>
            <a:spLocks noGrp="1"/>
          </p:cNvSpPr>
          <p:nvPr>
            <p:ph type="title"/>
          </p:nvPr>
        </p:nvSpPr>
        <p:spPr/>
        <p:txBody>
          <a:bodyPr/>
          <a:lstStyle/>
          <a:p>
            <a:r>
              <a:rPr lang="en-US"/>
              <a:t>Click to edit Master title style</a:t>
            </a:r>
            <a:endParaRPr lang="th-TH"/>
          </a:p>
        </p:txBody>
      </p:sp>
      <p:sp>
        <p:nvSpPr>
          <p:cNvPr id="3" name="Date Placeholder 2">
            <a:extLst>
              <a:ext uri="{FF2B5EF4-FFF2-40B4-BE49-F238E27FC236}">
                <a16:creationId xmlns:a16="http://schemas.microsoft.com/office/drawing/2014/main" id="{ECD022C3-0BEF-4922-9834-2758C1EADD74}"/>
              </a:ext>
            </a:extLst>
          </p:cNvPr>
          <p:cNvSpPr>
            <a:spLocks noGrp="1"/>
          </p:cNvSpPr>
          <p:nvPr>
            <p:ph type="dt" sz="half" idx="10"/>
          </p:nvPr>
        </p:nvSpPr>
        <p:spPr/>
        <p:txBody>
          <a:bodyPr/>
          <a:lstStyle/>
          <a:p>
            <a:fld id="{41DB1237-82F3-41AB-8C61-F8D2C1E0FDCB}" type="datetimeFigureOut">
              <a:rPr lang="th-TH" smtClean="0"/>
              <a:t>23/10/69</a:t>
            </a:fld>
            <a:endParaRPr lang="th-TH"/>
          </a:p>
        </p:txBody>
      </p:sp>
      <p:sp>
        <p:nvSpPr>
          <p:cNvPr id="4" name="Footer Placeholder 3">
            <a:extLst>
              <a:ext uri="{FF2B5EF4-FFF2-40B4-BE49-F238E27FC236}">
                <a16:creationId xmlns:a16="http://schemas.microsoft.com/office/drawing/2014/main" id="{501210C7-7A59-452F-AF27-0232945F21EB}"/>
              </a:ext>
            </a:extLst>
          </p:cNvPr>
          <p:cNvSpPr>
            <a:spLocks noGrp="1"/>
          </p:cNvSpPr>
          <p:nvPr>
            <p:ph type="ftr" sz="quarter" idx="11"/>
          </p:nvPr>
        </p:nvSpPr>
        <p:spPr/>
        <p:txBody>
          <a:bodyPr/>
          <a:lstStyle/>
          <a:p>
            <a:endParaRPr lang="th-TH"/>
          </a:p>
        </p:txBody>
      </p:sp>
      <p:sp>
        <p:nvSpPr>
          <p:cNvPr id="5" name="Slide Number Placeholder 4">
            <a:extLst>
              <a:ext uri="{FF2B5EF4-FFF2-40B4-BE49-F238E27FC236}">
                <a16:creationId xmlns:a16="http://schemas.microsoft.com/office/drawing/2014/main" id="{1AF5589B-95E7-4B1F-AE5F-FDF1CB0B87C3}"/>
              </a:ext>
            </a:extLst>
          </p:cNvPr>
          <p:cNvSpPr>
            <a:spLocks noGrp="1"/>
          </p:cNvSpPr>
          <p:nvPr>
            <p:ph type="sldNum" sz="quarter" idx="12"/>
          </p:nvPr>
        </p:nvSpPr>
        <p:spPr/>
        <p:txBody>
          <a:bodyPr/>
          <a:lstStyle/>
          <a:p>
            <a:fld id="{4ABD73F4-EAC8-4467-9D3A-5C33D6B539A6}" type="slidenum">
              <a:rPr lang="th-TH" smtClean="0"/>
              <a:t>‹#›</a:t>
            </a:fld>
            <a:endParaRPr lang="th-TH"/>
          </a:p>
        </p:txBody>
      </p:sp>
    </p:spTree>
    <p:extLst>
      <p:ext uri="{BB962C8B-B14F-4D97-AF65-F5344CB8AC3E}">
        <p14:creationId xmlns:p14="http://schemas.microsoft.com/office/powerpoint/2010/main" val="30695168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E9EEBC4-7CC5-4602-A977-7A087F09AB38}"/>
              </a:ext>
            </a:extLst>
          </p:cNvPr>
          <p:cNvSpPr>
            <a:spLocks noGrp="1"/>
          </p:cNvSpPr>
          <p:nvPr>
            <p:ph type="dt" sz="half" idx="10"/>
          </p:nvPr>
        </p:nvSpPr>
        <p:spPr/>
        <p:txBody>
          <a:bodyPr/>
          <a:lstStyle/>
          <a:p>
            <a:fld id="{41DB1237-82F3-41AB-8C61-F8D2C1E0FDCB}" type="datetimeFigureOut">
              <a:rPr lang="th-TH" smtClean="0"/>
              <a:t>23/10/69</a:t>
            </a:fld>
            <a:endParaRPr lang="th-TH"/>
          </a:p>
        </p:txBody>
      </p:sp>
      <p:sp>
        <p:nvSpPr>
          <p:cNvPr id="3" name="Footer Placeholder 2">
            <a:extLst>
              <a:ext uri="{FF2B5EF4-FFF2-40B4-BE49-F238E27FC236}">
                <a16:creationId xmlns:a16="http://schemas.microsoft.com/office/drawing/2014/main" id="{B41582B0-F68A-4C28-9904-DC6FDB6BF3A3}"/>
              </a:ext>
            </a:extLst>
          </p:cNvPr>
          <p:cNvSpPr>
            <a:spLocks noGrp="1"/>
          </p:cNvSpPr>
          <p:nvPr>
            <p:ph type="ftr" sz="quarter" idx="11"/>
          </p:nvPr>
        </p:nvSpPr>
        <p:spPr/>
        <p:txBody>
          <a:bodyPr/>
          <a:lstStyle/>
          <a:p>
            <a:endParaRPr lang="th-TH"/>
          </a:p>
        </p:txBody>
      </p:sp>
      <p:sp>
        <p:nvSpPr>
          <p:cNvPr id="4" name="Slide Number Placeholder 3">
            <a:extLst>
              <a:ext uri="{FF2B5EF4-FFF2-40B4-BE49-F238E27FC236}">
                <a16:creationId xmlns:a16="http://schemas.microsoft.com/office/drawing/2014/main" id="{D651C69F-57F6-428D-8ED8-8CDC792690ED}"/>
              </a:ext>
            </a:extLst>
          </p:cNvPr>
          <p:cNvSpPr>
            <a:spLocks noGrp="1"/>
          </p:cNvSpPr>
          <p:nvPr>
            <p:ph type="sldNum" sz="quarter" idx="12"/>
          </p:nvPr>
        </p:nvSpPr>
        <p:spPr/>
        <p:txBody>
          <a:bodyPr/>
          <a:lstStyle/>
          <a:p>
            <a:fld id="{4ABD73F4-EAC8-4467-9D3A-5C33D6B539A6}" type="slidenum">
              <a:rPr lang="th-TH" smtClean="0"/>
              <a:t>‹#›</a:t>
            </a:fld>
            <a:endParaRPr lang="th-TH"/>
          </a:p>
        </p:txBody>
      </p:sp>
    </p:spTree>
    <p:extLst>
      <p:ext uri="{BB962C8B-B14F-4D97-AF65-F5344CB8AC3E}">
        <p14:creationId xmlns:p14="http://schemas.microsoft.com/office/powerpoint/2010/main" val="808565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7CC40-5AE9-4803-81CC-FACD1BABCCA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th-TH"/>
          </a:p>
        </p:txBody>
      </p:sp>
      <p:sp>
        <p:nvSpPr>
          <p:cNvPr id="3" name="Content Placeholder 2">
            <a:extLst>
              <a:ext uri="{FF2B5EF4-FFF2-40B4-BE49-F238E27FC236}">
                <a16:creationId xmlns:a16="http://schemas.microsoft.com/office/drawing/2014/main" id="{3DB824A6-6F48-43EE-B4E5-BD8BB335A93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4" name="Text Placeholder 3">
            <a:extLst>
              <a:ext uri="{FF2B5EF4-FFF2-40B4-BE49-F238E27FC236}">
                <a16:creationId xmlns:a16="http://schemas.microsoft.com/office/drawing/2014/main" id="{A6EA45F2-2D35-450B-8D97-7A84AD8A1AE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C872ECC-F35F-4CE1-8B9D-54CF4F2523FA}"/>
              </a:ext>
            </a:extLst>
          </p:cNvPr>
          <p:cNvSpPr>
            <a:spLocks noGrp="1"/>
          </p:cNvSpPr>
          <p:nvPr>
            <p:ph type="dt" sz="half" idx="10"/>
          </p:nvPr>
        </p:nvSpPr>
        <p:spPr/>
        <p:txBody>
          <a:bodyPr/>
          <a:lstStyle/>
          <a:p>
            <a:fld id="{41DB1237-82F3-41AB-8C61-F8D2C1E0FDCB}" type="datetimeFigureOut">
              <a:rPr lang="th-TH" smtClean="0"/>
              <a:t>23/10/69</a:t>
            </a:fld>
            <a:endParaRPr lang="th-TH"/>
          </a:p>
        </p:txBody>
      </p:sp>
      <p:sp>
        <p:nvSpPr>
          <p:cNvPr id="6" name="Footer Placeholder 5">
            <a:extLst>
              <a:ext uri="{FF2B5EF4-FFF2-40B4-BE49-F238E27FC236}">
                <a16:creationId xmlns:a16="http://schemas.microsoft.com/office/drawing/2014/main" id="{AA00ABAD-9ED5-41F9-8D41-B8C0FB223B47}"/>
              </a:ext>
            </a:extLst>
          </p:cNvPr>
          <p:cNvSpPr>
            <a:spLocks noGrp="1"/>
          </p:cNvSpPr>
          <p:nvPr>
            <p:ph type="ftr" sz="quarter" idx="11"/>
          </p:nvPr>
        </p:nvSpPr>
        <p:spPr/>
        <p:txBody>
          <a:bodyPr/>
          <a:lstStyle/>
          <a:p>
            <a:endParaRPr lang="th-TH"/>
          </a:p>
        </p:txBody>
      </p:sp>
      <p:sp>
        <p:nvSpPr>
          <p:cNvPr id="7" name="Slide Number Placeholder 6">
            <a:extLst>
              <a:ext uri="{FF2B5EF4-FFF2-40B4-BE49-F238E27FC236}">
                <a16:creationId xmlns:a16="http://schemas.microsoft.com/office/drawing/2014/main" id="{2D2BC9AB-B71C-4A34-9AEC-2AF20C5488D7}"/>
              </a:ext>
            </a:extLst>
          </p:cNvPr>
          <p:cNvSpPr>
            <a:spLocks noGrp="1"/>
          </p:cNvSpPr>
          <p:nvPr>
            <p:ph type="sldNum" sz="quarter" idx="12"/>
          </p:nvPr>
        </p:nvSpPr>
        <p:spPr/>
        <p:txBody>
          <a:bodyPr/>
          <a:lstStyle/>
          <a:p>
            <a:fld id="{4ABD73F4-EAC8-4467-9D3A-5C33D6B539A6}" type="slidenum">
              <a:rPr lang="th-TH" smtClean="0"/>
              <a:t>‹#›</a:t>
            </a:fld>
            <a:endParaRPr lang="th-TH"/>
          </a:p>
        </p:txBody>
      </p:sp>
    </p:spTree>
    <p:extLst>
      <p:ext uri="{BB962C8B-B14F-4D97-AF65-F5344CB8AC3E}">
        <p14:creationId xmlns:p14="http://schemas.microsoft.com/office/powerpoint/2010/main" val="26361385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7021D9-1C97-446C-A181-0F7637EC6F6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th-TH"/>
          </a:p>
        </p:txBody>
      </p:sp>
      <p:sp>
        <p:nvSpPr>
          <p:cNvPr id="3" name="Picture Placeholder 2">
            <a:extLst>
              <a:ext uri="{FF2B5EF4-FFF2-40B4-BE49-F238E27FC236}">
                <a16:creationId xmlns:a16="http://schemas.microsoft.com/office/drawing/2014/main" id="{0A0E48F9-C6FB-4865-A21E-BE150C93207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h-TH"/>
          </a:p>
        </p:txBody>
      </p:sp>
      <p:sp>
        <p:nvSpPr>
          <p:cNvPr id="4" name="Text Placeholder 3">
            <a:extLst>
              <a:ext uri="{FF2B5EF4-FFF2-40B4-BE49-F238E27FC236}">
                <a16:creationId xmlns:a16="http://schemas.microsoft.com/office/drawing/2014/main" id="{4ECA61A1-8C74-4B8B-841C-58FEBDBB34D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A05FE4D-FC97-406A-9621-01BC1BCB24B5}"/>
              </a:ext>
            </a:extLst>
          </p:cNvPr>
          <p:cNvSpPr>
            <a:spLocks noGrp="1"/>
          </p:cNvSpPr>
          <p:nvPr>
            <p:ph type="dt" sz="half" idx="10"/>
          </p:nvPr>
        </p:nvSpPr>
        <p:spPr/>
        <p:txBody>
          <a:bodyPr/>
          <a:lstStyle/>
          <a:p>
            <a:fld id="{41DB1237-82F3-41AB-8C61-F8D2C1E0FDCB}" type="datetimeFigureOut">
              <a:rPr lang="th-TH" smtClean="0"/>
              <a:t>23/10/69</a:t>
            </a:fld>
            <a:endParaRPr lang="th-TH"/>
          </a:p>
        </p:txBody>
      </p:sp>
      <p:sp>
        <p:nvSpPr>
          <p:cNvPr id="6" name="Footer Placeholder 5">
            <a:extLst>
              <a:ext uri="{FF2B5EF4-FFF2-40B4-BE49-F238E27FC236}">
                <a16:creationId xmlns:a16="http://schemas.microsoft.com/office/drawing/2014/main" id="{AFDD33F6-EB11-4210-9D4E-F08A8FEFC0B4}"/>
              </a:ext>
            </a:extLst>
          </p:cNvPr>
          <p:cNvSpPr>
            <a:spLocks noGrp="1"/>
          </p:cNvSpPr>
          <p:nvPr>
            <p:ph type="ftr" sz="quarter" idx="11"/>
          </p:nvPr>
        </p:nvSpPr>
        <p:spPr/>
        <p:txBody>
          <a:bodyPr/>
          <a:lstStyle/>
          <a:p>
            <a:endParaRPr lang="th-TH"/>
          </a:p>
        </p:txBody>
      </p:sp>
      <p:sp>
        <p:nvSpPr>
          <p:cNvPr id="7" name="Slide Number Placeholder 6">
            <a:extLst>
              <a:ext uri="{FF2B5EF4-FFF2-40B4-BE49-F238E27FC236}">
                <a16:creationId xmlns:a16="http://schemas.microsoft.com/office/drawing/2014/main" id="{2CCB47D7-7733-435D-A359-D2A153631872}"/>
              </a:ext>
            </a:extLst>
          </p:cNvPr>
          <p:cNvSpPr>
            <a:spLocks noGrp="1"/>
          </p:cNvSpPr>
          <p:nvPr>
            <p:ph type="sldNum" sz="quarter" idx="12"/>
          </p:nvPr>
        </p:nvSpPr>
        <p:spPr/>
        <p:txBody>
          <a:bodyPr/>
          <a:lstStyle/>
          <a:p>
            <a:fld id="{4ABD73F4-EAC8-4467-9D3A-5C33D6B539A6}" type="slidenum">
              <a:rPr lang="th-TH" smtClean="0"/>
              <a:t>‹#›</a:t>
            </a:fld>
            <a:endParaRPr lang="th-TH"/>
          </a:p>
        </p:txBody>
      </p:sp>
    </p:spTree>
    <p:extLst>
      <p:ext uri="{BB962C8B-B14F-4D97-AF65-F5344CB8AC3E}">
        <p14:creationId xmlns:p14="http://schemas.microsoft.com/office/powerpoint/2010/main" val="4660364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3EFA34-B39F-47BF-B2B0-D3DF5AB11313}"/>
              </a:ext>
            </a:extLst>
          </p:cNvPr>
          <p:cNvSpPr>
            <a:spLocks noGrp="1"/>
          </p:cNvSpPr>
          <p:nvPr>
            <p:ph type="title"/>
          </p:nvPr>
        </p:nvSpPr>
        <p:spPr/>
        <p:txBody>
          <a:bodyPr/>
          <a:lstStyle/>
          <a:p>
            <a:r>
              <a:rPr lang="en-US"/>
              <a:t>Click to edit Master title style</a:t>
            </a:r>
            <a:endParaRPr lang="th-TH"/>
          </a:p>
        </p:txBody>
      </p:sp>
      <p:sp>
        <p:nvSpPr>
          <p:cNvPr id="3" name="Vertical Text Placeholder 2">
            <a:extLst>
              <a:ext uri="{FF2B5EF4-FFF2-40B4-BE49-F238E27FC236}">
                <a16:creationId xmlns:a16="http://schemas.microsoft.com/office/drawing/2014/main" id="{C0EB2020-BB21-4CC6-A33C-2A0F8CE9D0C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4" name="Date Placeholder 3">
            <a:extLst>
              <a:ext uri="{FF2B5EF4-FFF2-40B4-BE49-F238E27FC236}">
                <a16:creationId xmlns:a16="http://schemas.microsoft.com/office/drawing/2014/main" id="{03B08570-F244-49A4-A301-6266F486BE67}"/>
              </a:ext>
            </a:extLst>
          </p:cNvPr>
          <p:cNvSpPr>
            <a:spLocks noGrp="1"/>
          </p:cNvSpPr>
          <p:nvPr>
            <p:ph type="dt" sz="half" idx="10"/>
          </p:nvPr>
        </p:nvSpPr>
        <p:spPr/>
        <p:txBody>
          <a:bodyPr/>
          <a:lstStyle/>
          <a:p>
            <a:fld id="{41DB1237-82F3-41AB-8C61-F8D2C1E0FDCB}" type="datetimeFigureOut">
              <a:rPr lang="th-TH" smtClean="0"/>
              <a:t>23/10/69</a:t>
            </a:fld>
            <a:endParaRPr lang="th-TH"/>
          </a:p>
        </p:txBody>
      </p:sp>
      <p:sp>
        <p:nvSpPr>
          <p:cNvPr id="5" name="Footer Placeholder 4">
            <a:extLst>
              <a:ext uri="{FF2B5EF4-FFF2-40B4-BE49-F238E27FC236}">
                <a16:creationId xmlns:a16="http://schemas.microsoft.com/office/drawing/2014/main" id="{ADAD847F-7F84-46ED-9F96-C4D1D506463D}"/>
              </a:ext>
            </a:extLst>
          </p:cNvPr>
          <p:cNvSpPr>
            <a:spLocks noGrp="1"/>
          </p:cNvSpPr>
          <p:nvPr>
            <p:ph type="ftr" sz="quarter" idx="11"/>
          </p:nvPr>
        </p:nvSpPr>
        <p:spPr/>
        <p:txBody>
          <a:bodyPr/>
          <a:lstStyle/>
          <a:p>
            <a:endParaRPr lang="th-TH"/>
          </a:p>
        </p:txBody>
      </p:sp>
      <p:sp>
        <p:nvSpPr>
          <p:cNvPr id="6" name="Slide Number Placeholder 5">
            <a:extLst>
              <a:ext uri="{FF2B5EF4-FFF2-40B4-BE49-F238E27FC236}">
                <a16:creationId xmlns:a16="http://schemas.microsoft.com/office/drawing/2014/main" id="{958D4326-B282-4EF1-8C8C-F8ED40AF1F88}"/>
              </a:ext>
            </a:extLst>
          </p:cNvPr>
          <p:cNvSpPr>
            <a:spLocks noGrp="1"/>
          </p:cNvSpPr>
          <p:nvPr>
            <p:ph type="sldNum" sz="quarter" idx="12"/>
          </p:nvPr>
        </p:nvSpPr>
        <p:spPr/>
        <p:txBody>
          <a:bodyPr/>
          <a:lstStyle/>
          <a:p>
            <a:fld id="{4ABD73F4-EAC8-4467-9D3A-5C33D6B539A6}" type="slidenum">
              <a:rPr lang="th-TH" smtClean="0"/>
              <a:t>‹#›</a:t>
            </a:fld>
            <a:endParaRPr lang="th-TH"/>
          </a:p>
        </p:txBody>
      </p:sp>
    </p:spTree>
    <p:extLst>
      <p:ext uri="{BB962C8B-B14F-4D97-AF65-F5344CB8AC3E}">
        <p14:creationId xmlns:p14="http://schemas.microsoft.com/office/powerpoint/2010/main" val="21021316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A8AEEC-EE8D-442E-BA35-3F32CF6811D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th-TH"/>
          </a:p>
        </p:txBody>
      </p:sp>
      <p:sp>
        <p:nvSpPr>
          <p:cNvPr id="3" name="Vertical Text Placeholder 2">
            <a:extLst>
              <a:ext uri="{FF2B5EF4-FFF2-40B4-BE49-F238E27FC236}">
                <a16:creationId xmlns:a16="http://schemas.microsoft.com/office/drawing/2014/main" id="{040D9031-A15E-4A14-8D32-E436BEDC8C4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4" name="Date Placeholder 3">
            <a:extLst>
              <a:ext uri="{FF2B5EF4-FFF2-40B4-BE49-F238E27FC236}">
                <a16:creationId xmlns:a16="http://schemas.microsoft.com/office/drawing/2014/main" id="{03BDBA8D-0A99-4282-BC51-91B64DB229BD}"/>
              </a:ext>
            </a:extLst>
          </p:cNvPr>
          <p:cNvSpPr>
            <a:spLocks noGrp="1"/>
          </p:cNvSpPr>
          <p:nvPr>
            <p:ph type="dt" sz="half" idx="10"/>
          </p:nvPr>
        </p:nvSpPr>
        <p:spPr/>
        <p:txBody>
          <a:bodyPr/>
          <a:lstStyle/>
          <a:p>
            <a:fld id="{41DB1237-82F3-41AB-8C61-F8D2C1E0FDCB}" type="datetimeFigureOut">
              <a:rPr lang="th-TH" smtClean="0"/>
              <a:t>23/10/69</a:t>
            </a:fld>
            <a:endParaRPr lang="th-TH"/>
          </a:p>
        </p:txBody>
      </p:sp>
      <p:sp>
        <p:nvSpPr>
          <p:cNvPr id="5" name="Footer Placeholder 4">
            <a:extLst>
              <a:ext uri="{FF2B5EF4-FFF2-40B4-BE49-F238E27FC236}">
                <a16:creationId xmlns:a16="http://schemas.microsoft.com/office/drawing/2014/main" id="{EF46A43C-789C-4658-84D1-958E13EAB6AC}"/>
              </a:ext>
            </a:extLst>
          </p:cNvPr>
          <p:cNvSpPr>
            <a:spLocks noGrp="1"/>
          </p:cNvSpPr>
          <p:nvPr>
            <p:ph type="ftr" sz="quarter" idx="11"/>
          </p:nvPr>
        </p:nvSpPr>
        <p:spPr/>
        <p:txBody>
          <a:bodyPr/>
          <a:lstStyle/>
          <a:p>
            <a:endParaRPr lang="th-TH"/>
          </a:p>
        </p:txBody>
      </p:sp>
      <p:sp>
        <p:nvSpPr>
          <p:cNvPr id="6" name="Slide Number Placeholder 5">
            <a:extLst>
              <a:ext uri="{FF2B5EF4-FFF2-40B4-BE49-F238E27FC236}">
                <a16:creationId xmlns:a16="http://schemas.microsoft.com/office/drawing/2014/main" id="{B1D5667C-798D-4930-BF1F-B248F5D0C242}"/>
              </a:ext>
            </a:extLst>
          </p:cNvPr>
          <p:cNvSpPr>
            <a:spLocks noGrp="1"/>
          </p:cNvSpPr>
          <p:nvPr>
            <p:ph type="sldNum" sz="quarter" idx="12"/>
          </p:nvPr>
        </p:nvSpPr>
        <p:spPr/>
        <p:txBody>
          <a:bodyPr/>
          <a:lstStyle/>
          <a:p>
            <a:fld id="{4ABD73F4-EAC8-4467-9D3A-5C33D6B539A6}" type="slidenum">
              <a:rPr lang="th-TH" smtClean="0"/>
              <a:t>‹#›</a:t>
            </a:fld>
            <a:endParaRPr lang="th-TH"/>
          </a:p>
        </p:txBody>
      </p:sp>
    </p:spTree>
    <p:extLst>
      <p:ext uri="{BB962C8B-B14F-4D97-AF65-F5344CB8AC3E}">
        <p14:creationId xmlns:p14="http://schemas.microsoft.com/office/powerpoint/2010/main" val="15985109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3B63944-606C-4649-9C9F-199983D0C86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th-TH"/>
          </a:p>
        </p:txBody>
      </p:sp>
      <p:sp>
        <p:nvSpPr>
          <p:cNvPr id="3" name="Text Placeholder 2">
            <a:extLst>
              <a:ext uri="{FF2B5EF4-FFF2-40B4-BE49-F238E27FC236}">
                <a16:creationId xmlns:a16="http://schemas.microsoft.com/office/drawing/2014/main" id="{622CEC6E-3A78-4539-9E6E-FA74C019CD4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4" name="Date Placeholder 3">
            <a:extLst>
              <a:ext uri="{FF2B5EF4-FFF2-40B4-BE49-F238E27FC236}">
                <a16:creationId xmlns:a16="http://schemas.microsoft.com/office/drawing/2014/main" id="{32ED7ED7-F0F1-4DAB-B4F8-561F9407352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1DB1237-82F3-41AB-8C61-F8D2C1E0FDCB}" type="datetimeFigureOut">
              <a:rPr lang="th-TH" smtClean="0"/>
              <a:t>23/10/69</a:t>
            </a:fld>
            <a:endParaRPr lang="th-TH"/>
          </a:p>
        </p:txBody>
      </p:sp>
      <p:sp>
        <p:nvSpPr>
          <p:cNvPr id="5" name="Footer Placeholder 4">
            <a:extLst>
              <a:ext uri="{FF2B5EF4-FFF2-40B4-BE49-F238E27FC236}">
                <a16:creationId xmlns:a16="http://schemas.microsoft.com/office/drawing/2014/main" id="{D30229C8-B108-462D-8E37-73D87D6A265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th-TH"/>
          </a:p>
        </p:txBody>
      </p:sp>
      <p:sp>
        <p:nvSpPr>
          <p:cNvPr id="6" name="Slide Number Placeholder 5">
            <a:extLst>
              <a:ext uri="{FF2B5EF4-FFF2-40B4-BE49-F238E27FC236}">
                <a16:creationId xmlns:a16="http://schemas.microsoft.com/office/drawing/2014/main" id="{36B7440F-0966-4EB5-8F81-01E9EE7B03A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ABD73F4-EAC8-4467-9D3A-5C33D6B539A6}" type="slidenum">
              <a:rPr lang="th-TH" smtClean="0"/>
              <a:t>‹#›</a:t>
            </a:fld>
            <a:endParaRPr lang="th-TH"/>
          </a:p>
        </p:txBody>
      </p:sp>
    </p:spTree>
    <p:extLst>
      <p:ext uri="{BB962C8B-B14F-4D97-AF65-F5344CB8AC3E}">
        <p14:creationId xmlns:p14="http://schemas.microsoft.com/office/powerpoint/2010/main" val="8266331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th-TH"/>
      </a:defPPr>
      <a:lvl1pPr marL="0" algn="l" defTabSz="914400" rtl="0" eaLnBrk="1" latinLnBrk="0" hangingPunct="1">
        <a:defRPr sz="2800" kern="1200">
          <a:solidFill>
            <a:schemeClr val="tx1"/>
          </a:solidFill>
          <a:latin typeface="+mn-lt"/>
          <a:ea typeface="+mn-ea"/>
          <a:cs typeface="+mn-cs"/>
        </a:defRPr>
      </a:lvl1pPr>
      <a:lvl2pPr marL="457200" algn="l" defTabSz="914400" rtl="0" eaLnBrk="1" latinLnBrk="0" hangingPunct="1">
        <a:defRPr sz="2800" kern="1200">
          <a:solidFill>
            <a:schemeClr val="tx1"/>
          </a:solidFill>
          <a:latin typeface="+mn-lt"/>
          <a:ea typeface="+mn-ea"/>
          <a:cs typeface="+mn-cs"/>
        </a:defRPr>
      </a:lvl2pPr>
      <a:lvl3pPr marL="914400" algn="l" defTabSz="914400" rtl="0" eaLnBrk="1" latinLnBrk="0" hangingPunct="1">
        <a:defRPr sz="2800" kern="1200">
          <a:solidFill>
            <a:schemeClr val="tx1"/>
          </a:solidFill>
          <a:latin typeface="+mn-lt"/>
          <a:ea typeface="+mn-ea"/>
          <a:cs typeface="+mn-cs"/>
        </a:defRPr>
      </a:lvl3pPr>
      <a:lvl4pPr marL="1371600" algn="l" defTabSz="914400" rtl="0" eaLnBrk="1" latinLnBrk="0" hangingPunct="1">
        <a:defRPr sz="2800" kern="1200">
          <a:solidFill>
            <a:schemeClr val="tx1"/>
          </a:solidFill>
          <a:latin typeface="+mn-lt"/>
          <a:ea typeface="+mn-ea"/>
          <a:cs typeface="+mn-cs"/>
        </a:defRPr>
      </a:lvl4pPr>
      <a:lvl5pPr marL="1828800" algn="l" defTabSz="914400" rtl="0" eaLnBrk="1" latinLnBrk="0" hangingPunct="1">
        <a:defRPr sz="2800" kern="1200">
          <a:solidFill>
            <a:schemeClr val="tx1"/>
          </a:solidFill>
          <a:latin typeface="+mn-lt"/>
          <a:ea typeface="+mn-ea"/>
          <a:cs typeface="+mn-cs"/>
        </a:defRPr>
      </a:lvl5pPr>
      <a:lvl6pPr marL="2286000" algn="l" defTabSz="914400" rtl="0" eaLnBrk="1" latinLnBrk="0" hangingPunct="1">
        <a:defRPr sz="2800" kern="1200">
          <a:solidFill>
            <a:schemeClr val="tx1"/>
          </a:solidFill>
          <a:latin typeface="+mn-lt"/>
          <a:ea typeface="+mn-ea"/>
          <a:cs typeface="+mn-cs"/>
        </a:defRPr>
      </a:lvl6pPr>
      <a:lvl7pPr marL="2743200" algn="l" defTabSz="914400" rtl="0" eaLnBrk="1" latinLnBrk="0" hangingPunct="1">
        <a:defRPr sz="2800" kern="1200">
          <a:solidFill>
            <a:schemeClr val="tx1"/>
          </a:solidFill>
          <a:latin typeface="+mn-lt"/>
          <a:ea typeface="+mn-ea"/>
          <a:cs typeface="+mn-cs"/>
        </a:defRPr>
      </a:lvl7pPr>
      <a:lvl8pPr marL="3200400" algn="l" defTabSz="914400" rtl="0" eaLnBrk="1" latinLnBrk="0" hangingPunct="1">
        <a:defRPr sz="2800" kern="1200">
          <a:solidFill>
            <a:schemeClr val="tx1"/>
          </a:solidFill>
          <a:latin typeface="+mn-lt"/>
          <a:ea typeface="+mn-ea"/>
          <a:cs typeface="+mn-cs"/>
        </a:defRPr>
      </a:lvl8pPr>
      <a:lvl9pPr marL="3657600" algn="l" defTabSz="914400" rtl="0" eaLnBrk="1" latinLnBrk="0" hangingPunct="1">
        <a:defRPr sz="2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hyperlink" Target="https://www.google.com/search?sca_esv=b76d9db050c6663d&amp;rlz=1C1OKWM_enTH1058TH1058&amp;q=design+thinking+process&amp;source=lnms&amp;fbs=AIIjpHxU7SXXniUZfeShr2fp4giZ1Y6MJ25_tmWITc7uy4KIesp4JNzLpfTaPhMa2AVaJKqFtcfmRTQLRkZioTgjDHIUS_a7o6TghI7UW0M4rb_D91UOBJgYOjRw7YK0yYnWtFVa2KvtLVTkHNJ9j84OP_5YSydOEuWGFMwV5YqFRLURLkDlTAp0HlgPTv9N99mf4qVxfRt2HUzkD_QRUZYgF_3WuJ_7hHr1DyUml1nLtrMtSbYoogQ&amp;sa=X&amp;ved=2ahUKEwjpuuGmtfWQAxWinGMGHcclFXEQgK4QegQIARAD&amp;biw=1207&amp;bih=876&amp;dpr=0.8&amp;mstk=AUtExfAntcVPesdLj-3tyI5w70xpc01CfpXKQRXhXV5wAU4q952Fg-haql6KSfNOhQHBdmQEqvwsRpd9bUX5KDhoLL3_fwTiGvQE1O5BUucli8N6wv7xljAm2NQTo1gA9bjZQakWU3oQotO_i2Y6s3QNFy_U7LN_PyIn5g91sPJ08_RiGkFmuNTDLKlJB1TBi_yPcEUi&amp;csui=3" TargetMode="External"/><Relationship Id="rId2" Type="http://schemas.openxmlformats.org/officeDocument/2006/relationships/image" Target="../media/image4.jpe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7.xml"/><Relationship Id="rId4" Type="http://schemas.openxmlformats.org/officeDocument/2006/relationships/image" Target="../media/image11.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jpeg"/><Relationship Id="rId1" Type="http://schemas.openxmlformats.org/officeDocument/2006/relationships/slideLayout" Target="../slideLayouts/slideLayout7.xml"/><Relationship Id="rId5" Type="http://schemas.openxmlformats.org/officeDocument/2006/relationships/image" Target="../media/image16.jpeg"/><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hyperlink" Target="https://www.google.com/search?q=Kalasatama+district&amp;sca_esv=b76d9db050c6663d&amp;rlz=1C1OKWM_enTH1058TH1058&amp;biw=1207&amp;bih=876&amp;ei=9y0ZaaGxPLrw4-EP5OnVgAw&amp;ved=2ahUKEwj2keTFx_WQAxVBUGcHHShgDEcQgK4QegQIARAC&amp;uact=5&amp;oq=Real-World+Application%0D%0ADesign+Thinking+&amp;gs_lp=Egxnd3Mtd2l6LXNlcnAiJ1JlYWwtV29ybGQgQXBwbGljYXRpb24KRGVzaWduIFRoaW5raW5nIDIKEAAYRxjWBBiwAzIKEAAYRxjWBBiwAzIKEAAYRxjWBBiwAzIKEAAYRxjWBBiwAzIKEAAYRxjWBBiwAzIKEAAYRxjWBBiwAzIKEAAYRxjWBBiwAzIKEAAYRxjWBBiwA0jaEFDKDFjKDHABeAGQAQCYAQCgAQCqAQC4AQPIAQD4AQL4AQGYAgGgAgWYAwCIBgGQBgiSBwExoAcAsgcAuAcAwgcDMi0xyAcE&amp;sclient=gws-wiz-serp&amp;mstk=AUtExfA2-eoayX48EO2bQX5o8RejymhW_0E8zdhezOmcZjfx0HoAUwvdrR8oOZYoJ6cGZoE_f8fnNtHbf2WxTBcrjpX_tOkOde4-rRZYm5tn6YAb3BHTSCpkX6Ri7sjtkQ46DXYb4Aql8Wolh9jaga01wIGD0K1zWizhCm5KgG_5MHqbNfsWDI3gjgVM7Y5U2P2BCruv&amp;csui=3" TargetMode="Externa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58FDF3-D6FD-4A66-8420-92342B1D8C69}"/>
              </a:ext>
            </a:extLst>
          </p:cNvPr>
          <p:cNvSpPr>
            <a:spLocks noGrp="1"/>
          </p:cNvSpPr>
          <p:nvPr>
            <p:ph type="ctrTitle"/>
          </p:nvPr>
        </p:nvSpPr>
        <p:spPr>
          <a:xfrm>
            <a:off x="1524000" y="842964"/>
            <a:ext cx="9144000" cy="3500436"/>
          </a:xfrm>
        </p:spPr>
        <p:txBody>
          <a:bodyPr>
            <a:noAutofit/>
          </a:bodyPr>
          <a:lstStyle/>
          <a:p>
            <a:r>
              <a:rPr lang="en-US" sz="8000" b="1" dirty="0">
                <a:effectLst/>
                <a:latin typeface="TH SarabunPSK" panose="020B0500040200020003" pitchFamily="34" charset="-34"/>
                <a:ea typeface="Angsana New" panose="02020603050405020304" pitchFamily="18" charset="-34"/>
              </a:rPr>
              <a:t>Chapter 1 </a:t>
            </a:r>
            <a:r>
              <a:rPr lang="en-US" sz="8000" b="1" dirty="0">
                <a:effectLst/>
                <a:latin typeface="TH SarabunPSK" panose="020B0500040200020003" pitchFamily="34" charset="-34"/>
                <a:ea typeface="Calibri" panose="020F0502020204030204" pitchFamily="34" charset="0"/>
              </a:rPr>
              <a:t>Introduction to design thinking</a:t>
            </a:r>
            <a:endParaRPr lang="th-TH" sz="8000" b="1" dirty="0"/>
          </a:p>
        </p:txBody>
      </p:sp>
      <p:sp>
        <p:nvSpPr>
          <p:cNvPr id="3" name="Subtitle 2">
            <a:extLst>
              <a:ext uri="{FF2B5EF4-FFF2-40B4-BE49-F238E27FC236}">
                <a16:creationId xmlns:a16="http://schemas.microsoft.com/office/drawing/2014/main" id="{75A61AFC-F987-4AC9-8968-1FD93A1E1DC0}"/>
              </a:ext>
            </a:extLst>
          </p:cNvPr>
          <p:cNvSpPr>
            <a:spLocks noGrp="1"/>
          </p:cNvSpPr>
          <p:nvPr>
            <p:ph type="subTitle" idx="1"/>
          </p:nvPr>
        </p:nvSpPr>
        <p:spPr>
          <a:xfrm>
            <a:off x="1524000" y="4473576"/>
            <a:ext cx="9144000" cy="1655762"/>
          </a:xfrm>
        </p:spPr>
        <p:txBody>
          <a:bodyPr/>
          <a:lstStyle/>
          <a:p>
            <a:r>
              <a:rPr lang="en-US" dirty="0"/>
              <a:t>Assoc. Prof. Dr. </a:t>
            </a:r>
            <a:r>
              <a:rPr lang="en-US" dirty="0" err="1"/>
              <a:t>Thacha</a:t>
            </a:r>
            <a:r>
              <a:rPr lang="en-US" dirty="0"/>
              <a:t> Lawanna</a:t>
            </a:r>
            <a:endParaRPr lang="th-TH" dirty="0"/>
          </a:p>
        </p:txBody>
      </p:sp>
    </p:spTree>
    <p:extLst>
      <p:ext uri="{BB962C8B-B14F-4D97-AF65-F5344CB8AC3E}">
        <p14:creationId xmlns:p14="http://schemas.microsoft.com/office/powerpoint/2010/main" val="29372913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14AD0B0-6419-4728-B809-B8A070E9030D}"/>
              </a:ext>
            </a:extLst>
          </p:cNvPr>
          <p:cNvSpPr txBox="1"/>
          <p:nvPr/>
        </p:nvSpPr>
        <p:spPr>
          <a:xfrm>
            <a:off x="617934" y="429429"/>
            <a:ext cx="4168379" cy="5262979"/>
          </a:xfrm>
          <a:prstGeom prst="rect">
            <a:avLst/>
          </a:prstGeom>
          <a:solidFill>
            <a:schemeClr val="bg1">
              <a:lumMod val="95000"/>
            </a:schemeClr>
          </a:solidFill>
        </p:spPr>
        <p:txBody>
          <a:bodyPr wrap="square">
            <a:spAutoFit/>
          </a:bodyPr>
          <a:lstStyle/>
          <a:p>
            <a:pPr algn="just"/>
            <a:r>
              <a:rPr lang="en-US" b="1" dirty="0"/>
              <a:t>Objective of the Study:</a:t>
            </a:r>
          </a:p>
          <a:p>
            <a:pPr algn="just"/>
            <a:r>
              <a:rPr lang="en-US" dirty="0"/>
              <a:t>To examine how emerging AI technologies reshape innovation processes across industries, focusing on the mechanisms through which AI enhances creativity, accelerates problem-solving, and enables new forms of value creation in future digital ecosystems.</a:t>
            </a:r>
            <a:endParaRPr lang="th-TH" dirty="0"/>
          </a:p>
        </p:txBody>
      </p:sp>
      <p:pic>
        <p:nvPicPr>
          <p:cNvPr id="3074" name="Picture 2" descr="Empathy Design Thinking Stock Illustrations – 1,097 Empathy Design ...">
            <a:extLst>
              <a:ext uri="{FF2B5EF4-FFF2-40B4-BE49-F238E27FC236}">
                <a16:creationId xmlns:a16="http://schemas.microsoft.com/office/drawing/2014/main" id="{C0C50882-1ECB-4B04-BB35-632A996FAC8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54253" y="369093"/>
            <a:ext cx="6119813" cy="61198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3104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6C71140-58FD-4F9E-AC73-BDC37919DABA}"/>
              </a:ext>
            </a:extLst>
          </p:cNvPr>
          <p:cNvSpPr txBox="1"/>
          <p:nvPr/>
        </p:nvSpPr>
        <p:spPr>
          <a:xfrm>
            <a:off x="360760" y="428298"/>
            <a:ext cx="3811190" cy="5478423"/>
          </a:xfrm>
          <a:prstGeom prst="rect">
            <a:avLst/>
          </a:prstGeom>
          <a:solidFill>
            <a:schemeClr val="bg1">
              <a:lumMod val="85000"/>
            </a:schemeClr>
          </a:solidFill>
        </p:spPr>
        <p:txBody>
          <a:bodyPr wrap="square">
            <a:spAutoFit/>
          </a:bodyPr>
          <a:lstStyle/>
          <a:p>
            <a:pPr algn="just"/>
            <a:r>
              <a:rPr lang="en-US" sz="2500" b="1" dirty="0"/>
              <a:t>1. </a:t>
            </a:r>
            <a:r>
              <a:rPr lang="en-US" sz="2500" b="1" dirty="0">
                <a:solidFill>
                  <a:srgbClr val="FF0000"/>
                </a:solidFill>
              </a:rPr>
              <a:t>Human-Centered Design</a:t>
            </a:r>
          </a:p>
          <a:p>
            <a:pPr algn="just"/>
            <a:r>
              <a:rPr lang="en-US" sz="2500" dirty="0"/>
              <a:t>Focuses on understanding </a:t>
            </a:r>
            <a:r>
              <a:rPr lang="en-US" sz="2500" u="sng" dirty="0"/>
              <a:t>users’ needs</a:t>
            </a:r>
            <a:r>
              <a:rPr lang="en-US" sz="2500" dirty="0"/>
              <a:t>, emotions, and </a:t>
            </a:r>
            <a:r>
              <a:rPr lang="en-US" sz="2500" u="sng" dirty="0"/>
              <a:t>behaviors</a:t>
            </a:r>
            <a:r>
              <a:rPr lang="en-US" sz="2500" dirty="0"/>
              <a:t>. This approach </a:t>
            </a:r>
            <a:r>
              <a:rPr lang="en-US" sz="2500" u="sng" dirty="0"/>
              <a:t>places people at the center </a:t>
            </a:r>
            <a:r>
              <a:rPr lang="en-US" sz="2500" dirty="0"/>
              <a:t>of the design process, ensuring solutions are meaningful and relevant. Designers observe users in real contexts, gather insights, and use them to develop products or services that truly address their real problems.</a:t>
            </a:r>
          </a:p>
        </p:txBody>
      </p:sp>
      <p:sp>
        <p:nvSpPr>
          <p:cNvPr id="4" name="TextBox 3">
            <a:extLst>
              <a:ext uri="{FF2B5EF4-FFF2-40B4-BE49-F238E27FC236}">
                <a16:creationId xmlns:a16="http://schemas.microsoft.com/office/drawing/2014/main" id="{8707EB8D-A0AB-499F-A16B-28DC48CA1C63}"/>
              </a:ext>
            </a:extLst>
          </p:cNvPr>
          <p:cNvSpPr txBox="1"/>
          <p:nvPr/>
        </p:nvSpPr>
        <p:spPr>
          <a:xfrm>
            <a:off x="360760" y="5969854"/>
            <a:ext cx="11470480" cy="707886"/>
          </a:xfrm>
          <a:prstGeom prst="rect">
            <a:avLst/>
          </a:prstGeom>
          <a:noFill/>
        </p:spPr>
        <p:txBody>
          <a:bodyPr wrap="square">
            <a:spAutoFit/>
          </a:bodyPr>
          <a:lstStyle/>
          <a:p>
            <a:pPr algn="just"/>
            <a:r>
              <a:rPr lang="en-US" sz="2000" b="0" i="0" dirty="0">
                <a:solidFill>
                  <a:srgbClr val="0A0A0A"/>
                </a:solidFill>
                <a:effectLst/>
                <a:latin typeface="Google Sans"/>
              </a:rPr>
              <a:t>Human-centered design (HCD) is </a:t>
            </a:r>
            <a:r>
              <a:rPr lang="en-US" sz="2000" dirty="0"/>
              <a:t>a problem-solving approach that prioritizes the needs of real people throughout the design process to create solutions that are effective and tailored to users</a:t>
            </a:r>
            <a:r>
              <a:rPr lang="en-US" sz="2000" b="0" i="0" dirty="0">
                <a:solidFill>
                  <a:srgbClr val="0A0A0A"/>
                </a:solidFill>
                <a:effectLst/>
                <a:latin typeface="Google Sans"/>
              </a:rPr>
              <a:t>. </a:t>
            </a:r>
            <a:endParaRPr lang="th-TH" sz="2000" dirty="0"/>
          </a:p>
        </p:txBody>
      </p:sp>
      <p:pic>
        <p:nvPicPr>
          <p:cNvPr id="1026" name="Picture 2" descr="What is Human-Centered Design (HCD)? | IxDF">
            <a:extLst>
              <a:ext uri="{FF2B5EF4-FFF2-40B4-BE49-F238E27FC236}">
                <a16:creationId xmlns:a16="http://schemas.microsoft.com/office/drawing/2014/main" id="{90AA79F6-AEFA-4D22-B6F7-DC6172D7B3F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959" t="8455" r="6291" b="26656"/>
          <a:stretch/>
        </p:blipFill>
        <p:spPr bwMode="auto">
          <a:xfrm>
            <a:off x="4357688" y="428298"/>
            <a:ext cx="5186364" cy="2085975"/>
          </a:xfrm>
          <a:prstGeom prst="rect">
            <a:avLst/>
          </a:prstGeom>
          <a:noFill/>
          <a:ln>
            <a:solidFill>
              <a:schemeClr val="accent1"/>
            </a:solidFill>
          </a:ln>
          <a:extLst>
            <a:ext uri="{909E8E84-426E-40DD-AFC4-6F175D3DCCD1}">
              <a14:hiddenFill xmlns:a14="http://schemas.microsoft.com/office/drawing/2010/main">
                <a:solidFill>
                  <a:srgbClr val="FFFFFF"/>
                </a:solidFill>
              </a14:hiddenFill>
            </a:ext>
          </a:extLst>
        </p:spPr>
      </p:pic>
      <p:pic>
        <p:nvPicPr>
          <p:cNvPr id="1028" name="Picture 4" descr="Human-centered design: Definition, use, and advantages - IONOS">
            <a:extLst>
              <a:ext uri="{FF2B5EF4-FFF2-40B4-BE49-F238E27FC236}">
                <a16:creationId xmlns:a16="http://schemas.microsoft.com/office/drawing/2014/main" id="{A00CA932-EB12-462E-9960-86FCD49B9C9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5898" t="13870" r="27227" b="6246"/>
          <a:stretch/>
        </p:blipFill>
        <p:spPr bwMode="auto">
          <a:xfrm>
            <a:off x="4357688" y="2767459"/>
            <a:ext cx="2807944" cy="26917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126021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BEC9D55-3AA8-404D-8813-64E5BA290207}"/>
              </a:ext>
            </a:extLst>
          </p:cNvPr>
          <p:cNvSpPr txBox="1"/>
          <p:nvPr/>
        </p:nvSpPr>
        <p:spPr>
          <a:xfrm>
            <a:off x="260748" y="313998"/>
            <a:ext cx="3611165" cy="5863144"/>
          </a:xfrm>
          <a:prstGeom prst="rect">
            <a:avLst/>
          </a:prstGeom>
          <a:solidFill>
            <a:schemeClr val="bg1">
              <a:lumMod val="85000"/>
            </a:schemeClr>
          </a:solidFill>
        </p:spPr>
        <p:txBody>
          <a:bodyPr wrap="square">
            <a:spAutoFit/>
          </a:bodyPr>
          <a:lstStyle/>
          <a:p>
            <a:pPr algn="just"/>
            <a:r>
              <a:rPr lang="en-US" sz="2500" b="1" dirty="0"/>
              <a:t>2. </a:t>
            </a:r>
            <a:r>
              <a:rPr lang="en-US" sz="2500" b="1" dirty="0">
                <a:solidFill>
                  <a:srgbClr val="FF0000"/>
                </a:solidFill>
              </a:rPr>
              <a:t>Empathy</a:t>
            </a:r>
            <a:r>
              <a:rPr lang="en-US" sz="2500" b="1" dirty="0"/>
              <a:t> in Design</a:t>
            </a:r>
          </a:p>
          <a:p>
            <a:pPr algn="just"/>
            <a:r>
              <a:rPr lang="en-US" sz="2500" dirty="0"/>
              <a:t>Empathy involves </a:t>
            </a:r>
            <a:r>
              <a:rPr lang="en-US" sz="2500" u="sng" dirty="0"/>
              <a:t>deeply understanding users </a:t>
            </a:r>
            <a:r>
              <a:rPr lang="en-US" sz="2500" dirty="0"/>
              <a:t>by </a:t>
            </a:r>
            <a:r>
              <a:rPr lang="en-US" sz="2500" u="sng" dirty="0"/>
              <a:t>observing, interviewing, and engaging </a:t>
            </a:r>
            <a:r>
              <a:rPr lang="en-US" sz="2500" dirty="0"/>
              <a:t>with them. It helps uncover hidden needs and motivations, enabling designers to create solutions that resonate. Empathy leads to more inclusive and effective innovations by prioritizing the user’s perspective throughout the design process.</a:t>
            </a:r>
          </a:p>
        </p:txBody>
      </p:sp>
      <p:pic>
        <p:nvPicPr>
          <p:cNvPr id="2050" name="Picture 2" descr="What Is Empathy and Why Is It So Important in Design Thinking? | IxDF">
            <a:extLst>
              <a:ext uri="{FF2B5EF4-FFF2-40B4-BE49-F238E27FC236}">
                <a16:creationId xmlns:a16="http://schemas.microsoft.com/office/drawing/2014/main" id="{4FEA4964-D9C2-4FEE-9662-1297649BA87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9549" t="10999" r="18409" b="18922"/>
          <a:stretch/>
        </p:blipFill>
        <p:spPr bwMode="auto">
          <a:xfrm>
            <a:off x="8320089" y="313998"/>
            <a:ext cx="3698154" cy="2801541"/>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AC19A33A-5385-45DE-8CCE-965FBCD6B818}"/>
              </a:ext>
            </a:extLst>
          </p:cNvPr>
          <p:cNvSpPr txBox="1"/>
          <p:nvPr/>
        </p:nvSpPr>
        <p:spPr>
          <a:xfrm>
            <a:off x="3993356" y="5161479"/>
            <a:ext cx="8024885" cy="1015663"/>
          </a:xfrm>
          <a:prstGeom prst="rect">
            <a:avLst/>
          </a:prstGeom>
          <a:noFill/>
          <a:ln>
            <a:solidFill>
              <a:schemeClr val="accent1"/>
            </a:solidFill>
          </a:ln>
        </p:spPr>
        <p:txBody>
          <a:bodyPr wrap="square">
            <a:spAutoFit/>
          </a:bodyPr>
          <a:lstStyle/>
          <a:p>
            <a:pPr algn="just"/>
            <a:r>
              <a:rPr lang="en-US" sz="2000" b="0" i="0" dirty="0">
                <a:solidFill>
                  <a:srgbClr val="0A0A0A"/>
                </a:solidFill>
                <a:effectLst/>
                <a:latin typeface="Google Sans"/>
              </a:rPr>
              <a:t>Empathy is the first and most crucial step in the </a:t>
            </a:r>
            <a:r>
              <a:rPr lang="en-US" sz="2000" b="0" i="0" dirty="0">
                <a:effectLst/>
                <a:latin typeface="Google Sans"/>
                <a:hlinkClick r:id="rId3"/>
              </a:rPr>
              <a:t>design thinking process</a:t>
            </a:r>
            <a:r>
              <a:rPr lang="en-US" sz="2000" b="0" i="0" dirty="0">
                <a:solidFill>
                  <a:srgbClr val="0A0A0A"/>
                </a:solidFill>
                <a:effectLst/>
                <a:latin typeface="Google Sans"/>
              </a:rPr>
              <a:t>, </a:t>
            </a:r>
            <a:r>
              <a:rPr lang="en-US" sz="2000" dirty="0"/>
              <a:t>focusing on understanding users' feelings, needs, and perspectives</a:t>
            </a:r>
            <a:r>
              <a:rPr lang="en-US" sz="2000" b="0" i="0" dirty="0">
                <a:solidFill>
                  <a:srgbClr val="0A0A0A"/>
                </a:solidFill>
                <a:effectLst/>
                <a:latin typeface="Google Sans"/>
              </a:rPr>
              <a:t>. </a:t>
            </a:r>
            <a:endParaRPr lang="th-TH" sz="2000" dirty="0"/>
          </a:p>
        </p:txBody>
      </p:sp>
      <p:pic>
        <p:nvPicPr>
          <p:cNvPr id="2052" name="Picture 4" descr="Empathy Mapping in Design Thinking: A Comprehensive Guide">
            <a:extLst>
              <a:ext uri="{FF2B5EF4-FFF2-40B4-BE49-F238E27FC236}">
                <a16:creationId xmlns:a16="http://schemas.microsoft.com/office/drawing/2014/main" id="{F01FE843-A60F-4408-AF1B-8A68CD00E72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60018" y="313998"/>
            <a:ext cx="4205288" cy="4205288"/>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459433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5BBA756-B518-46D6-9789-034E11DDEE6B}"/>
              </a:ext>
            </a:extLst>
          </p:cNvPr>
          <p:cNvSpPr txBox="1"/>
          <p:nvPr/>
        </p:nvSpPr>
        <p:spPr>
          <a:xfrm>
            <a:off x="260748" y="412879"/>
            <a:ext cx="3968352" cy="5093702"/>
          </a:xfrm>
          <a:prstGeom prst="rect">
            <a:avLst/>
          </a:prstGeom>
          <a:solidFill>
            <a:schemeClr val="bg1">
              <a:lumMod val="85000"/>
            </a:schemeClr>
          </a:solidFill>
        </p:spPr>
        <p:txBody>
          <a:bodyPr wrap="square">
            <a:spAutoFit/>
          </a:bodyPr>
          <a:lstStyle/>
          <a:p>
            <a:pPr algn="just"/>
            <a:r>
              <a:rPr lang="en-US" sz="2500" b="1" dirty="0"/>
              <a:t>3. </a:t>
            </a:r>
            <a:r>
              <a:rPr lang="en-US" sz="2500" b="1" dirty="0">
                <a:solidFill>
                  <a:srgbClr val="FF0000"/>
                </a:solidFill>
              </a:rPr>
              <a:t>Problem Framing</a:t>
            </a:r>
          </a:p>
          <a:p>
            <a:pPr algn="just"/>
            <a:r>
              <a:rPr lang="en-US" sz="2500" dirty="0"/>
              <a:t>Problem framing defines the design challenge clearly and correctly. Instead of focusing on symptoms, designers analyze root causes and perspectives to articulate an actionable and meaningful problem statement. Proper framing ensures the team works on the right issue and avoids solving the wrong problem.</a:t>
            </a:r>
          </a:p>
        </p:txBody>
      </p:sp>
      <p:sp>
        <p:nvSpPr>
          <p:cNvPr id="4" name="TextBox 3">
            <a:extLst>
              <a:ext uri="{FF2B5EF4-FFF2-40B4-BE49-F238E27FC236}">
                <a16:creationId xmlns:a16="http://schemas.microsoft.com/office/drawing/2014/main" id="{5F736AB7-823A-4313-9ED0-847CCE27BF0F}"/>
              </a:ext>
            </a:extLst>
          </p:cNvPr>
          <p:cNvSpPr txBox="1"/>
          <p:nvPr/>
        </p:nvSpPr>
        <p:spPr>
          <a:xfrm>
            <a:off x="260748" y="5737235"/>
            <a:ext cx="11783615" cy="707886"/>
          </a:xfrm>
          <a:prstGeom prst="rect">
            <a:avLst/>
          </a:prstGeom>
          <a:noFill/>
          <a:ln>
            <a:solidFill>
              <a:schemeClr val="tx1"/>
            </a:solidFill>
          </a:ln>
        </p:spPr>
        <p:txBody>
          <a:bodyPr wrap="square">
            <a:spAutoFit/>
          </a:bodyPr>
          <a:lstStyle/>
          <a:p>
            <a:r>
              <a:rPr lang="en-US" sz="2000" b="0" i="0" dirty="0">
                <a:solidFill>
                  <a:srgbClr val="0A0A0A"/>
                </a:solidFill>
                <a:effectLst/>
                <a:latin typeface="Google Sans"/>
              </a:rPr>
              <a:t>Problem framing is a collaborative process used to clearly define a problem before seeking solutions, ensuring a team addresses the root cause instead of symptoms. </a:t>
            </a:r>
            <a:endParaRPr lang="th-TH" sz="2000" dirty="0"/>
          </a:p>
        </p:txBody>
      </p:sp>
      <p:pic>
        <p:nvPicPr>
          <p:cNvPr id="4098" name="Picture 2" descr="Problem Framing v2: Part 1 of 4 — New Haircut">
            <a:extLst>
              <a:ext uri="{FF2B5EF4-FFF2-40B4-BE49-F238E27FC236}">
                <a16:creationId xmlns:a16="http://schemas.microsoft.com/office/drawing/2014/main" id="{94301A2D-FBA7-47FF-8075-E6D8EC10425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14849" y="412878"/>
            <a:ext cx="7468823" cy="42162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420956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BC2F0F8-27BF-4B01-9C36-99D0415FE4D7}"/>
              </a:ext>
            </a:extLst>
          </p:cNvPr>
          <p:cNvSpPr txBox="1"/>
          <p:nvPr/>
        </p:nvSpPr>
        <p:spPr>
          <a:xfrm>
            <a:off x="275035" y="212854"/>
            <a:ext cx="4211240" cy="5093702"/>
          </a:xfrm>
          <a:prstGeom prst="rect">
            <a:avLst/>
          </a:prstGeom>
          <a:solidFill>
            <a:schemeClr val="bg1">
              <a:lumMod val="85000"/>
            </a:schemeClr>
          </a:solidFill>
        </p:spPr>
        <p:txBody>
          <a:bodyPr wrap="square">
            <a:spAutoFit/>
          </a:bodyPr>
          <a:lstStyle/>
          <a:p>
            <a:pPr algn="just"/>
            <a:r>
              <a:rPr lang="en-US" sz="2500" b="1" dirty="0"/>
              <a:t>4. Ideation Techniques</a:t>
            </a:r>
          </a:p>
          <a:p>
            <a:pPr algn="just"/>
            <a:r>
              <a:rPr lang="en-US" sz="2500" dirty="0"/>
              <a:t>Ideation generates a wide range of creative ideas without judgment. Techniques like brainstorming, mind mapping, and SCAMPER encourage divergent thinking. The goal is quantity over quality at this stage, allowing teams to explore unexpected possibilities before evaluating and narrowing down the most feasible ideas.</a:t>
            </a:r>
          </a:p>
        </p:txBody>
      </p:sp>
      <p:pic>
        <p:nvPicPr>
          <p:cNvPr id="5122" name="Picture 2" descr="10 product ideation techniques to spark innovation - Optimizely">
            <a:extLst>
              <a:ext uri="{FF2B5EF4-FFF2-40B4-BE49-F238E27FC236}">
                <a16:creationId xmlns:a16="http://schemas.microsoft.com/office/drawing/2014/main" id="{808A6776-61BD-43D1-8DFC-9C911ABD45A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522" b="8312"/>
          <a:stretch/>
        </p:blipFill>
        <p:spPr bwMode="auto">
          <a:xfrm>
            <a:off x="4728765" y="212854"/>
            <a:ext cx="4064000" cy="611505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19A79706-6979-4D6A-ABD7-E379AB11B158}"/>
              </a:ext>
            </a:extLst>
          </p:cNvPr>
          <p:cNvSpPr txBox="1"/>
          <p:nvPr/>
        </p:nvSpPr>
        <p:spPr>
          <a:xfrm>
            <a:off x="275035" y="5507444"/>
            <a:ext cx="4211240" cy="1015663"/>
          </a:xfrm>
          <a:prstGeom prst="rect">
            <a:avLst/>
          </a:prstGeom>
          <a:noFill/>
          <a:ln>
            <a:solidFill>
              <a:schemeClr val="tx1"/>
            </a:solidFill>
          </a:ln>
        </p:spPr>
        <p:txBody>
          <a:bodyPr wrap="square">
            <a:spAutoFit/>
          </a:bodyPr>
          <a:lstStyle/>
          <a:p>
            <a:r>
              <a:rPr lang="en-US" sz="1500" dirty="0"/>
              <a:t>Ideation techniques are methods for generating new ideas, such as brainstorming, mind mapping, and Crazy 8s</a:t>
            </a:r>
            <a:r>
              <a:rPr lang="en-US" sz="1500" b="0" i="0" dirty="0">
                <a:solidFill>
                  <a:srgbClr val="0A0A0A"/>
                </a:solidFill>
                <a:effectLst/>
                <a:latin typeface="Google Sans"/>
              </a:rPr>
              <a:t>, which involve rapidly sketching ideas on a divided paper.</a:t>
            </a:r>
            <a:endParaRPr lang="th-TH" sz="1500" dirty="0"/>
          </a:p>
        </p:txBody>
      </p:sp>
      <p:pic>
        <p:nvPicPr>
          <p:cNvPr id="5124" name="Picture 4" descr="Ideation: Tools, Purpose &amp; Methods">
            <a:extLst>
              <a:ext uri="{FF2B5EF4-FFF2-40B4-BE49-F238E27FC236}">
                <a16:creationId xmlns:a16="http://schemas.microsoft.com/office/drawing/2014/main" id="{75E015C3-9581-417A-AF52-4AB48432E95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35255" y="212854"/>
            <a:ext cx="2881710" cy="2161282"/>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796459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4E182BA-9AD6-459A-B99C-8195E7611C40}"/>
              </a:ext>
            </a:extLst>
          </p:cNvPr>
          <p:cNvSpPr txBox="1"/>
          <p:nvPr/>
        </p:nvSpPr>
        <p:spPr>
          <a:xfrm>
            <a:off x="332185" y="341441"/>
            <a:ext cx="3711178" cy="5478423"/>
          </a:xfrm>
          <a:prstGeom prst="rect">
            <a:avLst/>
          </a:prstGeom>
          <a:solidFill>
            <a:schemeClr val="bg1">
              <a:lumMod val="85000"/>
            </a:schemeClr>
          </a:solidFill>
        </p:spPr>
        <p:txBody>
          <a:bodyPr wrap="square">
            <a:spAutoFit/>
          </a:bodyPr>
          <a:lstStyle/>
          <a:p>
            <a:pPr algn="just"/>
            <a:r>
              <a:rPr lang="en-US" sz="2500" b="1" dirty="0"/>
              <a:t>5. Prototyping</a:t>
            </a:r>
          </a:p>
          <a:p>
            <a:pPr algn="just"/>
            <a:r>
              <a:rPr lang="en-US" sz="2500" dirty="0"/>
              <a:t>Prototyping creates simple, quick versions of ideas to test assumptions and gather feedback. Prototypes may be sketches, models, storyboards, or digital mock-ups. This stage helps visualize concepts, identify design flaws early, and reduce risk by iterating before committing to full development.</a:t>
            </a:r>
          </a:p>
        </p:txBody>
      </p:sp>
      <p:sp>
        <p:nvSpPr>
          <p:cNvPr id="4" name="TextBox 3">
            <a:extLst>
              <a:ext uri="{FF2B5EF4-FFF2-40B4-BE49-F238E27FC236}">
                <a16:creationId xmlns:a16="http://schemas.microsoft.com/office/drawing/2014/main" id="{8FEBF8B3-89FE-4148-AA4B-FB8087214E27}"/>
              </a:ext>
            </a:extLst>
          </p:cNvPr>
          <p:cNvSpPr txBox="1"/>
          <p:nvPr/>
        </p:nvSpPr>
        <p:spPr>
          <a:xfrm>
            <a:off x="332185" y="6008727"/>
            <a:ext cx="11640740" cy="707886"/>
          </a:xfrm>
          <a:prstGeom prst="rect">
            <a:avLst/>
          </a:prstGeom>
          <a:noFill/>
          <a:ln>
            <a:solidFill>
              <a:schemeClr val="tx1"/>
            </a:solidFill>
          </a:ln>
        </p:spPr>
        <p:txBody>
          <a:bodyPr wrap="square">
            <a:spAutoFit/>
          </a:bodyPr>
          <a:lstStyle/>
          <a:p>
            <a:pPr algn="just"/>
            <a:r>
              <a:rPr lang="en-US" sz="2000" dirty="0"/>
              <a:t>Prototyping is the process of creating a preliminary model or draft of a product to test and refine its design before building the final version</a:t>
            </a:r>
            <a:r>
              <a:rPr lang="en-US" sz="2000" b="0" i="0" dirty="0">
                <a:solidFill>
                  <a:srgbClr val="0A0A0A"/>
                </a:solidFill>
                <a:effectLst/>
                <a:latin typeface="Google Sans"/>
              </a:rPr>
              <a:t>. </a:t>
            </a:r>
            <a:endParaRPr lang="th-TH" sz="2000" dirty="0"/>
          </a:p>
        </p:txBody>
      </p:sp>
      <p:pic>
        <p:nvPicPr>
          <p:cNvPr id="6146" name="Picture 2" descr="Guide to Rapid 3D Printing Prototyping">
            <a:extLst>
              <a:ext uri="{FF2B5EF4-FFF2-40B4-BE49-F238E27FC236}">
                <a16:creationId xmlns:a16="http://schemas.microsoft.com/office/drawing/2014/main" id="{D131787E-A2CC-4E53-A0F4-0D0C661E916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042" t="28445" r="4583" b="26223"/>
          <a:stretch/>
        </p:blipFill>
        <p:spPr bwMode="auto">
          <a:xfrm>
            <a:off x="4200526" y="3840482"/>
            <a:ext cx="7015162" cy="1979382"/>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5 Reasons You Should Build A Prototype For Your Mobile App | by ...">
            <a:extLst>
              <a:ext uri="{FF2B5EF4-FFF2-40B4-BE49-F238E27FC236}">
                <a16:creationId xmlns:a16="http://schemas.microsoft.com/office/drawing/2014/main" id="{C225D6D8-FBF1-4DF6-883B-1B64277F16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00526" y="198655"/>
            <a:ext cx="6302375" cy="3547396"/>
          </a:xfrm>
          <a:prstGeom prst="rect">
            <a:avLst/>
          </a:prstGeom>
          <a:noFill/>
          <a:extLst>
            <a:ext uri="{909E8E84-426E-40DD-AFC4-6F175D3DCCD1}">
              <a14:hiddenFill xmlns:a14="http://schemas.microsoft.com/office/drawing/2010/main">
                <a:solidFill>
                  <a:srgbClr val="FFFFFF"/>
                </a:solidFill>
              </a14:hiddenFill>
            </a:ext>
          </a:extLst>
        </p:spPr>
      </p:pic>
      <p:pic>
        <p:nvPicPr>
          <p:cNvPr id="6150" name="Picture 6" descr="Rapid Prototyping - What is it? Read this Post to Find Out!">
            <a:extLst>
              <a:ext uri="{FF2B5EF4-FFF2-40B4-BE49-F238E27FC236}">
                <a16:creationId xmlns:a16="http://schemas.microsoft.com/office/drawing/2014/main" id="{848F9FDE-9518-400F-A01B-84B447D8420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66078" y="1972353"/>
            <a:ext cx="2006847" cy="13280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014133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2FE08C9-C97F-4191-DC53-EDD62AC50818}"/>
              </a:ext>
            </a:extLst>
          </p:cNvPr>
          <p:cNvSpPr txBox="1"/>
          <p:nvPr/>
        </p:nvSpPr>
        <p:spPr>
          <a:xfrm>
            <a:off x="1133341" y="875763"/>
            <a:ext cx="9465972" cy="1708160"/>
          </a:xfrm>
          <a:prstGeom prst="rect">
            <a:avLst/>
          </a:prstGeom>
          <a:noFill/>
        </p:spPr>
        <p:txBody>
          <a:bodyPr wrap="square" rtlCol="0">
            <a:spAutoFit/>
          </a:bodyPr>
          <a:lstStyle/>
          <a:p>
            <a:r>
              <a:rPr lang="en-US" sz="3500" b="1" dirty="0"/>
              <a:t>Design tour program (one day trip) in Chiang Mai for me?</a:t>
            </a:r>
          </a:p>
          <a:p>
            <a:r>
              <a:rPr lang="en-US" sz="3500" b="1" dirty="0"/>
              <a:t>15 mins</a:t>
            </a:r>
          </a:p>
        </p:txBody>
      </p:sp>
    </p:spTree>
    <p:extLst>
      <p:ext uri="{BB962C8B-B14F-4D97-AF65-F5344CB8AC3E}">
        <p14:creationId xmlns:p14="http://schemas.microsoft.com/office/powerpoint/2010/main" val="35040987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7429F58-E6C4-465C-8BD4-906BE64AC4FA}"/>
              </a:ext>
            </a:extLst>
          </p:cNvPr>
          <p:cNvSpPr txBox="1"/>
          <p:nvPr/>
        </p:nvSpPr>
        <p:spPr>
          <a:xfrm>
            <a:off x="446485" y="341442"/>
            <a:ext cx="4096940" cy="5093702"/>
          </a:xfrm>
          <a:prstGeom prst="rect">
            <a:avLst/>
          </a:prstGeom>
          <a:solidFill>
            <a:schemeClr val="bg1">
              <a:lumMod val="85000"/>
            </a:schemeClr>
          </a:solidFill>
        </p:spPr>
        <p:txBody>
          <a:bodyPr wrap="square">
            <a:spAutoFit/>
          </a:bodyPr>
          <a:lstStyle/>
          <a:p>
            <a:pPr algn="just"/>
            <a:r>
              <a:rPr lang="en-US" sz="2500" b="1" dirty="0"/>
              <a:t>6. Rapid Experimentation</a:t>
            </a:r>
          </a:p>
          <a:p>
            <a:pPr algn="just"/>
            <a:r>
              <a:rPr lang="en-US" sz="2500" dirty="0"/>
              <a:t>Rapid experimentation </a:t>
            </a:r>
            <a:r>
              <a:rPr lang="en-US" sz="2500" dirty="0">
                <a:solidFill>
                  <a:srgbClr val="FF0000"/>
                </a:solidFill>
              </a:rPr>
              <a:t>tests ideas </a:t>
            </a:r>
            <a:r>
              <a:rPr lang="en-US" sz="2500" dirty="0"/>
              <a:t>quickly to learn what works. Designers implement fast, low-cost experiments to validate concepts with users. This process reduces uncertainty and promotes continuous improvement. It encourages a learning mindset, where failures are valuable data for refining solutions.</a:t>
            </a:r>
          </a:p>
        </p:txBody>
      </p:sp>
      <p:sp>
        <p:nvSpPr>
          <p:cNvPr id="4" name="TextBox 3">
            <a:extLst>
              <a:ext uri="{FF2B5EF4-FFF2-40B4-BE49-F238E27FC236}">
                <a16:creationId xmlns:a16="http://schemas.microsoft.com/office/drawing/2014/main" id="{E3AD054E-B399-4D74-9293-398E10E6AABA}"/>
              </a:ext>
            </a:extLst>
          </p:cNvPr>
          <p:cNvSpPr txBox="1"/>
          <p:nvPr/>
        </p:nvSpPr>
        <p:spPr>
          <a:xfrm>
            <a:off x="446485" y="5808672"/>
            <a:ext cx="11597878" cy="707886"/>
          </a:xfrm>
          <a:prstGeom prst="rect">
            <a:avLst/>
          </a:prstGeom>
          <a:noFill/>
          <a:ln>
            <a:solidFill>
              <a:schemeClr val="tx1"/>
            </a:solidFill>
          </a:ln>
        </p:spPr>
        <p:txBody>
          <a:bodyPr wrap="square">
            <a:spAutoFit/>
          </a:bodyPr>
          <a:lstStyle/>
          <a:p>
            <a:pPr algn="just"/>
            <a:r>
              <a:rPr lang="en-US" sz="2000" b="0" i="0" dirty="0">
                <a:solidFill>
                  <a:srgbClr val="0A0A0A"/>
                </a:solidFill>
                <a:effectLst/>
                <a:latin typeface="Google Sans"/>
              </a:rPr>
              <a:t>Rapid experimentation is </a:t>
            </a:r>
            <a:r>
              <a:rPr lang="en-US" sz="2000" dirty="0"/>
              <a:t>an agile approach to product development that involves quickly testing hypotheses and assumptions through frequent, small-scale experiments to gather data and inform decisions</a:t>
            </a:r>
            <a:r>
              <a:rPr lang="en-US" sz="2000" b="0" i="0" dirty="0">
                <a:solidFill>
                  <a:srgbClr val="0A0A0A"/>
                </a:solidFill>
                <a:effectLst/>
                <a:latin typeface="Google Sans"/>
              </a:rPr>
              <a:t>. </a:t>
            </a:r>
            <a:endParaRPr lang="th-TH" sz="2000" dirty="0"/>
          </a:p>
        </p:txBody>
      </p:sp>
      <p:pic>
        <p:nvPicPr>
          <p:cNvPr id="7170" name="Picture 2" descr="Rapid Experimentation for Product Managers">
            <a:extLst>
              <a:ext uri="{FF2B5EF4-FFF2-40B4-BE49-F238E27FC236}">
                <a16:creationId xmlns:a16="http://schemas.microsoft.com/office/drawing/2014/main" id="{C00C1E82-4674-46A8-84D0-FC50F6DAF25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654"/>
          <a:stretch/>
        </p:blipFill>
        <p:spPr bwMode="auto">
          <a:xfrm>
            <a:off x="4801790" y="341442"/>
            <a:ext cx="6943725" cy="37747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879541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A3D8826-E3B4-1130-BE34-160578693225}"/>
              </a:ext>
            </a:extLst>
          </p:cNvPr>
          <p:cNvSpPr txBox="1"/>
          <p:nvPr/>
        </p:nvSpPr>
        <p:spPr>
          <a:xfrm>
            <a:off x="1056372" y="907859"/>
            <a:ext cx="9868302" cy="1384995"/>
          </a:xfrm>
          <a:prstGeom prst="rect">
            <a:avLst/>
          </a:prstGeom>
          <a:noFill/>
        </p:spPr>
        <p:txBody>
          <a:bodyPr wrap="square">
            <a:spAutoFit/>
          </a:bodyPr>
          <a:lstStyle/>
          <a:p>
            <a:r>
              <a:rPr lang="en-US" sz="2800" b="1" dirty="0">
                <a:highlight>
                  <a:srgbClr val="FFFF00"/>
                </a:highlight>
              </a:rPr>
              <a:t>Rapid Experimentation&gt;&gt; give the process of testing the ideas for producing mobile apps (delivery system)</a:t>
            </a:r>
          </a:p>
          <a:p>
            <a:r>
              <a:rPr lang="en-US" b="1" dirty="0">
                <a:highlight>
                  <a:srgbClr val="FFFF00"/>
                </a:highlight>
              </a:rPr>
              <a:t>&gt;&gt;diagram</a:t>
            </a:r>
            <a:endParaRPr lang="th-TH" dirty="0">
              <a:highlight>
                <a:srgbClr val="FFFF00"/>
              </a:highlight>
            </a:endParaRPr>
          </a:p>
        </p:txBody>
      </p:sp>
      <p:sp>
        <p:nvSpPr>
          <p:cNvPr id="4" name="TextBox 3">
            <a:extLst>
              <a:ext uri="{FF2B5EF4-FFF2-40B4-BE49-F238E27FC236}">
                <a16:creationId xmlns:a16="http://schemas.microsoft.com/office/drawing/2014/main" id="{5B6AB645-2C3F-33B4-CAEC-F11E54535407}"/>
              </a:ext>
            </a:extLst>
          </p:cNvPr>
          <p:cNvSpPr txBox="1"/>
          <p:nvPr/>
        </p:nvSpPr>
        <p:spPr>
          <a:xfrm>
            <a:off x="939264" y="2951946"/>
            <a:ext cx="9868302" cy="954107"/>
          </a:xfrm>
          <a:prstGeom prst="rect">
            <a:avLst/>
          </a:prstGeom>
          <a:noFill/>
        </p:spPr>
        <p:txBody>
          <a:bodyPr wrap="square">
            <a:spAutoFit/>
          </a:bodyPr>
          <a:lstStyle/>
          <a:p>
            <a:r>
              <a:rPr lang="en-US" sz="2800" b="1" dirty="0"/>
              <a:t>Rapid Experimentation&gt;&gt; give testing the ideas that customers like to buy your product</a:t>
            </a:r>
            <a:endParaRPr lang="th-TH" dirty="0"/>
          </a:p>
        </p:txBody>
      </p:sp>
      <p:sp>
        <p:nvSpPr>
          <p:cNvPr id="5" name="TextBox 4">
            <a:extLst>
              <a:ext uri="{FF2B5EF4-FFF2-40B4-BE49-F238E27FC236}">
                <a16:creationId xmlns:a16="http://schemas.microsoft.com/office/drawing/2014/main" id="{D0F33B75-0BDD-F1D8-D4B5-E59F9B8C23C2}"/>
              </a:ext>
            </a:extLst>
          </p:cNvPr>
          <p:cNvSpPr txBox="1"/>
          <p:nvPr/>
        </p:nvSpPr>
        <p:spPr>
          <a:xfrm>
            <a:off x="939264" y="4317129"/>
            <a:ext cx="9868302" cy="954107"/>
          </a:xfrm>
          <a:prstGeom prst="rect">
            <a:avLst/>
          </a:prstGeom>
          <a:noFill/>
        </p:spPr>
        <p:txBody>
          <a:bodyPr wrap="square">
            <a:spAutoFit/>
          </a:bodyPr>
          <a:lstStyle/>
          <a:p>
            <a:r>
              <a:rPr lang="en-US" sz="2800" b="1" dirty="0"/>
              <a:t>Rapid Experimentation&gt;&gt; give testing the ideas that customers do not to buy your product</a:t>
            </a:r>
            <a:endParaRPr lang="th-TH" dirty="0"/>
          </a:p>
        </p:txBody>
      </p:sp>
    </p:spTree>
    <p:extLst>
      <p:ext uri="{BB962C8B-B14F-4D97-AF65-F5344CB8AC3E}">
        <p14:creationId xmlns:p14="http://schemas.microsoft.com/office/powerpoint/2010/main" val="28247166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A7AF41E-19E3-B061-2A2D-738B0574CBAB}"/>
              </a:ext>
            </a:extLst>
          </p:cNvPr>
          <p:cNvSpPr txBox="1"/>
          <p:nvPr/>
        </p:nvSpPr>
        <p:spPr>
          <a:xfrm>
            <a:off x="507732" y="190464"/>
            <a:ext cx="11071460" cy="3108543"/>
          </a:xfrm>
          <a:prstGeom prst="rect">
            <a:avLst/>
          </a:prstGeom>
          <a:noFill/>
        </p:spPr>
        <p:txBody>
          <a:bodyPr wrap="square">
            <a:spAutoFit/>
          </a:bodyPr>
          <a:lstStyle/>
          <a:p>
            <a:r>
              <a:rPr lang="en-US" sz="2800" b="1" dirty="0">
                <a:highlight>
                  <a:srgbClr val="FFFF00"/>
                </a:highlight>
              </a:rPr>
              <a:t>Rapid Experimentation&gt;&gt; give the process of testing the ideas for producing </a:t>
            </a:r>
            <a:r>
              <a:rPr lang="en-US" sz="2800" b="1" dirty="0">
                <a:solidFill>
                  <a:srgbClr val="FF0000"/>
                </a:solidFill>
                <a:highlight>
                  <a:srgbClr val="FFFF00"/>
                </a:highlight>
              </a:rPr>
              <a:t>mobile apps </a:t>
            </a:r>
            <a:r>
              <a:rPr lang="en-US" sz="2800" b="1" dirty="0">
                <a:highlight>
                  <a:srgbClr val="FFFF00"/>
                </a:highlight>
              </a:rPr>
              <a:t>(delivery system)</a:t>
            </a:r>
          </a:p>
          <a:p>
            <a:r>
              <a:rPr lang="en-US" b="1" dirty="0">
                <a:highlight>
                  <a:srgbClr val="FFFF00"/>
                </a:highlight>
              </a:rPr>
              <a:t>&gt;&gt;diagram</a:t>
            </a:r>
          </a:p>
          <a:p>
            <a:r>
              <a:rPr lang="en-US" b="1" dirty="0">
                <a:highlight>
                  <a:srgbClr val="FFFF00"/>
                </a:highlight>
              </a:rPr>
              <a:t>Step 1. Brain storm &gt;&gt;&gt; all smart phone work &gt;&gt;solutions =37</a:t>
            </a:r>
          </a:p>
          <a:p>
            <a:r>
              <a:rPr lang="en-US" b="1" dirty="0">
                <a:highlight>
                  <a:srgbClr val="FFFF00"/>
                </a:highlight>
              </a:rPr>
              <a:t>Step 2. Select the appropriate solutions (2-3)</a:t>
            </a:r>
          </a:p>
          <a:p>
            <a:r>
              <a:rPr lang="en-US" b="1" dirty="0">
                <a:highlight>
                  <a:srgbClr val="FFFF00"/>
                </a:highlight>
              </a:rPr>
              <a:t>Step 3. Take action</a:t>
            </a:r>
          </a:p>
          <a:p>
            <a:r>
              <a:rPr lang="en-US" b="1" dirty="0">
                <a:highlight>
                  <a:srgbClr val="FFFF00"/>
                </a:highlight>
              </a:rPr>
              <a:t>Step 4. Evaluation</a:t>
            </a:r>
            <a:endParaRPr lang="th-TH" dirty="0">
              <a:highlight>
                <a:srgbClr val="FFFF00"/>
              </a:highlight>
            </a:endParaRPr>
          </a:p>
        </p:txBody>
      </p:sp>
    </p:spTree>
    <p:extLst>
      <p:ext uri="{BB962C8B-B14F-4D97-AF65-F5344CB8AC3E}">
        <p14:creationId xmlns:p14="http://schemas.microsoft.com/office/powerpoint/2010/main" val="42851916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8FDDFAB-BCD1-48AE-B4EB-5C562CA462C3}"/>
              </a:ext>
            </a:extLst>
          </p:cNvPr>
          <p:cNvSpPr txBox="1"/>
          <p:nvPr/>
        </p:nvSpPr>
        <p:spPr>
          <a:xfrm>
            <a:off x="217885" y="258901"/>
            <a:ext cx="3539728" cy="5093702"/>
          </a:xfrm>
          <a:prstGeom prst="rect">
            <a:avLst/>
          </a:prstGeom>
          <a:solidFill>
            <a:schemeClr val="bg1">
              <a:lumMod val="85000"/>
            </a:schemeClr>
          </a:solidFill>
        </p:spPr>
        <p:txBody>
          <a:bodyPr wrap="square">
            <a:spAutoFit/>
          </a:bodyPr>
          <a:lstStyle/>
          <a:p>
            <a:pPr algn="just"/>
            <a:r>
              <a:rPr lang="en-US" sz="2500" b="1" dirty="0"/>
              <a:t>7. Feedback and Iteration</a:t>
            </a:r>
          </a:p>
          <a:p>
            <a:pPr algn="just"/>
            <a:r>
              <a:rPr lang="en-US" sz="2500" dirty="0">
                <a:solidFill>
                  <a:srgbClr val="FF0000"/>
                </a:solidFill>
              </a:rPr>
              <a:t>Feedback from real users </a:t>
            </a:r>
            <a:r>
              <a:rPr lang="en-US" sz="2500" dirty="0"/>
              <a:t>guides improvement of the proposed solution. Iteration involves refining designs based on responses, observations, and new insights. Repeated cycles of testing and revising help ensure the final outcome meets user needs and achieves practical effectiveness.</a:t>
            </a:r>
          </a:p>
        </p:txBody>
      </p:sp>
      <p:sp>
        <p:nvSpPr>
          <p:cNvPr id="4" name="TextBox 3">
            <a:extLst>
              <a:ext uri="{FF2B5EF4-FFF2-40B4-BE49-F238E27FC236}">
                <a16:creationId xmlns:a16="http://schemas.microsoft.com/office/drawing/2014/main" id="{B581D366-BE35-4CB9-A6B1-49BEFE9370D4}"/>
              </a:ext>
            </a:extLst>
          </p:cNvPr>
          <p:cNvSpPr txBox="1"/>
          <p:nvPr/>
        </p:nvSpPr>
        <p:spPr>
          <a:xfrm>
            <a:off x="217885" y="5583436"/>
            <a:ext cx="11712178" cy="707886"/>
          </a:xfrm>
          <a:prstGeom prst="rect">
            <a:avLst/>
          </a:prstGeom>
          <a:noFill/>
          <a:ln>
            <a:solidFill>
              <a:schemeClr val="tx1"/>
            </a:solidFill>
          </a:ln>
        </p:spPr>
        <p:txBody>
          <a:bodyPr wrap="square">
            <a:spAutoFit/>
          </a:bodyPr>
          <a:lstStyle/>
          <a:p>
            <a:pPr algn="just"/>
            <a:r>
              <a:rPr lang="en-US" sz="2000" dirty="0"/>
              <a:t>Feedback and iteration is a continuous cycle of receiving, evaluating, and implementing user or stakeholder input to improve a product, service, or idea</a:t>
            </a:r>
            <a:r>
              <a:rPr lang="en-US" sz="2000" b="0" i="0" dirty="0">
                <a:solidFill>
                  <a:srgbClr val="0A0A0A"/>
                </a:solidFill>
                <a:effectLst/>
                <a:latin typeface="Google Sans"/>
              </a:rPr>
              <a:t>. </a:t>
            </a:r>
            <a:endParaRPr lang="th-TH" sz="2000" dirty="0"/>
          </a:p>
        </p:txBody>
      </p:sp>
      <p:pic>
        <p:nvPicPr>
          <p:cNvPr id="9218" name="Picture 2" descr="Improving Instructional Design">
            <a:extLst>
              <a:ext uri="{FF2B5EF4-FFF2-40B4-BE49-F238E27FC236}">
                <a16:creationId xmlns:a16="http://schemas.microsoft.com/office/drawing/2014/main" id="{87CB4D99-531A-492B-B5AC-ADA1E7DB4C8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67150" y="258901"/>
            <a:ext cx="2857500" cy="1600200"/>
          </a:xfrm>
          <a:prstGeom prst="rect">
            <a:avLst/>
          </a:prstGeom>
          <a:noFill/>
          <a:extLst>
            <a:ext uri="{909E8E84-426E-40DD-AFC4-6F175D3DCCD1}">
              <a14:hiddenFill xmlns:a14="http://schemas.microsoft.com/office/drawing/2010/main">
                <a:solidFill>
                  <a:srgbClr val="FFFFFF"/>
                </a:solidFill>
              </a14:hiddenFill>
            </a:ext>
          </a:extLst>
        </p:spPr>
      </p:pic>
      <p:pic>
        <p:nvPicPr>
          <p:cNvPr id="9220" name="Picture 4" descr="Feedback loop: The art of continuous improvement">
            <a:extLst>
              <a:ext uri="{FF2B5EF4-FFF2-40B4-BE49-F238E27FC236}">
                <a16:creationId xmlns:a16="http://schemas.microsoft.com/office/drawing/2014/main" id="{76F7DACA-51A2-488A-B585-85514ED6864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67150" y="2039847"/>
            <a:ext cx="3919538" cy="2905354"/>
          </a:xfrm>
          <a:prstGeom prst="rect">
            <a:avLst/>
          </a:prstGeom>
          <a:noFill/>
          <a:extLst>
            <a:ext uri="{909E8E84-426E-40DD-AFC4-6F175D3DCCD1}">
              <a14:hiddenFill xmlns:a14="http://schemas.microsoft.com/office/drawing/2010/main">
                <a:solidFill>
                  <a:srgbClr val="FFFFFF"/>
                </a:solidFill>
              </a14:hiddenFill>
            </a:ext>
          </a:extLst>
        </p:spPr>
      </p:pic>
      <p:pic>
        <p:nvPicPr>
          <p:cNvPr id="9222" name="Picture 6" descr="Design Iteration Brings Powerful Results. So, Do It Again Designer ...">
            <a:extLst>
              <a:ext uri="{FF2B5EF4-FFF2-40B4-BE49-F238E27FC236}">
                <a16:creationId xmlns:a16="http://schemas.microsoft.com/office/drawing/2014/main" id="{A0CC044E-E764-453D-9C23-338D6374491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86154" y="263434"/>
            <a:ext cx="4315321" cy="2282805"/>
          </a:xfrm>
          <a:prstGeom prst="rect">
            <a:avLst/>
          </a:prstGeom>
          <a:noFill/>
          <a:extLst>
            <a:ext uri="{909E8E84-426E-40DD-AFC4-6F175D3DCCD1}">
              <a14:hiddenFill xmlns:a14="http://schemas.microsoft.com/office/drawing/2010/main">
                <a:solidFill>
                  <a:srgbClr val="FFFFFF"/>
                </a:solidFill>
              </a14:hiddenFill>
            </a:ext>
          </a:extLst>
        </p:spPr>
      </p:pic>
      <p:pic>
        <p:nvPicPr>
          <p:cNvPr id="9224" name="Picture 8" descr="What is the Iterative Design Process?">
            <a:extLst>
              <a:ext uri="{FF2B5EF4-FFF2-40B4-BE49-F238E27FC236}">
                <a16:creationId xmlns:a16="http://schemas.microsoft.com/office/drawing/2014/main" id="{285C9BC0-F72A-4E8E-8401-936B321D0289}"/>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27043" t="4127" r="23707" b="4368"/>
          <a:stretch/>
        </p:blipFill>
        <p:spPr bwMode="auto">
          <a:xfrm>
            <a:off x="8239931" y="2777072"/>
            <a:ext cx="2812291" cy="26909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7555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DBA0F8A-4478-48E0-94C5-CA6249682BE5}"/>
              </a:ext>
            </a:extLst>
          </p:cNvPr>
          <p:cNvSpPr txBox="1"/>
          <p:nvPr/>
        </p:nvSpPr>
        <p:spPr>
          <a:xfrm>
            <a:off x="417910" y="311736"/>
            <a:ext cx="3882628" cy="5478423"/>
          </a:xfrm>
          <a:prstGeom prst="rect">
            <a:avLst/>
          </a:prstGeom>
          <a:solidFill>
            <a:schemeClr val="bg1">
              <a:lumMod val="85000"/>
            </a:schemeClr>
          </a:solidFill>
        </p:spPr>
        <p:txBody>
          <a:bodyPr wrap="square">
            <a:spAutoFit/>
          </a:bodyPr>
          <a:lstStyle/>
          <a:p>
            <a:pPr algn="just"/>
            <a:r>
              <a:rPr lang="en-US" sz="2500" b="1" dirty="0"/>
              <a:t>8. Divergent and Convergent Thinking</a:t>
            </a:r>
          </a:p>
          <a:p>
            <a:pPr algn="just"/>
            <a:r>
              <a:rPr lang="en-US" sz="2500" u="sng" dirty="0"/>
              <a:t>Divergent thinking expands </a:t>
            </a:r>
            <a:r>
              <a:rPr lang="en-US" sz="2500" dirty="0"/>
              <a:t>possibilities by generating many ideas, while </a:t>
            </a:r>
            <a:r>
              <a:rPr lang="en-US" sz="2500" u="sng" dirty="0"/>
              <a:t>convergent thinking narrows </a:t>
            </a:r>
            <a:r>
              <a:rPr lang="en-US" sz="2500" dirty="0"/>
              <a:t>them to select the best. Both modes complement each other in Design Thinking. Effective teams switch between these modes to balance creativity with practicality throughout the design process.</a:t>
            </a:r>
          </a:p>
        </p:txBody>
      </p:sp>
      <p:sp>
        <p:nvSpPr>
          <p:cNvPr id="4" name="TextBox 3">
            <a:extLst>
              <a:ext uri="{FF2B5EF4-FFF2-40B4-BE49-F238E27FC236}">
                <a16:creationId xmlns:a16="http://schemas.microsoft.com/office/drawing/2014/main" id="{F203E3C7-D676-48D2-8929-7966C481E42C}"/>
              </a:ext>
            </a:extLst>
          </p:cNvPr>
          <p:cNvSpPr txBox="1"/>
          <p:nvPr/>
        </p:nvSpPr>
        <p:spPr>
          <a:xfrm>
            <a:off x="417909" y="5994053"/>
            <a:ext cx="11512153" cy="400110"/>
          </a:xfrm>
          <a:prstGeom prst="rect">
            <a:avLst/>
          </a:prstGeom>
          <a:noFill/>
          <a:ln>
            <a:solidFill>
              <a:schemeClr val="tx1"/>
            </a:solidFill>
          </a:ln>
        </p:spPr>
        <p:txBody>
          <a:bodyPr wrap="square">
            <a:spAutoFit/>
          </a:bodyPr>
          <a:lstStyle/>
          <a:p>
            <a:pPr algn="just"/>
            <a:r>
              <a:rPr lang="en-US" sz="2000" b="0" i="0" dirty="0">
                <a:solidFill>
                  <a:srgbClr val="0A0A0A"/>
                </a:solidFill>
                <a:effectLst/>
                <a:latin typeface="Google Sans"/>
              </a:rPr>
              <a:t>Divergent and convergent thinking are </a:t>
            </a:r>
            <a:r>
              <a:rPr lang="en-US" sz="2000" dirty="0"/>
              <a:t>complementary cognitive processes used for problem-solving</a:t>
            </a:r>
            <a:r>
              <a:rPr lang="en-US" sz="2000" b="0" i="0" dirty="0">
                <a:solidFill>
                  <a:srgbClr val="0A0A0A"/>
                </a:solidFill>
                <a:effectLst/>
                <a:latin typeface="Google Sans"/>
              </a:rPr>
              <a:t>.</a:t>
            </a:r>
            <a:endParaRPr lang="th-TH" sz="2000" dirty="0"/>
          </a:p>
        </p:txBody>
      </p:sp>
      <p:pic>
        <p:nvPicPr>
          <p:cNvPr id="10242" name="Picture 2" descr="How (and why) to balance convergent and divergent thinking | Planio">
            <a:extLst>
              <a:ext uri="{FF2B5EF4-FFF2-40B4-BE49-F238E27FC236}">
                <a16:creationId xmlns:a16="http://schemas.microsoft.com/office/drawing/2014/main" id="{BF5CA39B-B1F3-4397-A3DC-C9D6F4193E2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64977" y="311736"/>
            <a:ext cx="7109113" cy="4892683"/>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268134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726D539-B42C-42D7-8C4E-19C6C9B5CD60}"/>
              </a:ext>
            </a:extLst>
          </p:cNvPr>
          <p:cNvSpPr txBox="1"/>
          <p:nvPr/>
        </p:nvSpPr>
        <p:spPr>
          <a:xfrm>
            <a:off x="560785" y="472291"/>
            <a:ext cx="4754165" cy="4708981"/>
          </a:xfrm>
          <a:prstGeom prst="rect">
            <a:avLst/>
          </a:prstGeom>
          <a:solidFill>
            <a:schemeClr val="bg1">
              <a:lumMod val="85000"/>
            </a:schemeClr>
          </a:solidFill>
        </p:spPr>
        <p:txBody>
          <a:bodyPr wrap="square">
            <a:spAutoFit/>
          </a:bodyPr>
          <a:lstStyle/>
          <a:p>
            <a:pPr algn="just"/>
            <a:r>
              <a:rPr lang="en-US" sz="2500" b="1" dirty="0"/>
              <a:t>9. Collaborative Creativity</a:t>
            </a:r>
          </a:p>
          <a:p>
            <a:pPr algn="just"/>
            <a:r>
              <a:rPr lang="en-US" sz="2500" dirty="0"/>
              <a:t>Design Thinking encourages </a:t>
            </a:r>
            <a:r>
              <a:rPr lang="en-US" sz="2500" dirty="0">
                <a:solidFill>
                  <a:srgbClr val="FF0000"/>
                </a:solidFill>
              </a:rPr>
              <a:t>teamwork</a:t>
            </a:r>
            <a:r>
              <a:rPr lang="en-US" sz="2500" dirty="0"/>
              <a:t> and interdisciplinary collaboration. Diverse backgrounds contribute varied perspectives and skills, making solutions richer and more innovative. Collaboration ensures ideas are challenged, improved, and strengthened through discussion, shared understanding, and collective problem-solving.</a:t>
            </a:r>
          </a:p>
        </p:txBody>
      </p:sp>
      <p:sp>
        <p:nvSpPr>
          <p:cNvPr id="4" name="TextBox 3">
            <a:extLst>
              <a:ext uri="{FF2B5EF4-FFF2-40B4-BE49-F238E27FC236}">
                <a16:creationId xmlns:a16="http://schemas.microsoft.com/office/drawing/2014/main" id="{EF8F200F-723C-4C93-9E71-2B82A64569B6}"/>
              </a:ext>
            </a:extLst>
          </p:cNvPr>
          <p:cNvSpPr txBox="1"/>
          <p:nvPr/>
        </p:nvSpPr>
        <p:spPr>
          <a:xfrm>
            <a:off x="560784" y="5621446"/>
            <a:ext cx="11269265" cy="707886"/>
          </a:xfrm>
          <a:prstGeom prst="rect">
            <a:avLst/>
          </a:prstGeom>
          <a:noFill/>
          <a:ln>
            <a:solidFill>
              <a:schemeClr val="tx1"/>
            </a:solidFill>
          </a:ln>
        </p:spPr>
        <p:txBody>
          <a:bodyPr wrap="square">
            <a:spAutoFit/>
          </a:bodyPr>
          <a:lstStyle/>
          <a:p>
            <a:pPr algn="just"/>
            <a:r>
              <a:rPr lang="en-US" sz="2000" dirty="0"/>
              <a:t>Collaborative creativity is the process where two or more individuals work together to generate new and valuable ideas</a:t>
            </a:r>
            <a:r>
              <a:rPr lang="en-US" sz="2000" b="0" i="0" dirty="0">
                <a:solidFill>
                  <a:srgbClr val="0A0A0A"/>
                </a:solidFill>
                <a:effectLst/>
                <a:latin typeface="Google Sans"/>
              </a:rPr>
              <a:t>. I</a:t>
            </a:r>
            <a:endParaRPr lang="th-TH" sz="2000" dirty="0"/>
          </a:p>
        </p:txBody>
      </p:sp>
      <p:pic>
        <p:nvPicPr>
          <p:cNvPr id="11266" name="Picture 2" descr="Everything You Need for Successful Creative Collaboration ...">
            <a:extLst>
              <a:ext uri="{FF2B5EF4-FFF2-40B4-BE49-F238E27FC236}">
                <a16:creationId xmlns:a16="http://schemas.microsoft.com/office/drawing/2014/main" id="{DDAA788B-2222-4BD3-A2AD-A00F6032F5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53089" y="528668"/>
            <a:ext cx="4640638" cy="46406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330186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EFC9A4C-1242-45A0-A3B7-AE6E8496A6A9}"/>
              </a:ext>
            </a:extLst>
          </p:cNvPr>
          <p:cNvSpPr txBox="1"/>
          <p:nvPr/>
        </p:nvSpPr>
        <p:spPr>
          <a:xfrm>
            <a:off x="546497" y="498604"/>
            <a:ext cx="4868465" cy="3939540"/>
          </a:xfrm>
          <a:prstGeom prst="rect">
            <a:avLst/>
          </a:prstGeom>
          <a:solidFill>
            <a:schemeClr val="bg1">
              <a:lumMod val="85000"/>
            </a:schemeClr>
          </a:solidFill>
        </p:spPr>
        <p:txBody>
          <a:bodyPr wrap="square">
            <a:spAutoFit/>
          </a:bodyPr>
          <a:lstStyle/>
          <a:p>
            <a:pPr algn="just"/>
            <a:r>
              <a:rPr lang="en-US" sz="2500" b="1" dirty="0"/>
              <a:t>10. User Journey Mapping</a:t>
            </a:r>
          </a:p>
          <a:p>
            <a:pPr algn="just"/>
            <a:r>
              <a:rPr lang="en-US" sz="2500" dirty="0"/>
              <a:t>A journey map </a:t>
            </a:r>
            <a:r>
              <a:rPr lang="en-US" sz="2500" dirty="0">
                <a:solidFill>
                  <a:srgbClr val="FF0000"/>
                </a:solidFill>
              </a:rPr>
              <a:t>visualizes users’ interactions, emotions, and pain points across their experience with a product or service</a:t>
            </a:r>
            <a:r>
              <a:rPr lang="en-US" sz="2500" dirty="0"/>
              <a:t>. It helps identify challenges, opportunities, and moments that matter. Mapping reveals gaps and guides designers toward targeted, user-centered improvements.</a:t>
            </a:r>
          </a:p>
        </p:txBody>
      </p:sp>
      <p:pic>
        <p:nvPicPr>
          <p:cNvPr id="12292" name="Picture 4" descr="15 Real-Life User Journey Map Examples to Learn From | UXtweak">
            <a:extLst>
              <a:ext uri="{FF2B5EF4-FFF2-40B4-BE49-F238E27FC236}">
                <a16:creationId xmlns:a16="http://schemas.microsoft.com/office/drawing/2014/main" id="{7B7511DA-D27B-4521-9DF9-C0EAB4B3A8B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8351" r="7850" b="7270"/>
          <a:stretch/>
        </p:blipFill>
        <p:spPr bwMode="auto">
          <a:xfrm>
            <a:off x="5586413" y="249302"/>
            <a:ext cx="6372225" cy="6359396"/>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463C93A3-1781-4BC7-AE72-B802D1C1355D}"/>
              </a:ext>
            </a:extLst>
          </p:cNvPr>
          <p:cNvSpPr txBox="1"/>
          <p:nvPr/>
        </p:nvSpPr>
        <p:spPr>
          <a:xfrm>
            <a:off x="546497" y="4792816"/>
            <a:ext cx="4868465" cy="1323439"/>
          </a:xfrm>
          <a:prstGeom prst="rect">
            <a:avLst/>
          </a:prstGeom>
          <a:noFill/>
          <a:ln>
            <a:solidFill>
              <a:schemeClr val="tx1"/>
            </a:solidFill>
          </a:ln>
        </p:spPr>
        <p:txBody>
          <a:bodyPr wrap="square">
            <a:spAutoFit/>
          </a:bodyPr>
          <a:lstStyle/>
          <a:p>
            <a:pPr algn="just"/>
            <a:r>
              <a:rPr lang="en-US" sz="2000" b="0" i="0" dirty="0">
                <a:solidFill>
                  <a:srgbClr val="0A0A0A"/>
                </a:solidFill>
                <a:effectLst/>
                <a:latin typeface="Google Sans"/>
              </a:rPr>
              <a:t>A user journey map is </a:t>
            </a:r>
            <a:r>
              <a:rPr lang="en-US" sz="2000" dirty="0"/>
              <a:t>a visual diagram that illustrates the steps a user takes to achieve a goal while interacting with a product or service</a:t>
            </a:r>
            <a:r>
              <a:rPr lang="en-US" sz="2000" b="0" i="0" dirty="0">
                <a:solidFill>
                  <a:srgbClr val="0A0A0A"/>
                </a:solidFill>
                <a:effectLst/>
                <a:latin typeface="Google Sans"/>
              </a:rPr>
              <a:t>.</a:t>
            </a:r>
            <a:endParaRPr lang="th-TH" sz="2000" dirty="0"/>
          </a:p>
        </p:txBody>
      </p:sp>
    </p:spTree>
    <p:extLst>
      <p:ext uri="{BB962C8B-B14F-4D97-AF65-F5344CB8AC3E}">
        <p14:creationId xmlns:p14="http://schemas.microsoft.com/office/powerpoint/2010/main" val="336193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3B7D1AF-3223-29C3-614B-AD3EC1808DDB}"/>
              </a:ext>
            </a:extLst>
          </p:cNvPr>
          <p:cNvSpPr txBox="1"/>
          <p:nvPr/>
        </p:nvSpPr>
        <p:spPr>
          <a:xfrm>
            <a:off x="883117" y="1360246"/>
            <a:ext cx="10108933" cy="1169551"/>
          </a:xfrm>
          <a:prstGeom prst="rect">
            <a:avLst/>
          </a:prstGeom>
          <a:noFill/>
        </p:spPr>
        <p:txBody>
          <a:bodyPr wrap="square">
            <a:spAutoFit/>
          </a:bodyPr>
          <a:lstStyle/>
          <a:p>
            <a:r>
              <a:rPr lang="en-US" sz="3500" b="1" dirty="0">
                <a:highlight>
                  <a:srgbClr val="FFFF00"/>
                </a:highlight>
              </a:rPr>
              <a:t>Journey Mapping</a:t>
            </a:r>
            <a:r>
              <a:rPr lang="en-US" sz="3500" b="1" dirty="0"/>
              <a:t>&gt;&gt;&gt; you and your team are going to meet me at CU (Bangkok) tomorrow 18.00 pm.</a:t>
            </a:r>
            <a:endParaRPr lang="th-TH" sz="3500" dirty="0"/>
          </a:p>
        </p:txBody>
      </p:sp>
    </p:spTree>
    <p:extLst>
      <p:ext uri="{BB962C8B-B14F-4D97-AF65-F5344CB8AC3E}">
        <p14:creationId xmlns:p14="http://schemas.microsoft.com/office/powerpoint/2010/main" val="16356629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14F7521-98F6-4A85-B5FE-62B75EC85F54}"/>
              </a:ext>
            </a:extLst>
          </p:cNvPr>
          <p:cNvSpPr txBox="1"/>
          <p:nvPr/>
        </p:nvSpPr>
        <p:spPr>
          <a:xfrm>
            <a:off x="360760" y="371148"/>
            <a:ext cx="4168378" cy="4324261"/>
          </a:xfrm>
          <a:prstGeom prst="rect">
            <a:avLst/>
          </a:prstGeom>
          <a:solidFill>
            <a:schemeClr val="bg1">
              <a:lumMod val="85000"/>
            </a:schemeClr>
          </a:solidFill>
        </p:spPr>
        <p:txBody>
          <a:bodyPr wrap="square">
            <a:spAutoFit/>
          </a:bodyPr>
          <a:lstStyle/>
          <a:p>
            <a:pPr algn="just"/>
            <a:r>
              <a:rPr lang="en-US" sz="2500" b="1" dirty="0"/>
              <a:t>11. Persona Development</a:t>
            </a:r>
          </a:p>
          <a:p>
            <a:pPr algn="just"/>
            <a:r>
              <a:rPr lang="en-US" sz="2500" dirty="0"/>
              <a:t>Personas represent fictional users based on real data. They capture user traits, goals, needs, and frustrations. Personas help designers remain focused on target users and ensure solutions are tailored to the right audience throughout the design process.</a:t>
            </a:r>
          </a:p>
        </p:txBody>
      </p:sp>
      <p:sp>
        <p:nvSpPr>
          <p:cNvPr id="4" name="TextBox 3">
            <a:extLst>
              <a:ext uri="{FF2B5EF4-FFF2-40B4-BE49-F238E27FC236}">
                <a16:creationId xmlns:a16="http://schemas.microsoft.com/office/drawing/2014/main" id="{CB73DD17-897C-4014-AFEC-C594828D6855}"/>
              </a:ext>
            </a:extLst>
          </p:cNvPr>
          <p:cNvSpPr txBox="1"/>
          <p:nvPr/>
        </p:nvSpPr>
        <p:spPr>
          <a:xfrm>
            <a:off x="360760" y="5078522"/>
            <a:ext cx="4168378" cy="1323439"/>
          </a:xfrm>
          <a:prstGeom prst="rect">
            <a:avLst/>
          </a:prstGeom>
          <a:noFill/>
          <a:ln>
            <a:solidFill>
              <a:schemeClr val="tx1"/>
            </a:solidFill>
          </a:ln>
        </p:spPr>
        <p:txBody>
          <a:bodyPr wrap="square">
            <a:spAutoFit/>
          </a:bodyPr>
          <a:lstStyle/>
          <a:p>
            <a:pPr algn="just"/>
            <a:r>
              <a:rPr lang="en-US" sz="2000" b="0" i="0" dirty="0">
                <a:solidFill>
                  <a:srgbClr val="0A0A0A"/>
                </a:solidFill>
                <a:effectLst/>
                <a:latin typeface="Google Sans"/>
              </a:rPr>
              <a:t>Persona development is </a:t>
            </a:r>
            <a:r>
              <a:rPr lang="en-US" sz="2000" dirty="0"/>
              <a:t>the process of creating detailed, fictional representations of your target audience based on user research</a:t>
            </a:r>
            <a:r>
              <a:rPr lang="en-US" sz="2000" b="0" i="0" dirty="0">
                <a:solidFill>
                  <a:srgbClr val="0A0A0A"/>
                </a:solidFill>
                <a:effectLst/>
                <a:latin typeface="Google Sans"/>
              </a:rPr>
              <a:t>.</a:t>
            </a:r>
            <a:endParaRPr lang="th-TH" sz="2000" dirty="0"/>
          </a:p>
        </p:txBody>
      </p:sp>
      <p:pic>
        <p:nvPicPr>
          <p:cNvPr id="13314" name="Picture 2" descr="10 steps to creating a persona—a guide with examples">
            <a:extLst>
              <a:ext uri="{FF2B5EF4-FFF2-40B4-BE49-F238E27FC236}">
                <a16:creationId xmlns:a16="http://schemas.microsoft.com/office/drawing/2014/main" id="{4D346DC4-8B9A-4B69-94DD-AAA300C796C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82728" y="371148"/>
            <a:ext cx="4961335" cy="60958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436331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2D2BF36-D50D-4F47-BABA-29938D4BE70E}"/>
              </a:ext>
            </a:extLst>
          </p:cNvPr>
          <p:cNvSpPr txBox="1"/>
          <p:nvPr/>
        </p:nvSpPr>
        <p:spPr>
          <a:xfrm>
            <a:off x="475060" y="470029"/>
            <a:ext cx="4068365" cy="4708981"/>
          </a:xfrm>
          <a:prstGeom prst="rect">
            <a:avLst/>
          </a:prstGeom>
          <a:solidFill>
            <a:schemeClr val="bg1">
              <a:lumMod val="85000"/>
            </a:schemeClr>
          </a:solidFill>
        </p:spPr>
        <p:txBody>
          <a:bodyPr wrap="square">
            <a:spAutoFit/>
          </a:bodyPr>
          <a:lstStyle/>
          <a:p>
            <a:pPr algn="just"/>
            <a:r>
              <a:rPr lang="en-US" sz="2500" b="1" dirty="0"/>
              <a:t>12. Problem Reframing</a:t>
            </a:r>
          </a:p>
          <a:p>
            <a:pPr algn="just"/>
            <a:r>
              <a:rPr lang="en-US" sz="2500" dirty="0"/>
              <a:t>Reframing encourages looking at the problem from different angles to generate new insights. It challenges assumptions, reveals hidden opportunities, and encourages more innovative solutions. Reframing often turns a difficult issue into a more solvable or meaningful design challenge.</a:t>
            </a:r>
          </a:p>
        </p:txBody>
      </p:sp>
      <p:pic>
        <p:nvPicPr>
          <p:cNvPr id="14340" name="Picture 4" descr="Using the Problem Reframing Method to Build Innovative Solutions ...">
            <a:extLst>
              <a:ext uri="{FF2B5EF4-FFF2-40B4-BE49-F238E27FC236}">
                <a16:creationId xmlns:a16="http://schemas.microsoft.com/office/drawing/2014/main" id="{EE9485BD-7E87-4AB4-8814-778B34E1C3C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48227" y="470029"/>
            <a:ext cx="6324598" cy="620628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F230390B-2FB2-4F60-9DB0-7CAE12BEAF23}"/>
              </a:ext>
            </a:extLst>
          </p:cNvPr>
          <p:cNvSpPr txBox="1"/>
          <p:nvPr/>
        </p:nvSpPr>
        <p:spPr>
          <a:xfrm>
            <a:off x="475060" y="5372308"/>
            <a:ext cx="4068365" cy="1200329"/>
          </a:xfrm>
          <a:prstGeom prst="rect">
            <a:avLst/>
          </a:prstGeom>
          <a:noFill/>
          <a:ln>
            <a:solidFill>
              <a:schemeClr val="tx1"/>
            </a:solidFill>
          </a:ln>
        </p:spPr>
        <p:txBody>
          <a:bodyPr wrap="square">
            <a:spAutoFit/>
          </a:bodyPr>
          <a:lstStyle/>
          <a:p>
            <a:pPr algn="just"/>
            <a:r>
              <a:rPr lang="en-US" sz="1800" dirty="0"/>
              <a:t>Problem reframing is a technique of looking at a problem from a different perspective to find innovative solutions that were not initially apparent</a:t>
            </a:r>
            <a:r>
              <a:rPr lang="en-US" sz="1800" b="0" i="0" dirty="0">
                <a:solidFill>
                  <a:srgbClr val="0A0A0A"/>
                </a:solidFill>
                <a:effectLst/>
                <a:latin typeface="Google Sans"/>
              </a:rPr>
              <a:t>. </a:t>
            </a:r>
            <a:endParaRPr lang="th-TH" sz="1800" dirty="0"/>
          </a:p>
        </p:txBody>
      </p:sp>
    </p:spTree>
    <p:extLst>
      <p:ext uri="{BB962C8B-B14F-4D97-AF65-F5344CB8AC3E}">
        <p14:creationId xmlns:p14="http://schemas.microsoft.com/office/powerpoint/2010/main" val="12606669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DA94AD6-BCD5-4298-AC74-D92895B6C935}"/>
              </a:ext>
            </a:extLst>
          </p:cNvPr>
          <p:cNvSpPr txBox="1"/>
          <p:nvPr/>
        </p:nvSpPr>
        <p:spPr>
          <a:xfrm>
            <a:off x="332185" y="368886"/>
            <a:ext cx="3925490" cy="5093702"/>
          </a:xfrm>
          <a:prstGeom prst="rect">
            <a:avLst/>
          </a:prstGeom>
          <a:solidFill>
            <a:schemeClr val="bg1">
              <a:lumMod val="85000"/>
            </a:schemeClr>
          </a:solidFill>
        </p:spPr>
        <p:txBody>
          <a:bodyPr wrap="square">
            <a:spAutoFit/>
          </a:bodyPr>
          <a:lstStyle/>
          <a:p>
            <a:pPr algn="just"/>
            <a:r>
              <a:rPr lang="en-US" sz="2500" b="1" dirty="0"/>
              <a:t>13. Storytelling in Design</a:t>
            </a:r>
          </a:p>
          <a:p>
            <a:pPr algn="just"/>
            <a:r>
              <a:rPr lang="en-US" sz="2500" dirty="0"/>
              <a:t>Storytelling communicates ideas clearly and emotionally. Designers use narratives to explain user problems, illustrate journeys, and present solutions. Storytelling makes insights relatable, helps teams stay aligned, and persuades stakeholders of the value behind design decisions.</a:t>
            </a:r>
          </a:p>
        </p:txBody>
      </p:sp>
      <p:sp>
        <p:nvSpPr>
          <p:cNvPr id="4" name="TextBox 3">
            <a:extLst>
              <a:ext uri="{FF2B5EF4-FFF2-40B4-BE49-F238E27FC236}">
                <a16:creationId xmlns:a16="http://schemas.microsoft.com/office/drawing/2014/main" id="{DB29ACE2-A290-4528-AD37-ABE6DD77F457}"/>
              </a:ext>
            </a:extLst>
          </p:cNvPr>
          <p:cNvSpPr txBox="1"/>
          <p:nvPr/>
        </p:nvSpPr>
        <p:spPr>
          <a:xfrm>
            <a:off x="332185" y="5720328"/>
            <a:ext cx="11597878" cy="707886"/>
          </a:xfrm>
          <a:prstGeom prst="rect">
            <a:avLst/>
          </a:prstGeom>
          <a:noFill/>
          <a:ln>
            <a:solidFill>
              <a:schemeClr val="tx1"/>
            </a:solidFill>
          </a:ln>
        </p:spPr>
        <p:txBody>
          <a:bodyPr wrap="square">
            <a:spAutoFit/>
          </a:bodyPr>
          <a:lstStyle/>
          <a:p>
            <a:pPr algn="just"/>
            <a:r>
              <a:rPr lang="en-US" sz="2000" b="0" i="0" dirty="0">
                <a:solidFill>
                  <a:srgbClr val="0A0A0A"/>
                </a:solidFill>
                <a:effectLst/>
                <a:latin typeface="Google Sans"/>
              </a:rPr>
              <a:t>Storytelling in design is </a:t>
            </a:r>
            <a:r>
              <a:rPr lang="en-US" sz="2000" dirty="0"/>
              <a:t>the use of narrative elements to create an emotional connection and convey meaning through a brand, product, or experience</a:t>
            </a:r>
            <a:r>
              <a:rPr lang="en-US" sz="2000" b="0" i="0" dirty="0">
                <a:solidFill>
                  <a:srgbClr val="0A0A0A"/>
                </a:solidFill>
                <a:effectLst/>
                <a:latin typeface="Google Sans"/>
              </a:rPr>
              <a:t>.</a:t>
            </a:r>
            <a:endParaRPr lang="th-TH" sz="2000" dirty="0"/>
          </a:p>
        </p:txBody>
      </p:sp>
      <p:pic>
        <p:nvPicPr>
          <p:cNvPr id="15362" name="Picture 2" descr="Storytelling and Storyboarding in UX Design | by Anna Iurchenko ...">
            <a:extLst>
              <a:ext uri="{FF2B5EF4-FFF2-40B4-BE49-F238E27FC236}">
                <a16:creationId xmlns:a16="http://schemas.microsoft.com/office/drawing/2014/main" id="{37FF182D-F3C7-49CE-8807-10C3C4AF700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25416" y="429786"/>
            <a:ext cx="5933034" cy="45005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551557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24AF46F-8992-4533-ACCF-467BA68538D1}"/>
              </a:ext>
            </a:extLst>
          </p:cNvPr>
          <p:cNvSpPr txBox="1"/>
          <p:nvPr/>
        </p:nvSpPr>
        <p:spPr>
          <a:xfrm>
            <a:off x="246460" y="356861"/>
            <a:ext cx="3725465" cy="4493538"/>
          </a:xfrm>
          <a:prstGeom prst="rect">
            <a:avLst/>
          </a:prstGeom>
          <a:solidFill>
            <a:schemeClr val="bg1">
              <a:lumMod val="85000"/>
            </a:schemeClr>
          </a:solidFill>
        </p:spPr>
        <p:txBody>
          <a:bodyPr wrap="square">
            <a:spAutoFit/>
          </a:bodyPr>
          <a:lstStyle/>
          <a:p>
            <a:pPr algn="just"/>
            <a:r>
              <a:rPr lang="en-US" sz="2200" b="1" dirty="0"/>
              <a:t>14. Co-Creation with Stakeholders</a:t>
            </a:r>
          </a:p>
          <a:p>
            <a:pPr algn="just"/>
            <a:r>
              <a:rPr lang="en-US" sz="2200" dirty="0"/>
              <a:t>Co-creation involves collaborating directly with users, clients, or community members. This shared process increases ownership, ensures diverse viewpoints, and leads to more relevant solutions. Stakeholders feel valued and contribute valuable insights that designers might otherwise overlook.</a:t>
            </a:r>
          </a:p>
        </p:txBody>
      </p:sp>
      <p:pic>
        <p:nvPicPr>
          <p:cNvPr id="16386" name="Picture 2" descr="Co-Creation - ULTIMATE Water">
            <a:extLst>
              <a:ext uri="{FF2B5EF4-FFF2-40B4-BE49-F238E27FC236}">
                <a16:creationId xmlns:a16="http://schemas.microsoft.com/office/drawing/2014/main" id="{9A927F95-3906-47C4-84AD-423C0273688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86238" y="356861"/>
            <a:ext cx="7829809" cy="5958214"/>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08F2F694-5D11-45F2-A0F8-7AC2A4F3C170}"/>
              </a:ext>
            </a:extLst>
          </p:cNvPr>
          <p:cNvSpPr txBox="1"/>
          <p:nvPr/>
        </p:nvSpPr>
        <p:spPr>
          <a:xfrm>
            <a:off x="246460" y="4990535"/>
            <a:ext cx="3725465" cy="1477328"/>
          </a:xfrm>
          <a:prstGeom prst="rect">
            <a:avLst/>
          </a:prstGeom>
          <a:noFill/>
          <a:ln>
            <a:solidFill>
              <a:schemeClr val="tx1"/>
            </a:solidFill>
          </a:ln>
        </p:spPr>
        <p:txBody>
          <a:bodyPr wrap="square">
            <a:spAutoFit/>
          </a:bodyPr>
          <a:lstStyle/>
          <a:p>
            <a:pPr algn="just"/>
            <a:r>
              <a:rPr lang="en-US" sz="1500" dirty="0"/>
              <a:t>Co-creation with stakeholders is a collaborative process where an organization works directly with external groups, such as customers, employees, and partners, to jointly create value through products, services, or solutions</a:t>
            </a:r>
            <a:r>
              <a:rPr lang="en-US" sz="1500" b="0" i="0" dirty="0">
                <a:solidFill>
                  <a:srgbClr val="0A0A0A"/>
                </a:solidFill>
                <a:effectLst/>
                <a:latin typeface="Google Sans"/>
              </a:rPr>
              <a:t>. </a:t>
            </a:r>
            <a:endParaRPr lang="th-TH" sz="1500" dirty="0"/>
          </a:p>
        </p:txBody>
      </p:sp>
    </p:spTree>
    <p:extLst>
      <p:ext uri="{BB962C8B-B14F-4D97-AF65-F5344CB8AC3E}">
        <p14:creationId xmlns:p14="http://schemas.microsoft.com/office/powerpoint/2010/main" val="5510432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64551E6-DA5B-4ED4-BECE-9D9F2114165D}"/>
              </a:ext>
            </a:extLst>
          </p:cNvPr>
          <p:cNvSpPr txBox="1"/>
          <p:nvPr/>
        </p:nvSpPr>
        <p:spPr>
          <a:xfrm>
            <a:off x="432198" y="412879"/>
            <a:ext cx="4382690" cy="4324261"/>
          </a:xfrm>
          <a:prstGeom prst="rect">
            <a:avLst/>
          </a:prstGeom>
          <a:solidFill>
            <a:schemeClr val="bg1">
              <a:lumMod val="85000"/>
            </a:schemeClr>
          </a:solidFill>
        </p:spPr>
        <p:txBody>
          <a:bodyPr wrap="square">
            <a:spAutoFit/>
          </a:bodyPr>
          <a:lstStyle/>
          <a:p>
            <a:pPr algn="just"/>
            <a:r>
              <a:rPr lang="en-US" sz="2500" b="1" dirty="0"/>
              <a:t>15. Systems Thinking</a:t>
            </a:r>
          </a:p>
          <a:p>
            <a:pPr algn="just"/>
            <a:r>
              <a:rPr lang="en-US" sz="2500" dirty="0"/>
              <a:t>Systems thinking analyzes how various elements within a system interact. Designers use it to understand broader impacts, dependencies, and unintended consequences. By considering the whole system, solutions become more sustainable, scalable, and aligned with long-term outcomes.</a:t>
            </a:r>
          </a:p>
        </p:txBody>
      </p:sp>
      <p:sp>
        <p:nvSpPr>
          <p:cNvPr id="4" name="TextBox 3">
            <a:extLst>
              <a:ext uri="{FF2B5EF4-FFF2-40B4-BE49-F238E27FC236}">
                <a16:creationId xmlns:a16="http://schemas.microsoft.com/office/drawing/2014/main" id="{AA618DC7-5DCC-4CFF-BA8F-7E5A3335CABB}"/>
              </a:ext>
            </a:extLst>
          </p:cNvPr>
          <p:cNvSpPr txBox="1"/>
          <p:nvPr/>
        </p:nvSpPr>
        <p:spPr>
          <a:xfrm>
            <a:off x="432198" y="4920228"/>
            <a:ext cx="4382690" cy="1200329"/>
          </a:xfrm>
          <a:prstGeom prst="rect">
            <a:avLst/>
          </a:prstGeom>
          <a:noFill/>
          <a:ln>
            <a:solidFill>
              <a:schemeClr val="tx1"/>
            </a:solidFill>
          </a:ln>
        </p:spPr>
        <p:txBody>
          <a:bodyPr wrap="square">
            <a:spAutoFit/>
          </a:bodyPr>
          <a:lstStyle/>
          <a:p>
            <a:pPr algn="just"/>
            <a:r>
              <a:rPr lang="en-US" sz="1800" b="0" i="0" dirty="0">
                <a:solidFill>
                  <a:srgbClr val="0A0A0A"/>
                </a:solidFill>
                <a:effectLst/>
                <a:latin typeface="Google Sans"/>
              </a:rPr>
              <a:t>Systems thinking is </a:t>
            </a:r>
            <a:r>
              <a:rPr lang="en-US" sz="1800" dirty="0"/>
              <a:t>a holistic approach to problem-solving that focuses on how the different parts of a system interact, rather than just looking at isolated components</a:t>
            </a:r>
            <a:r>
              <a:rPr lang="en-US" sz="1800" b="0" i="0" dirty="0">
                <a:solidFill>
                  <a:srgbClr val="0A0A0A"/>
                </a:solidFill>
                <a:effectLst/>
                <a:latin typeface="Google Sans"/>
              </a:rPr>
              <a:t>.</a:t>
            </a:r>
            <a:endParaRPr lang="th-TH" sz="1800" dirty="0"/>
          </a:p>
        </p:txBody>
      </p:sp>
      <p:pic>
        <p:nvPicPr>
          <p:cNvPr id="17410" name="Picture 2" descr="Systems Thinking vs Design Thinking: What's The Difference? – IDEO U">
            <a:extLst>
              <a:ext uri="{FF2B5EF4-FFF2-40B4-BE49-F238E27FC236}">
                <a16:creationId xmlns:a16="http://schemas.microsoft.com/office/drawing/2014/main" id="{C092D5B5-F0D3-40A0-8210-2A21687A227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43636" y="585787"/>
            <a:ext cx="3952875" cy="2371725"/>
          </a:xfrm>
          <a:prstGeom prst="rect">
            <a:avLst/>
          </a:prstGeom>
          <a:noFill/>
          <a:extLst>
            <a:ext uri="{909E8E84-426E-40DD-AFC4-6F175D3DCCD1}">
              <a14:hiddenFill xmlns:a14="http://schemas.microsoft.com/office/drawing/2010/main">
                <a:solidFill>
                  <a:srgbClr val="FFFFFF"/>
                </a:solidFill>
              </a14:hiddenFill>
            </a:ext>
          </a:extLst>
        </p:spPr>
      </p:pic>
      <p:pic>
        <p:nvPicPr>
          <p:cNvPr id="17412" name="Picture 4" descr="How does Systems Thinking help Design Thinking? | by Santhosh ...">
            <a:extLst>
              <a:ext uri="{FF2B5EF4-FFF2-40B4-BE49-F238E27FC236}">
                <a16:creationId xmlns:a16="http://schemas.microsoft.com/office/drawing/2014/main" id="{AEB88F38-59DB-44F4-A871-B6EE141D6E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95889" y="2957512"/>
            <a:ext cx="6786560" cy="36753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51483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4E822A2-464F-47EB-B152-6E2E77DE8596}"/>
              </a:ext>
            </a:extLst>
          </p:cNvPr>
          <p:cNvSpPr txBox="1"/>
          <p:nvPr/>
        </p:nvSpPr>
        <p:spPr>
          <a:xfrm>
            <a:off x="317898" y="258901"/>
            <a:ext cx="3954065" cy="4324261"/>
          </a:xfrm>
          <a:prstGeom prst="rect">
            <a:avLst/>
          </a:prstGeom>
          <a:solidFill>
            <a:schemeClr val="bg1">
              <a:lumMod val="85000"/>
            </a:schemeClr>
          </a:solidFill>
        </p:spPr>
        <p:txBody>
          <a:bodyPr wrap="square">
            <a:spAutoFit/>
          </a:bodyPr>
          <a:lstStyle/>
          <a:p>
            <a:pPr algn="just"/>
            <a:r>
              <a:rPr lang="en-US" sz="2500" b="1" dirty="0"/>
              <a:t>16. Prototype Testing</a:t>
            </a:r>
          </a:p>
          <a:p>
            <a:pPr algn="just"/>
            <a:r>
              <a:rPr lang="en-US" sz="2500" dirty="0"/>
              <a:t>Testing evaluates </a:t>
            </a:r>
            <a:r>
              <a:rPr lang="en-US" sz="2500" dirty="0">
                <a:solidFill>
                  <a:srgbClr val="FF0000"/>
                </a:solidFill>
              </a:rPr>
              <a:t>how well a prototype works </a:t>
            </a:r>
            <a:r>
              <a:rPr lang="en-US" sz="2500" dirty="0"/>
              <a:t>for real users. Designers gather feedback on </a:t>
            </a:r>
            <a:r>
              <a:rPr lang="en-US" sz="2500" u="sng" dirty="0"/>
              <a:t>usability, functionality, and emotional response</a:t>
            </a:r>
            <a:r>
              <a:rPr lang="en-US" sz="2500" dirty="0"/>
              <a:t>. </a:t>
            </a:r>
            <a:r>
              <a:rPr lang="en-US" sz="2500" dirty="0">
                <a:solidFill>
                  <a:srgbClr val="00B050"/>
                </a:solidFill>
              </a:rPr>
              <a:t>Testing uncovers issues early, validates design decisions, and supports data-driven improvement before final implementation</a:t>
            </a:r>
            <a:r>
              <a:rPr lang="en-US" sz="2500" dirty="0"/>
              <a:t>.</a:t>
            </a:r>
          </a:p>
        </p:txBody>
      </p:sp>
      <p:sp>
        <p:nvSpPr>
          <p:cNvPr id="4" name="TextBox 3">
            <a:extLst>
              <a:ext uri="{FF2B5EF4-FFF2-40B4-BE49-F238E27FC236}">
                <a16:creationId xmlns:a16="http://schemas.microsoft.com/office/drawing/2014/main" id="{4AD746CB-5D24-4731-B987-F2A17C7CAC78}"/>
              </a:ext>
            </a:extLst>
          </p:cNvPr>
          <p:cNvSpPr txBox="1"/>
          <p:nvPr/>
        </p:nvSpPr>
        <p:spPr>
          <a:xfrm>
            <a:off x="317897" y="5105966"/>
            <a:ext cx="11612165" cy="1384995"/>
          </a:xfrm>
          <a:prstGeom prst="rect">
            <a:avLst/>
          </a:prstGeom>
          <a:noFill/>
          <a:ln>
            <a:solidFill>
              <a:schemeClr val="tx1"/>
            </a:solidFill>
          </a:ln>
        </p:spPr>
        <p:txBody>
          <a:bodyPr wrap="square">
            <a:spAutoFit/>
          </a:bodyPr>
          <a:lstStyle/>
          <a:p>
            <a:pPr algn="just"/>
            <a:r>
              <a:rPr lang="en-US" b="0" i="0" dirty="0">
                <a:solidFill>
                  <a:srgbClr val="0A0A0A"/>
                </a:solidFill>
                <a:effectLst/>
                <a:latin typeface="Google Sans"/>
              </a:rPr>
              <a:t>Prototype testing is evaluating an early, simplified version of a product with real users to gather feedback and identify potential problems before full development begins. </a:t>
            </a:r>
            <a:endParaRPr lang="th-TH" dirty="0"/>
          </a:p>
        </p:txBody>
      </p:sp>
      <p:pic>
        <p:nvPicPr>
          <p:cNvPr id="18434" name="Picture 2" descr="28 Great Prototype Testing Questions for your next Study - Trymata">
            <a:extLst>
              <a:ext uri="{FF2B5EF4-FFF2-40B4-BE49-F238E27FC236}">
                <a16:creationId xmlns:a16="http://schemas.microsoft.com/office/drawing/2014/main" id="{6183C549-472D-4A1C-BD2E-0BC96F7366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62486" y="258901"/>
            <a:ext cx="6238877" cy="46791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094599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5A6EB2D-66BD-4335-97AF-D14D380970AF}"/>
              </a:ext>
            </a:extLst>
          </p:cNvPr>
          <p:cNvSpPr txBox="1"/>
          <p:nvPr/>
        </p:nvSpPr>
        <p:spPr>
          <a:xfrm>
            <a:off x="246460" y="342573"/>
            <a:ext cx="4897040" cy="4832092"/>
          </a:xfrm>
          <a:prstGeom prst="rect">
            <a:avLst/>
          </a:prstGeom>
          <a:solidFill>
            <a:schemeClr val="bg1">
              <a:lumMod val="85000"/>
            </a:schemeClr>
          </a:solidFill>
        </p:spPr>
        <p:txBody>
          <a:bodyPr wrap="square">
            <a:spAutoFit/>
          </a:bodyPr>
          <a:lstStyle/>
          <a:p>
            <a:pPr algn="just"/>
            <a:r>
              <a:rPr lang="en-US" b="1" dirty="0"/>
              <a:t>17. Design Constraints</a:t>
            </a:r>
          </a:p>
          <a:p>
            <a:pPr algn="just"/>
            <a:r>
              <a:rPr lang="en-US" dirty="0"/>
              <a:t>Constraints include </a:t>
            </a:r>
            <a:r>
              <a:rPr lang="en-US" dirty="0">
                <a:solidFill>
                  <a:srgbClr val="FF0000"/>
                </a:solidFill>
              </a:rPr>
              <a:t>time, resources, technology, and user limitations</a:t>
            </a:r>
            <a:r>
              <a:rPr lang="en-US" dirty="0"/>
              <a:t>. Understanding constraints helps guide realistic design decisions. Rather than limiting creativity, constraints often inspire more efficient and innovative solutions by forcing designers to think creatively within boundaries.</a:t>
            </a:r>
          </a:p>
        </p:txBody>
      </p:sp>
      <p:pic>
        <p:nvPicPr>
          <p:cNvPr id="19458" name="Picture 2" descr="How Product Design Constraints Prompt Creative Product Design">
            <a:extLst>
              <a:ext uri="{FF2B5EF4-FFF2-40B4-BE49-F238E27FC236}">
                <a16:creationId xmlns:a16="http://schemas.microsoft.com/office/drawing/2014/main" id="{3CD48B9F-7F4F-42E4-AD76-93F4623C957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24174" y="342573"/>
            <a:ext cx="6377302" cy="339956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969BAC7D-621A-49E9-B249-4B07028A764B}"/>
              </a:ext>
            </a:extLst>
          </p:cNvPr>
          <p:cNvSpPr txBox="1"/>
          <p:nvPr/>
        </p:nvSpPr>
        <p:spPr>
          <a:xfrm>
            <a:off x="246460" y="5607486"/>
            <a:ext cx="11755040" cy="954107"/>
          </a:xfrm>
          <a:prstGeom prst="rect">
            <a:avLst/>
          </a:prstGeom>
          <a:noFill/>
          <a:ln>
            <a:solidFill>
              <a:schemeClr val="tx1"/>
            </a:solidFill>
          </a:ln>
        </p:spPr>
        <p:txBody>
          <a:bodyPr wrap="square">
            <a:spAutoFit/>
          </a:bodyPr>
          <a:lstStyle/>
          <a:p>
            <a:pPr algn="just"/>
            <a:r>
              <a:rPr lang="en-US" dirty="0"/>
              <a:t>Design constraints are the limitations and requirements that a project must stick to, which can be physical, functional, or abstract</a:t>
            </a:r>
            <a:r>
              <a:rPr lang="en-US" b="0" i="0" dirty="0">
                <a:solidFill>
                  <a:srgbClr val="0A0A0A"/>
                </a:solidFill>
                <a:effectLst/>
                <a:latin typeface="Google Sans"/>
              </a:rPr>
              <a:t>. </a:t>
            </a:r>
            <a:endParaRPr lang="th-TH" dirty="0"/>
          </a:p>
        </p:txBody>
      </p:sp>
    </p:spTree>
    <p:extLst>
      <p:ext uri="{BB962C8B-B14F-4D97-AF65-F5344CB8AC3E}">
        <p14:creationId xmlns:p14="http://schemas.microsoft.com/office/powerpoint/2010/main" val="22577920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69A2BC2-1FF3-4CA9-B133-B5A6B016C0A9}"/>
              </a:ext>
            </a:extLst>
          </p:cNvPr>
          <p:cNvSpPr txBox="1"/>
          <p:nvPr/>
        </p:nvSpPr>
        <p:spPr>
          <a:xfrm>
            <a:off x="403622" y="385436"/>
            <a:ext cx="4054078" cy="4708981"/>
          </a:xfrm>
          <a:prstGeom prst="rect">
            <a:avLst/>
          </a:prstGeom>
          <a:solidFill>
            <a:schemeClr val="bg1">
              <a:lumMod val="85000"/>
            </a:schemeClr>
          </a:solidFill>
        </p:spPr>
        <p:txBody>
          <a:bodyPr wrap="square">
            <a:spAutoFit/>
          </a:bodyPr>
          <a:lstStyle/>
          <a:p>
            <a:pPr algn="just"/>
            <a:r>
              <a:rPr lang="en-US" sz="2500" b="1" dirty="0"/>
              <a:t>18. Innovation Mindset</a:t>
            </a:r>
          </a:p>
          <a:p>
            <a:pPr algn="just"/>
            <a:r>
              <a:rPr lang="en-US" sz="2500" dirty="0"/>
              <a:t>An innovation mindset embraces curiosity, openness, and experimentation. It encourages risk-taking, learning from failure, and challenging traditional assumptions. This mindset supports </a:t>
            </a:r>
            <a:r>
              <a:rPr lang="en-US" sz="2500" dirty="0">
                <a:solidFill>
                  <a:srgbClr val="FF0000"/>
                </a:solidFill>
              </a:rPr>
              <a:t>continuous improvement</a:t>
            </a:r>
            <a:r>
              <a:rPr lang="en-US" sz="2500" dirty="0"/>
              <a:t> and helps teams </a:t>
            </a:r>
            <a:r>
              <a:rPr lang="en-US" sz="2500" dirty="0">
                <a:solidFill>
                  <a:srgbClr val="FF0000"/>
                </a:solidFill>
              </a:rPr>
              <a:t>uncover unique and meaningful solutions</a:t>
            </a:r>
            <a:r>
              <a:rPr lang="en-US" sz="2500" dirty="0"/>
              <a:t>.</a:t>
            </a:r>
          </a:p>
        </p:txBody>
      </p:sp>
      <p:sp>
        <p:nvSpPr>
          <p:cNvPr id="4" name="TextBox 3">
            <a:extLst>
              <a:ext uri="{FF2B5EF4-FFF2-40B4-BE49-F238E27FC236}">
                <a16:creationId xmlns:a16="http://schemas.microsoft.com/office/drawing/2014/main" id="{BE19E918-EC1C-4111-9A73-B531D2D12B35}"/>
              </a:ext>
            </a:extLst>
          </p:cNvPr>
          <p:cNvSpPr txBox="1"/>
          <p:nvPr/>
        </p:nvSpPr>
        <p:spPr>
          <a:xfrm>
            <a:off x="403622" y="5664309"/>
            <a:ext cx="11383566" cy="707886"/>
          </a:xfrm>
          <a:prstGeom prst="rect">
            <a:avLst/>
          </a:prstGeom>
          <a:noFill/>
          <a:ln>
            <a:solidFill>
              <a:schemeClr val="tx1"/>
            </a:solidFill>
          </a:ln>
        </p:spPr>
        <p:txBody>
          <a:bodyPr wrap="square">
            <a:spAutoFit/>
          </a:bodyPr>
          <a:lstStyle/>
          <a:p>
            <a:pPr algn="just"/>
            <a:r>
              <a:rPr lang="en-US" sz="2000" dirty="0"/>
              <a:t>An innovation mindset is a way of thinking that embraces change and opportunity through creative problem-solving, curiosity, and resilience</a:t>
            </a:r>
            <a:r>
              <a:rPr lang="en-US" sz="2000" b="0" i="0" dirty="0">
                <a:solidFill>
                  <a:srgbClr val="0A0A0A"/>
                </a:solidFill>
                <a:effectLst/>
                <a:latin typeface="Google Sans"/>
              </a:rPr>
              <a:t>. </a:t>
            </a:r>
            <a:endParaRPr lang="th-TH" sz="2000" dirty="0"/>
          </a:p>
        </p:txBody>
      </p:sp>
      <p:pic>
        <p:nvPicPr>
          <p:cNvPr id="20482" name="Picture 2" descr="Elements of an innovation mindset - The Toolbox - MLA eLearning">
            <a:extLst>
              <a:ext uri="{FF2B5EF4-FFF2-40B4-BE49-F238E27FC236}">
                <a16:creationId xmlns:a16="http://schemas.microsoft.com/office/drawing/2014/main" id="{014EECA2-CD30-4D5A-BA29-EA677A9327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52975" y="485805"/>
            <a:ext cx="6348413" cy="41652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255019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E8BF147-01D5-40EC-8601-55AEA115B843}"/>
              </a:ext>
            </a:extLst>
          </p:cNvPr>
          <p:cNvSpPr txBox="1"/>
          <p:nvPr/>
        </p:nvSpPr>
        <p:spPr>
          <a:xfrm>
            <a:off x="360760" y="372278"/>
            <a:ext cx="4025503" cy="4708981"/>
          </a:xfrm>
          <a:prstGeom prst="rect">
            <a:avLst/>
          </a:prstGeom>
          <a:solidFill>
            <a:schemeClr val="bg1">
              <a:lumMod val="85000"/>
            </a:schemeClr>
          </a:solidFill>
        </p:spPr>
        <p:txBody>
          <a:bodyPr wrap="square">
            <a:spAutoFit/>
          </a:bodyPr>
          <a:lstStyle/>
          <a:p>
            <a:pPr algn="just"/>
            <a:r>
              <a:rPr lang="en-US" sz="2500" b="1" dirty="0"/>
              <a:t>19. Value Proposition Development</a:t>
            </a:r>
          </a:p>
          <a:p>
            <a:pPr algn="just"/>
            <a:r>
              <a:rPr lang="en-US" sz="2500" dirty="0"/>
              <a:t>A value proposition defines the benefit a solution provides to users. Designers clarify how the solution solves a problem, meets a need, or improves the user’s experience. A strong value proposition ensures the final output delivers meaningful and measurable value.</a:t>
            </a:r>
          </a:p>
        </p:txBody>
      </p:sp>
      <p:pic>
        <p:nvPicPr>
          <p:cNvPr id="21506" name="Picture 2" descr="What Is a Value Proposition?">
            <a:extLst>
              <a:ext uri="{FF2B5EF4-FFF2-40B4-BE49-F238E27FC236}">
                <a16:creationId xmlns:a16="http://schemas.microsoft.com/office/drawing/2014/main" id="{36A6A4BF-47CD-4692-ACA0-147CF6D1B84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33913" y="372278"/>
            <a:ext cx="6667500" cy="340995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F6636645-EDF3-4E71-A981-CAE3F8DEC112}"/>
              </a:ext>
            </a:extLst>
          </p:cNvPr>
          <p:cNvSpPr txBox="1"/>
          <p:nvPr/>
        </p:nvSpPr>
        <p:spPr>
          <a:xfrm>
            <a:off x="360760" y="5534561"/>
            <a:ext cx="11469290" cy="707886"/>
          </a:xfrm>
          <a:prstGeom prst="rect">
            <a:avLst/>
          </a:prstGeom>
          <a:noFill/>
          <a:ln>
            <a:solidFill>
              <a:schemeClr val="tx1"/>
            </a:solidFill>
          </a:ln>
        </p:spPr>
        <p:txBody>
          <a:bodyPr wrap="square">
            <a:spAutoFit/>
          </a:bodyPr>
          <a:lstStyle/>
          <a:p>
            <a:pPr algn="just"/>
            <a:r>
              <a:rPr lang="en-US" sz="2000" dirty="0"/>
              <a:t>Value proposition development is the process of creating a concise statement that clearly explains the unique value a company's product or service offers to its target customers and why it is better than the competition</a:t>
            </a:r>
            <a:r>
              <a:rPr lang="en-US" sz="2000" b="0" i="0" dirty="0">
                <a:solidFill>
                  <a:srgbClr val="0A0A0A"/>
                </a:solidFill>
                <a:effectLst/>
                <a:latin typeface="Google Sans"/>
              </a:rPr>
              <a:t>.</a:t>
            </a:r>
            <a:endParaRPr lang="th-TH" sz="2000" dirty="0"/>
          </a:p>
        </p:txBody>
      </p:sp>
    </p:spTree>
    <p:extLst>
      <p:ext uri="{BB962C8B-B14F-4D97-AF65-F5344CB8AC3E}">
        <p14:creationId xmlns:p14="http://schemas.microsoft.com/office/powerpoint/2010/main" val="34685268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E105394-3334-476C-BAA7-9192CC9C64F1}"/>
              </a:ext>
            </a:extLst>
          </p:cNvPr>
          <p:cNvSpPr txBox="1"/>
          <p:nvPr/>
        </p:nvSpPr>
        <p:spPr>
          <a:xfrm>
            <a:off x="346473" y="258901"/>
            <a:ext cx="3968352" cy="5478423"/>
          </a:xfrm>
          <a:prstGeom prst="rect">
            <a:avLst/>
          </a:prstGeom>
          <a:solidFill>
            <a:schemeClr val="bg1">
              <a:lumMod val="85000"/>
            </a:schemeClr>
          </a:solidFill>
        </p:spPr>
        <p:txBody>
          <a:bodyPr wrap="square">
            <a:spAutoFit/>
          </a:bodyPr>
          <a:lstStyle/>
          <a:p>
            <a:pPr algn="just"/>
            <a:r>
              <a:rPr lang="en-US" sz="2500" b="1"/>
              <a:t>20. Real-World Application</a:t>
            </a:r>
          </a:p>
          <a:p>
            <a:pPr algn="just"/>
            <a:r>
              <a:rPr lang="en-US" sz="2500"/>
              <a:t>Design Thinking applies to business, education, healthcare, technology, and public services. Its flexible nature allows it to solve diverse challenges. Real-world application emphasizes practicality—turning user insights and creative ideas into solutions that improve experiences and create measurable impact.</a:t>
            </a:r>
            <a:endParaRPr lang="en-US" sz="2500" dirty="0"/>
          </a:p>
        </p:txBody>
      </p:sp>
      <p:sp>
        <p:nvSpPr>
          <p:cNvPr id="4" name="TextBox 3">
            <a:extLst>
              <a:ext uri="{FF2B5EF4-FFF2-40B4-BE49-F238E27FC236}">
                <a16:creationId xmlns:a16="http://schemas.microsoft.com/office/drawing/2014/main" id="{26AF2221-C7D7-4362-912F-1933F169EB04}"/>
              </a:ext>
            </a:extLst>
          </p:cNvPr>
          <p:cNvSpPr txBox="1"/>
          <p:nvPr/>
        </p:nvSpPr>
        <p:spPr>
          <a:xfrm>
            <a:off x="4518421" y="258901"/>
            <a:ext cx="7327105" cy="1477328"/>
          </a:xfrm>
          <a:prstGeom prst="rect">
            <a:avLst/>
          </a:prstGeom>
          <a:solidFill>
            <a:schemeClr val="accent6">
              <a:lumMod val="40000"/>
              <a:lumOff val="60000"/>
            </a:schemeClr>
          </a:solidFill>
        </p:spPr>
        <p:txBody>
          <a:bodyPr wrap="square">
            <a:spAutoFit/>
          </a:bodyPr>
          <a:lstStyle/>
          <a:p>
            <a:pPr algn="just"/>
            <a:r>
              <a:rPr lang="en-US" sz="1500" dirty="0"/>
              <a:t>Design thinking is used in real-world applications across various sectors like technology, healthcare, education, and government to create human-centered solutions by focusing on user needs</a:t>
            </a:r>
            <a:r>
              <a:rPr lang="en-US" sz="1500" b="0" i="0" dirty="0">
                <a:solidFill>
                  <a:srgbClr val="0A0A0A"/>
                </a:solidFill>
                <a:effectLst/>
                <a:latin typeface="Google Sans"/>
              </a:rPr>
              <a:t>. Examples include DBS Bank using it to create the </a:t>
            </a:r>
            <a:r>
              <a:rPr lang="en-US" sz="1500" b="0" i="0" dirty="0" err="1">
                <a:solidFill>
                  <a:srgbClr val="0A0A0A"/>
                </a:solidFill>
                <a:effectLst/>
                <a:latin typeface="Google Sans"/>
              </a:rPr>
              <a:t>digibank</a:t>
            </a:r>
            <a:r>
              <a:rPr lang="en-US" sz="1500" b="0" i="0" dirty="0">
                <a:solidFill>
                  <a:srgbClr val="0A0A0A"/>
                </a:solidFill>
                <a:effectLst/>
                <a:latin typeface="Google Sans"/>
              </a:rPr>
              <a:t> mobile-only app, the City of Helsinki applying it to develop smart city solutions like the </a:t>
            </a:r>
            <a:r>
              <a:rPr lang="en-US" sz="1500" b="0" i="0" dirty="0" err="1">
                <a:effectLst/>
                <a:latin typeface="Google Sans"/>
                <a:hlinkClick r:id="rId2"/>
              </a:rPr>
              <a:t>Kalasatama</a:t>
            </a:r>
            <a:r>
              <a:rPr lang="en-US" sz="1500" b="0" i="0" dirty="0">
                <a:effectLst/>
                <a:latin typeface="Google Sans"/>
                <a:hlinkClick r:id="rId2"/>
              </a:rPr>
              <a:t> district</a:t>
            </a:r>
            <a:r>
              <a:rPr lang="en-US" sz="1500" b="0" i="0" dirty="0">
                <a:solidFill>
                  <a:srgbClr val="0A0A0A"/>
                </a:solidFill>
                <a:effectLst/>
                <a:latin typeface="Google Sans"/>
              </a:rPr>
              <a:t>, and companies like Uber and Airbnb using it to redesign services and platforms based on user pain points. </a:t>
            </a:r>
            <a:endParaRPr lang="th-TH" sz="1500" dirty="0"/>
          </a:p>
        </p:txBody>
      </p:sp>
      <p:pic>
        <p:nvPicPr>
          <p:cNvPr id="22530" name="Picture 2" descr="Design Thinking Examples: How Successful Companies Apply It">
            <a:extLst>
              <a:ext uri="{FF2B5EF4-FFF2-40B4-BE49-F238E27FC236}">
                <a16:creationId xmlns:a16="http://schemas.microsoft.com/office/drawing/2014/main" id="{EE8C3D1D-8AE1-448D-8CE2-54DE4558A30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18421" y="1866714"/>
            <a:ext cx="7327105" cy="47627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3980633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ACAE07B-DFF6-4E3E-A9FA-65266830C9CC}"/>
              </a:ext>
            </a:extLst>
          </p:cNvPr>
          <p:cNvSpPr txBox="1"/>
          <p:nvPr/>
        </p:nvSpPr>
        <p:spPr>
          <a:xfrm>
            <a:off x="445294" y="366623"/>
            <a:ext cx="11301412" cy="6124754"/>
          </a:xfrm>
          <a:prstGeom prst="rect">
            <a:avLst/>
          </a:prstGeom>
          <a:noFill/>
        </p:spPr>
        <p:txBody>
          <a:bodyPr wrap="square">
            <a:spAutoFit/>
          </a:bodyPr>
          <a:lstStyle/>
          <a:p>
            <a:r>
              <a:rPr lang="en-US" b="1" dirty="0"/>
              <a:t>4 clear and simple points</a:t>
            </a:r>
            <a:r>
              <a:rPr lang="en-US" dirty="0"/>
              <a:t> introducing </a:t>
            </a:r>
            <a:r>
              <a:rPr lang="en-US" i="1" dirty="0"/>
              <a:t>Design Thinking</a:t>
            </a:r>
            <a:r>
              <a:rPr lang="en-US" dirty="0"/>
              <a:t>:</a:t>
            </a:r>
          </a:p>
          <a:p>
            <a:pPr lvl="1">
              <a:buFont typeface="+mj-lt"/>
              <a:buAutoNum type="arabicPeriod"/>
            </a:pPr>
            <a:r>
              <a:rPr lang="en-US" b="1" dirty="0"/>
              <a:t>Human-Centered Approach</a:t>
            </a:r>
            <a:br>
              <a:rPr lang="en-US" dirty="0"/>
            </a:br>
            <a:r>
              <a:rPr lang="en-US" dirty="0"/>
              <a:t>Design thinking begins with understanding users’ needs, emotions, and real-life problems. Empathy is the foundation of every solution.</a:t>
            </a:r>
          </a:p>
          <a:p>
            <a:pPr lvl="1">
              <a:buFont typeface="+mj-lt"/>
              <a:buAutoNum type="arabicPeriod"/>
            </a:pPr>
            <a:r>
              <a:rPr lang="en-US" b="1" dirty="0"/>
              <a:t>Problem Redefinition</a:t>
            </a:r>
            <a:br>
              <a:rPr lang="en-US" dirty="0"/>
            </a:br>
            <a:r>
              <a:rPr lang="en-US" dirty="0"/>
              <a:t>Instead of accepting problems as given, design thinking encourages reframing them to discover underlying causes and better opportunities for innovation.</a:t>
            </a:r>
          </a:p>
          <a:p>
            <a:pPr lvl="1">
              <a:buFont typeface="+mj-lt"/>
              <a:buAutoNum type="arabicPeriod"/>
            </a:pPr>
            <a:r>
              <a:rPr lang="en-US" b="1" dirty="0"/>
              <a:t>Iterative Process</a:t>
            </a:r>
            <a:br>
              <a:rPr lang="en-US" dirty="0"/>
            </a:br>
            <a:r>
              <a:rPr lang="en-US" dirty="0"/>
              <a:t>Solutions are developed through cycles of prototyping, testing, and improving. Failure is seen as a learning step that guides better outcomes.</a:t>
            </a:r>
          </a:p>
          <a:p>
            <a:pPr lvl="1">
              <a:buFont typeface="+mj-lt"/>
              <a:buAutoNum type="arabicPeriod"/>
            </a:pPr>
            <a:r>
              <a:rPr lang="en-US" b="1" dirty="0"/>
              <a:t>Collaborative and Creative Mindset</a:t>
            </a:r>
            <a:br>
              <a:rPr lang="en-US" dirty="0"/>
            </a:br>
            <a:r>
              <a:rPr lang="en-US" dirty="0"/>
              <a:t>It brings together diverse perspectives—combining creativity, teamwork, and open-mindedness to generate innovative and practical solutions.</a:t>
            </a:r>
          </a:p>
        </p:txBody>
      </p:sp>
    </p:spTree>
    <p:extLst>
      <p:ext uri="{BB962C8B-B14F-4D97-AF65-F5344CB8AC3E}">
        <p14:creationId xmlns:p14="http://schemas.microsoft.com/office/powerpoint/2010/main" val="16736570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256</TotalTime>
  <Words>1874</Words>
  <Application>Microsoft Office PowerPoint</Application>
  <PresentationFormat>Widescreen</PresentationFormat>
  <Paragraphs>82</Paragraphs>
  <Slides>27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27</vt:i4>
      </vt:variant>
    </vt:vector>
  </HeadingPairs>
  <TitlesOfParts>
    <vt:vector size="33" baseType="lpstr">
      <vt:lpstr>Arial</vt:lpstr>
      <vt:lpstr>Calibri</vt:lpstr>
      <vt:lpstr>Calibri Light</vt:lpstr>
      <vt:lpstr>Google Sans</vt:lpstr>
      <vt:lpstr>TH SarabunPSK</vt:lpstr>
      <vt:lpstr>Office Theme</vt:lpstr>
      <vt:lpstr>Chapter 1 Introduction to design thinking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Core AI technologies fueling transformation</dc:title>
  <dc:creator>Adtha Lawanna</dc:creator>
  <cp:lastModifiedBy>Adtha Lawanna</cp:lastModifiedBy>
  <cp:revision>32</cp:revision>
  <dcterms:created xsi:type="dcterms:W3CDTF">2025-11-15T02:26:25Z</dcterms:created>
  <dcterms:modified xsi:type="dcterms:W3CDTF">2026-10-23T03:53:00Z</dcterms:modified>
</cp:coreProperties>
</file>