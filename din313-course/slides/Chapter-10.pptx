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9" r:id="rId5"/>
    <p:sldId id="300" r:id="rId6"/>
    <p:sldId id="301" r:id="rId7"/>
    <p:sldId id="302" r:id="rId8"/>
    <p:sldId id="289" r:id="rId9"/>
    <p:sldId id="259" r:id="rId10"/>
    <p:sldId id="303" r:id="rId11"/>
    <p:sldId id="290" r:id="rId12"/>
    <p:sldId id="260" r:id="rId13"/>
    <p:sldId id="304" r:id="rId14"/>
    <p:sldId id="291" r:id="rId15"/>
    <p:sldId id="261" r:id="rId16"/>
    <p:sldId id="305" r:id="rId17"/>
    <p:sldId id="292" r:id="rId18"/>
    <p:sldId id="262" r:id="rId19"/>
    <p:sldId id="306" r:id="rId20"/>
    <p:sldId id="288" r:id="rId21"/>
    <p:sldId id="293" r:id="rId22"/>
    <p:sldId id="263" r:id="rId23"/>
    <p:sldId id="315" r:id="rId24"/>
    <p:sldId id="316" r:id="rId25"/>
    <p:sldId id="307" r:id="rId26"/>
    <p:sldId id="294" r:id="rId27"/>
    <p:sldId id="264" r:id="rId28"/>
    <p:sldId id="308" r:id="rId29"/>
    <p:sldId id="309" r:id="rId30"/>
    <p:sldId id="310" r:id="rId31"/>
    <p:sldId id="295" r:id="rId32"/>
    <p:sldId id="265" r:id="rId33"/>
    <p:sldId id="311" r:id="rId34"/>
    <p:sldId id="312" r:id="rId35"/>
    <p:sldId id="296" r:id="rId36"/>
    <p:sldId id="266" r:id="rId37"/>
    <p:sldId id="313" r:id="rId38"/>
    <p:sldId id="297" r:id="rId39"/>
    <p:sldId id="267" r:id="rId40"/>
    <p:sldId id="314" r:id="rId41"/>
    <p:sldId id="298" r:id="rId42"/>
    <p:sldId id="268" r:id="rId43"/>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87" autoAdjust="0"/>
    <p:restoredTop sz="94660"/>
  </p:normalViewPr>
  <p:slideViewPr>
    <p:cSldViewPr snapToGrid="0">
      <p:cViewPr varScale="1">
        <p:scale>
          <a:sx n="67" d="100"/>
          <a:sy n="67" d="100"/>
        </p:scale>
        <p:origin x="7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12D9-7043-43C9-9022-4CB927842C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h-TH"/>
          </a:p>
        </p:txBody>
      </p:sp>
      <p:sp>
        <p:nvSpPr>
          <p:cNvPr id="3" name="Subtitle 2">
            <a:extLst>
              <a:ext uri="{FF2B5EF4-FFF2-40B4-BE49-F238E27FC236}">
                <a16:creationId xmlns:a16="http://schemas.microsoft.com/office/drawing/2014/main" id="{3F682E85-08CB-4BAA-8425-BD2C2AE6E5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h-TH"/>
          </a:p>
        </p:txBody>
      </p:sp>
      <p:sp>
        <p:nvSpPr>
          <p:cNvPr id="4" name="Date Placeholder 3">
            <a:extLst>
              <a:ext uri="{FF2B5EF4-FFF2-40B4-BE49-F238E27FC236}">
                <a16:creationId xmlns:a16="http://schemas.microsoft.com/office/drawing/2014/main" id="{E6E5EFEC-3DF3-4A5F-8D72-0DA2D7752ED1}"/>
              </a:ext>
            </a:extLst>
          </p:cNvPr>
          <p:cNvSpPr>
            <a:spLocks noGrp="1"/>
          </p:cNvSpPr>
          <p:nvPr>
            <p:ph type="dt" sz="half" idx="10"/>
          </p:nvPr>
        </p:nvSpPr>
        <p:spPr/>
        <p:txBody>
          <a:bodyPr/>
          <a:lstStyle/>
          <a:p>
            <a:fld id="{41DB1237-82F3-41AB-8C61-F8D2C1E0FDCB}" type="datetimeFigureOut">
              <a:rPr lang="th-TH" smtClean="0"/>
              <a:t>16/09/69</a:t>
            </a:fld>
            <a:endParaRPr lang="th-TH"/>
          </a:p>
        </p:txBody>
      </p:sp>
      <p:sp>
        <p:nvSpPr>
          <p:cNvPr id="5" name="Footer Placeholder 4">
            <a:extLst>
              <a:ext uri="{FF2B5EF4-FFF2-40B4-BE49-F238E27FC236}">
                <a16:creationId xmlns:a16="http://schemas.microsoft.com/office/drawing/2014/main" id="{D653792A-4195-4E94-8B3D-4B76EB7891D4}"/>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D982B4D4-C42F-43E5-86FD-418F718E402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86092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B4F6D-239D-4BD9-B064-CD98F9DDF972}"/>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2E485487-E44F-4186-8EE5-A32F7D41A7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582C8408-8C53-4641-9692-6722C2637B3F}"/>
              </a:ext>
            </a:extLst>
          </p:cNvPr>
          <p:cNvSpPr>
            <a:spLocks noGrp="1"/>
          </p:cNvSpPr>
          <p:nvPr>
            <p:ph type="dt" sz="half" idx="10"/>
          </p:nvPr>
        </p:nvSpPr>
        <p:spPr/>
        <p:txBody>
          <a:bodyPr/>
          <a:lstStyle/>
          <a:p>
            <a:fld id="{41DB1237-82F3-41AB-8C61-F8D2C1E0FDCB}" type="datetimeFigureOut">
              <a:rPr lang="th-TH" smtClean="0"/>
              <a:t>16/09/69</a:t>
            </a:fld>
            <a:endParaRPr lang="th-TH"/>
          </a:p>
        </p:txBody>
      </p:sp>
      <p:sp>
        <p:nvSpPr>
          <p:cNvPr id="5" name="Footer Placeholder 4">
            <a:extLst>
              <a:ext uri="{FF2B5EF4-FFF2-40B4-BE49-F238E27FC236}">
                <a16:creationId xmlns:a16="http://schemas.microsoft.com/office/drawing/2014/main" id="{881843B3-AFB7-4CDD-A62B-8CEDE8923EB1}"/>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48ECFB9B-20A1-4E36-9F3B-33BCEC807A96}"/>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1074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3F78-3C05-4DE8-A76F-7950E8EBA8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h-TH"/>
          </a:p>
        </p:txBody>
      </p:sp>
      <p:sp>
        <p:nvSpPr>
          <p:cNvPr id="3" name="Text Placeholder 2">
            <a:extLst>
              <a:ext uri="{FF2B5EF4-FFF2-40B4-BE49-F238E27FC236}">
                <a16:creationId xmlns:a16="http://schemas.microsoft.com/office/drawing/2014/main" id="{13C2A966-59B1-4752-897D-BFC1C1384A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D5911F-6AC6-4181-B8B9-860FA094F2CB}"/>
              </a:ext>
            </a:extLst>
          </p:cNvPr>
          <p:cNvSpPr>
            <a:spLocks noGrp="1"/>
          </p:cNvSpPr>
          <p:nvPr>
            <p:ph type="dt" sz="half" idx="10"/>
          </p:nvPr>
        </p:nvSpPr>
        <p:spPr/>
        <p:txBody>
          <a:bodyPr/>
          <a:lstStyle/>
          <a:p>
            <a:fld id="{41DB1237-82F3-41AB-8C61-F8D2C1E0FDCB}" type="datetimeFigureOut">
              <a:rPr lang="th-TH" smtClean="0"/>
              <a:t>16/09/69</a:t>
            </a:fld>
            <a:endParaRPr lang="th-TH"/>
          </a:p>
        </p:txBody>
      </p:sp>
      <p:sp>
        <p:nvSpPr>
          <p:cNvPr id="5" name="Footer Placeholder 4">
            <a:extLst>
              <a:ext uri="{FF2B5EF4-FFF2-40B4-BE49-F238E27FC236}">
                <a16:creationId xmlns:a16="http://schemas.microsoft.com/office/drawing/2014/main" id="{E299DD4F-3D70-4194-B2FA-2945C9F6E53F}"/>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C3FCD0CF-490D-4001-A0C3-B07147970B4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1397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1721E-3BA0-4FCF-81B8-9EB48D87A99F}"/>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B69CCC5A-22A8-4B78-95F5-0F3D9FDF64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a:extLst>
              <a:ext uri="{FF2B5EF4-FFF2-40B4-BE49-F238E27FC236}">
                <a16:creationId xmlns:a16="http://schemas.microsoft.com/office/drawing/2014/main" id="{1E0C1BC9-62C7-4484-A5FD-12FC389F0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a:extLst>
              <a:ext uri="{FF2B5EF4-FFF2-40B4-BE49-F238E27FC236}">
                <a16:creationId xmlns:a16="http://schemas.microsoft.com/office/drawing/2014/main" id="{D2A4D17E-88DC-4B2B-9E7B-93C4228E2632}"/>
              </a:ext>
            </a:extLst>
          </p:cNvPr>
          <p:cNvSpPr>
            <a:spLocks noGrp="1"/>
          </p:cNvSpPr>
          <p:nvPr>
            <p:ph type="dt" sz="half" idx="10"/>
          </p:nvPr>
        </p:nvSpPr>
        <p:spPr/>
        <p:txBody>
          <a:bodyPr/>
          <a:lstStyle/>
          <a:p>
            <a:fld id="{41DB1237-82F3-41AB-8C61-F8D2C1E0FDCB}" type="datetimeFigureOut">
              <a:rPr lang="th-TH" smtClean="0"/>
              <a:t>16/09/69</a:t>
            </a:fld>
            <a:endParaRPr lang="th-TH"/>
          </a:p>
        </p:txBody>
      </p:sp>
      <p:sp>
        <p:nvSpPr>
          <p:cNvPr id="6" name="Footer Placeholder 5">
            <a:extLst>
              <a:ext uri="{FF2B5EF4-FFF2-40B4-BE49-F238E27FC236}">
                <a16:creationId xmlns:a16="http://schemas.microsoft.com/office/drawing/2014/main" id="{70C696E0-05F8-49EF-8B68-AB47385B605D}"/>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E69C8EF5-0E1F-49E6-93AC-1CE65BDAE62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069345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DFE25-C3C9-411A-91A2-6924B8B3A250}"/>
              </a:ext>
            </a:extLst>
          </p:cNvPr>
          <p:cNvSpPr>
            <a:spLocks noGrp="1"/>
          </p:cNvSpPr>
          <p:nvPr>
            <p:ph type="title"/>
          </p:nvPr>
        </p:nvSpPr>
        <p:spPr>
          <a:xfrm>
            <a:off x="839788" y="365125"/>
            <a:ext cx="10515600" cy="1325563"/>
          </a:xfrm>
        </p:spPr>
        <p:txBody>
          <a:bodyPr/>
          <a:lstStyle/>
          <a:p>
            <a:r>
              <a:rPr lang="en-US"/>
              <a:t>Click to edit Master title style</a:t>
            </a:r>
            <a:endParaRPr lang="th-TH"/>
          </a:p>
        </p:txBody>
      </p:sp>
      <p:sp>
        <p:nvSpPr>
          <p:cNvPr id="3" name="Text Placeholder 2">
            <a:extLst>
              <a:ext uri="{FF2B5EF4-FFF2-40B4-BE49-F238E27FC236}">
                <a16:creationId xmlns:a16="http://schemas.microsoft.com/office/drawing/2014/main" id="{D32D7EA1-4671-4046-8317-D7FFA86F64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61D1DA-003F-4B47-9FFC-A83D67362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a:extLst>
              <a:ext uri="{FF2B5EF4-FFF2-40B4-BE49-F238E27FC236}">
                <a16:creationId xmlns:a16="http://schemas.microsoft.com/office/drawing/2014/main" id="{0FAE6C3B-15DC-431E-BE0A-785638804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09B8C-AB0A-4D51-A3E3-4436405A1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Date Placeholder 6">
            <a:extLst>
              <a:ext uri="{FF2B5EF4-FFF2-40B4-BE49-F238E27FC236}">
                <a16:creationId xmlns:a16="http://schemas.microsoft.com/office/drawing/2014/main" id="{0291D225-5EBF-4105-BF12-A932C2A0E99E}"/>
              </a:ext>
            </a:extLst>
          </p:cNvPr>
          <p:cNvSpPr>
            <a:spLocks noGrp="1"/>
          </p:cNvSpPr>
          <p:nvPr>
            <p:ph type="dt" sz="half" idx="10"/>
          </p:nvPr>
        </p:nvSpPr>
        <p:spPr/>
        <p:txBody>
          <a:bodyPr/>
          <a:lstStyle/>
          <a:p>
            <a:fld id="{41DB1237-82F3-41AB-8C61-F8D2C1E0FDCB}" type="datetimeFigureOut">
              <a:rPr lang="th-TH" smtClean="0"/>
              <a:t>16/09/69</a:t>
            </a:fld>
            <a:endParaRPr lang="th-TH"/>
          </a:p>
        </p:txBody>
      </p:sp>
      <p:sp>
        <p:nvSpPr>
          <p:cNvPr id="8" name="Footer Placeholder 7">
            <a:extLst>
              <a:ext uri="{FF2B5EF4-FFF2-40B4-BE49-F238E27FC236}">
                <a16:creationId xmlns:a16="http://schemas.microsoft.com/office/drawing/2014/main" id="{592E3A21-B464-45C5-BD11-BAC2D5B89C5F}"/>
              </a:ext>
            </a:extLst>
          </p:cNvPr>
          <p:cNvSpPr>
            <a:spLocks noGrp="1"/>
          </p:cNvSpPr>
          <p:nvPr>
            <p:ph type="ftr" sz="quarter" idx="11"/>
          </p:nvPr>
        </p:nvSpPr>
        <p:spPr/>
        <p:txBody>
          <a:bodyPr/>
          <a:lstStyle/>
          <a:p>
            <a:endParaRPr lang="th-TH"/>
          </a:p>
        </p:txBody>
      </p:sp>
      <p:sp>
        <p:nvSpPr>
          <p:cNvPr id="9" name="Slide Number Placeholder 8">
            <a:extLst>
              <a:ext uri="{FF2B5EF4-FFF2-40B4-BE49-F238E27FC236}">
                <a16:creationId xmlns:a16="http://schemas.microsoft.com/office/drawing/2014/main" id="{273197E2-5EDC-44B6-A35C-5371ABAB197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97017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FEAA-EC8D-4B86-ACB8-C11C6832B04B}"/>
              </a:ext>
            </a:extLst>
          </p:cNvPr>
          <p:cNvSpPr>
            <a:spLocks noGrp="1"/>
          </p:cNvSpPr>
          <p:nvPr>
            <p:ph type="title"/>
          </p:nvPr>
        </p:nvSpPr>
        <p:spPr/>
        <p:txBody>
          <a:bodyPr/>
          <a:lstStyle/>
          <a:p>
            <a:r>
              <a:rPr lang="en-US"/>
              <a:t>Click to edit Master title style</a:t>
            </a:r>
            <a:endParaRPr lang="th-TH"/>
          </a:p>
        </p:txBody>
      </p:sp>
      <p:sp>
        <p:nvSpPr>
          <p:cNvPr id="3" name="Date Placeholder 2">
            <a:extLst>
              <a:ext uri="{FF2B5EF4-FFF2-40B4-BE49-F238E27FC236}">
                <a16:creationId xmlns:a16="http://schemas.microsoft.com/office/drawing/2014/main" id="{ECD022C3-0BEF-4922-9834-2758C1EADD74}"/>
              </a:ext>
            </a:extLst>
          </p:cNvPr>
          <p:cNvSpPr>
            <a:spLocks noGrp="1"/>
          </p:cNvSpPr>
          <p:nvPr>
            <p:ph type="dt" sz="half" idx="10"/>
          </p:nvPr>
        </p:nvSpPr>
        <p:spPr/>
        <p:txBody>
          <a:bodyPr/>
          <a:lstStyle/>
          <a:p>
            <a:fld id="{41DB1237-82F3-41AB-8C61-F8D2C1E0FDCB}" type="datetimeFigureOut">
              <a:rPr lang="th-TH" smtClean="0"/>
              <a:t>16/09/69</a:t>
            </a:fld>
            <a:endParaRPr lang="th-TH"/>
          </a:p>
        </p:txBody>
      </p:sp>
      <p:sp>
        <p:nvSpPr>
          <p:cNvPr id="4" name="Footer Placeholder 3">
            <a:extLst>
              <a:ext uri="{FF2B5EF4-FFF2-40B4-BE49-F238E27FC236}">
                <a16:creationId xmlns:a16="http://schemas.microsoft.com/office/drawing/2014/main" id="{501210C7-7A59-452F-AF27-0232945F21EB}"/>
              </a:ext>
            </a:extLst>
          </p:cNvPr>
          <p:cNvSpPr>
            <a:spLocks noGrp="1"/>
          </p:cNvSpPr>
          <p:nvPr>
            <p:ph type="ftr" sz="quarter" idx="11"/>
          </p:nvPr>
        </p:nvSpPr>
        <p:spPr/>
        <p:txBody>
          <a:bodyPr/>
          <a:lstStyle/>
          <a:p>
            <a:endParaRPr lang="th-TH"/>
          </a:p>
        </p:txBody>
      </p:sp>
      <p:sp>
        <p:nvSpPr>
          <p:cNvPr id="5" name="Slide Number Placeholder 4">
            <a:extLst>
              <a:ext uri="{FF2B5EF4-FFF2-40B4-BE49-F238E27FC236}">
                <a16:creationId xmlns:a16="http://schemas.microsoft.com/office/drawing/2014/main" id="{1AF5589B-95E7-4B1F-AE5F-FDF1CB0B87C3}"/>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069516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EEBC4-7CC5-4602-A977-7A087F09AB38}"/>
              </a:ext>
            </a:extLst>
          </p:cNvPr>
          <p:cNvSpPr>
            <a:spLocks noGrp="1"/>
          </p:cNvSpPr>
          <p:nvPr>
            <p:ph type="dt" sz="half" idx="10"/>
          </p:nvPr>
        </p:nvSpPr>
        <p:spPr/>
        <p:txBody>
          <a:bodyPr/>
          <a:lstStyle/>
          <a:p>
            <a:fld id="{41DB1237-82F3-41AB-8C61-F8D2C1E0FDCB}" type="datetimeFigureOut">
              <a:rPr lang="th-TH" smtClean="0"/>
              <a:t>16/09/69</a:t>
            </a:fld>
            <a:endParaRPr lang="th-TH"/>
          </a:p>
        </p:txBody>
      </p:sp>
      <p:sp>
        <p:nvSpPr>
          <p:cNvPr id="3" name="Footer Placeholder 2">
            <a:extLst>
              <a:ext uri="{FF2B5EF4-FFF2-40B4-BE49-F238E27FC236}">
                <a16:creationId xmlns:a16="http://schemas.microsoft.com/office/drawing/2014/main" id="{B41582B0-F68A-4C28-9904-DC6FDB6BF3A3}"/>
              </a:ext>
            </a:extLst>
          </p:cNvPr>
          <p:cNvSpPr>
            <a:spLocks noGrp="1"/>
          </p:cNvSpPr>
          <p:nvPr>
            <p:ph type="ftr" sz="quarter" idx="11"/>
          </p:nvPr>
        </p:nvSpPr>
        <p:spPr/>
        <p:txBody>
          <a:bodyPr/>
          <a:lstStyle/>
          <a:p>
            <a:endParaRPr lang="th-TH"/>
          </a:p>
        </p:txBody>
      </p:sp>
      <p:sp>
        <p:nvSpPr>
          <p:cNvPr id="4" name="Slide Number Placeholder 3">
            <a:extLst>
              <a:ext uri="{FF2B5EF4-FFF2-40B4-BE49-F238E27FC236}">
                <a16:creationId xmlns:a16="http://schemas.microsoft.com/office/drawing/2014/main" id="{D651C69F-57F6-428D-8ED8-8CDC792690E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85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7CC40-5AE9-4803-81CC-FACD1BABCC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Content Placeholder 2">
            <a:extLst>
              <a:ext uri="{FF2B5EF4-FFF2-40B4-BE49-F238E27FC236}">
                <a16:creationId xmlns:a16="http://schemas.microsoft.com/office/drawing/2014/main" id="{3DB824A6-6F48-43EE-B4E5-BD8BB335A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a:extLst>
              <a:ext uri="{FF2B5EF4-FFF2-40B4-BE49-F238E27FC236}">
                <a16:creationId xmlns:a16="http://schemas.microsoft.com/office/drawing/2014/main" id="{A6EA45F2-2D35-450B-8D97-7A84AD8A1A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872ECC-F35F-4CE1-8B9D-54CF4F2523FA}"/>
              </a:ext>
            </a:extLst>
          </p:cNvPr>
          <p:cNvSpPr>
            <a:spLocks noGrp="1"/>
          </p:cNvSpPr>
          <p:nvPr>
            <p:ph type="dt" sz="half" idx="10"/>
          </p:nvPr>
        </p:nvSpPr>
        <p:spPr/>
        <p:txBody>
          <a:bodyPr/>
          <a:lstStyle/>
          <a:p>
            <a:fld id="{41DB1237-82F3-41AB-8C61-F8D2C1E0FDCB}" type="datetimeFigureOut">
              <a:rPr lang="th-TH" smtClean="0"/>
              <a:t>16/09/69</a:t>
            </a:fld>
            <a:endParaRPr lang="th-TH"/>
          </a:p>
        </p:txBody>
      </p:sp>
      <p:sp>
        <p:nvSpPr>
          <p:cNvPr id="6" name="Footer Placeholder 5">
            <a:extLst>
              <a:ext uri="{FF2B5EF4-FFF2-40B4-BE49-F238E27FC236}">
                <a16:creationId xmlns:a16="http://schemas.microsoft.com/office/drawing/2014/main" id="{AA00ABAD-9ED5-41F9-8D41-B8C0FB223B47}"/>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D2BC9AB-B71C-4A34-9AEC-2AF20C5488D7}"/>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636138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21D9-1C97-446C-A181-0F7637EC6F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Picture Placeholder 2">
            <a:extLst>
              <a:ext uri="{FF2B5EF4-FFF2-40B4-BE49-F238E27FC236}">
                <a16:creationId xmlns:a16="http://schemas.microsoft.com/office/drawing/2014/main" id="{0A0E48F9-C6FB-4865-A21E-BE150C9320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Text Placeholder 3">
            <a:extLst>
              <a:ext uri="{FF2B5EF4-FFF2-40B4-BE49-F238E27FC236}">
                <a16:creationId xmlns:a16="http://schemas.microsoft.com/office/drawing/2014/main" id="{4ECA61A1-8C74-4B8B-841C-58FEBDBB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5FE4D-FC97-406A-9621-01BC1BCB24B5}"/>
              </a:ext>
            </a:extLst>
          </p:cNvPr>
          <p:cNvSpPr>
            <a:spLocks noGrp="1"/>
          </p:cNvSpPr>
          <p:nvPr>
            <p:ph type="dt" sz="half" idx="10"/>
          </p:nvPr>
        </p:nvSpPr>
        <p:spPr/>
        <p:txBody>
          <a:bodyPr/>
          <a:lstStyle/>
          <a:p>
            <a:fld id="{41DB1237-82F3-41AB-8C61-F8D2C1E0FDCB}" type="datetimeFigureOut">
              <a:rPr lang="th-TH" smtClean="0"/>
              <a:t>16/09/69</a:t>
            </a:fld>
            <a:endParaRPr lang="th-TH"/>
          </a:p>
        </p:txBody>
      </p:sp>
      <p:sp>
        <p:nvSpPr>
          <p:cNvPr id="6" name="Footer Placeholder 5">
            <a:extLst>
              <a:ext uri="{FF2B5EF4-FFF2-40B4-BE49-F238E27FC236}">
                <a16:creationId xmlns:a16="http://schemas.microsoft.com/office/drawing/2014/main" id="{AFDD33F6-EB11-4210-9D4E-F08A8FEFC0B4}"/>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CCB47D7-7733-435D-A359-D2A15363187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66036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FA34-B39F-47BF-B2B0-D3DF5AB11313}"/>
              </a:ext>
            </a:extLst>
          </p:cNvPr>
          <p:cNvSpPr>
            <a:spLocks noGrp="1"/>
          </p:cNvSpPr>
          <p:nvPr>
            <p:ph type="title"/>
          </p:nvPr>
        </p:nvSpPr>
        <p:spPr/>
        <p:txBody>
          <a:bodyPr/>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C0EB2020-BB21-4CC6-A33C-2A0F8CE9D0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08570-F244-49A4-A301-6266F486BE67}"/>
              </a:ext>
            </a:extLst>
          </p:cNvPr>
          <p:cNvSpPr>
            <a:spLocks noGrp="1"/>
          </p:cNvSpPr>
          <p:nvPr>
            <p:ph type="dt" sz="half" idx="10"/>
          </p:nvPr>
        </p:nvSpPr>
        <p:spPr/>
        <p:txBody>
          <a:bodyPr/>
          <a:lstStyle/>
          <a:p>
            <a:fld id="{41DB1237-82F3-41AB-8C61-F8D2C1E0FDCB}" type="datetimeFigureOut">
              <a:rPr lang="th-TH" smtClean="0"/>
              <a:t>16/09/69</a:t>
            </a:fld>
            <a:endParaRPr lang="th-TH"/>
          </a:p>
        </p:txBody>
      </p:sp>
      <p:sp>
        <p:nvSpPr>
          <p:cNvPr id="5" name="Footer Placeholder 4">
            <a:extLst>
              <a:ext uri="{FF2B5EF4-FFF2-40B4-BE49-F238E27FC236}">
                <a16:creationId xmlns:a16="http://schemas.microsoft.com/office/drawing/2014/main" id="{ADAD847F-7F84-46ED-9F96-C4D1D506463D}"/>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958D4326-B282-4EF1-8C8C-F8ED40AF1F88}"/>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10213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8AEEC-EE8D-442E-BA35-3F32CF6811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040D9031-A15E-4A14-8D32-E436BEDC8C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DBA8D-0A99-4282-BC51-91B64DB229BD}"/>
              </a:ext>
            </a:extLst>
          </p:cNvPr>
          <p:cNvSpPr>
            <a:spLocks noGrp="1"/>
          </p:cNvSpPr>
          <p:nvPr>
            <p:ph type="dt" sz="half" idx="10"/>
          </p:nvPr>
        </p:nvSpPr>
        <p:spPr/>
        <p:txBody>
          <a:bodyPr/>
          <a:lstStyle/>
          <a:p>
            <a:fld id="{41DB1237-82F3-41AB-8C61-F8D2C1E0FDCB}" type="datetimeFigureOut">
              <a:rPr lang="th-TH" smtClean="0"/>
              <a:t>16/09/69</a:t>
            </a:fld>
            <a:endParaRPr lang="th-TH"/>
          </a:p>
        </p:txBody>
      </p:sp>
      <p:sp>
        <p:nvSpPr>
          <p:cNvPr id="5" name="Footer Placeholder 4">
            <a:extLst>
              <a:ext uri="{FF2B5EF4-FFF2-40B4-BE49-F238E27FC236}">
                <a16:creationId xmlns:a16="http://schemas.microsoft.com/office/drawing/2014/main" id="{EF46A43C-789C-4658-84D1-958E13EAB6AC}"/>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B1D5667C-798D-4930-BF1F-B248F5D0C24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598510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B63944-606C-4649-9C9F-199983D0C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h-TH"/>
          </a:p>
        </p:txBody>
      </p:sp>
      <p:sp>
        <p:nvSpPr>
          <p:cNvPr id="3" name="Text Placeholder 2">
            <a:extLst>
              <a:ext uri="{FF2B5EF4-FFF2-40B4-BE49-F238E27FC236}">
                <a16:creationId xmlns:a16="http://schemas.microsoft.com/office/drawing/2014/main" id="{622CEC6E-3A78-4539-9E6E-FA74C019CD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32ED7ED7-F0F1-4DAB-B4F8-561F940735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DB1237-82F3-41AB-8C61-F8D2C1E0FDCB}" type="datetimeFigureOut">
              <a:rPr lang="th-TH" smtClean="0"/>
              <a:t>16/09/69</a:t>
            </a:fld>
            <a:endParaRPr lang="th-TH"/>
          </a:p>
        </p:txBody>
      </p:sp>
      <p:sp>
        <p:nvSpPr>
          <p:cNvPr id="5" name="Footer Placeholder 4">
            <a:extLst>
              <a:ext uri="{FF2B5EF4-FFF2-40B4-BE49-F238E27FC236}">
                <a16:creationId xmlns:a16="http://schemas.microsoft.com/office/drawing/2014/main" id="{D30229C8-B108-462D-8E37-73D87D6A26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h-TH"/>
          </a:p>
        </p:txBody>
      </p:sp>
      <p:sp>
        <p:nvSpPr>
          <p:cNvPr id="6" name="Slide Number Placeholder 5">
            <a:extLst>
              <a:ext uri="{FF2B5EF4-FFF2-40B4-BE49-F238E27FC236}">
                <a16:creationId xmlns:a16="http://schemas.microsoft.com/office/drawing/2014/main" id="{36B7440F-0966-4EB5-8F81-01E9EE7B0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BD73F4-EAC8-4467-9D3A-5C33D6B539A6}" type="slidenum">
              <a:rPr lang="th-TH" smtClean="0"/>
              <a:t>‹#›</a:t>
            </a:fld>
            <a:endParaRPr lang="th-TH"/>
          </a:p>
        </p:txBody>
      </p:sp>
    </p:spTree>
    <p:extLst>
      <p:ext uri="{BB962C8B-B14F-4D97-AF65-F5344CB8AC3E}">
        <p14:creationId xmlns:p14="http://schemas.microsoft.com/office/powerpoint/2010/main" val="826633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atlassian.com/software/jira?utm_source=chatgpt.com" TargetMode="External"/><Relationship Id="rId2" Type="http://schemas.openxmlformats.org/officeDocument/2006/relationships/hyperlink" Target="https://slack.com/?utm_source=chatgpt.com" TargetMode="External"/><Relationship Id="rId1" Type="http://schemas.openxmlformats.org/officeDocument/2006/relationships/slideLayout" Target="../slideLayouts/slideLayout7.xml"/><Relationship Id="rId5" Type="http://schemas.openxmlformats.org/officeDocument/2006/relationships/hyperlink" Target="https://www.zoom.com/?utm_source=chatgpt.com" TargetMode="External"/><Relationship Id="rId4" Type="http://schemas.openxmlformats.org/officeDocument/2006/relationships/hyperlink" Target="https://github.com/?utm_source=chatgpt.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hyperlink" Target="https://www.atlassian.com/software/jira?utm_source=chatgpt.com" TargetMode="External"/><Relationship Id="rId2" Type="http://schemas.openxmlformats.org/officeDocument/2006/relationships/hyperlink" Target="https://www.microsoft.com/en-us/microsoft-teams/group-chat-software?utm_source=chatgpt.com" TargetMode="External"/><Relationship Id="rId1" Type="http://schemas.openxmlformats.org/officeDocument/2006/relationships/slideLayout" Target="../slideLayouts/slideLayout7.xml"/><Relationship Id="rId4" Type="http://schemas.openxmlformats.org/officeDocument/2006/relationships/hyperlink" Target="https://github.com/?utm_source=chatgpt.co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FDF3-D6FD-4A66-8420-92342B1D8C69}"/>
              </a:ext>
            </a:extLst>
          </p:cNvPr>
          <p:cNvSpPr>
            <a:spLocks noGrp="1"/>
          </p:cNvSpPr>
          <p:nvPr>
            <p:ph type="ctrTitle"/>
          </p:nvPr>
        </p:nvSpPr>
        <p:spPr>
          <a:xfrm>
            <a:off x="1428307" y="728662"/>
            <a:ext cx="9144000" cy="4635463"/>
          </a:xfrm>
        </p:spPr>
        <p:txBody>
          <a:bodyPr>
            <a:noAutofit/>
          </a:bodyPr>
          <a:lstStyle/>
          <a:p>
            <a:r>
              <a:rPr lang="en-US" sz="8000" b="1" dirty="0">
                <a:effectLst/>
                <a:latin typeface="Times New Roman" panose="02020603050405020304" pitchFamily="18" charset="0"/>
                <a:ea typeface="Angsana New" panose="02020603050405020304" pitchFamily="18" charset="-34"/>
                <a:cs typeface="Times New Roman" panose="02020603050405020304" pitchFamily="18" charset="0"/>
              </a:rPr>
              <a:t>Chapter 10 </a:t>
            </a:r>
            <a:r>
              <a:rPr lang="th-TH" sz="8000" b="1" dirty="0">
                <a:effectLst/>
                <a:latin typeface="Times New Roman" panose="02020603050405020304" pitchFamily="18" charset="0"/>
                <a:ea typeface="Calibri" panose="020F0502020204030204" pitchFamily="34" charset="0"/>
                <a:cs typeface="TH SarabunPSK" panose="020B0500040200020003" pitchFamily="34" charset="-34"/>
              </a:rPr>
              <a:t>Technology Digital </a:t>
            </a:r>
            <a:r>
              <a:rPr lang="en-US" sz="8000" b="1" dirty="0">
                <a:solidFill>
                  <a:srgbClr val="FF0000"/>
                </a:solidFill>
                <a:highlight>
                  <a:srgbClr val="FFFF00"/>
                </a:highlight>
                <a:latin typeface="Times New Roman" panose="02020603050405020304" pitchFamily="18" charset="0"/>
                <a:ea typeface="Calibri" panose="020F0502020204030204" pitchFamily="34" charset="0"/>
                <a:cs typeface="TH SarabunPSK" panose="020B0500040200020003" pitchFamily="34" charset="-34"/>
              </a:rPr>
              <a:t>A</a:t>
            </a:r>
            <a:r>
              <a:rPr lang="en-US" sz="8000" b="1" dirty="0">
                <a:solidFill>
                  <a:srgbClr val="FF0000"/>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gile</a:t>
            </a:r>
            <a:r>
              <a:rPr lang="en-US" sz="8000"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 </a:t>
            </a:r>
            <a:r>
              <a:rPr lang="en-US" sz="8000" b="1" dirty="0">
                <a:highlight>
                  <a:srgbClr val="FFFF00"/>
                </a:highlight>
                <a:latin typeface="Times New Roman" panose="02020603050405020304" pitchFamily="18" charset="0"/>
                <a:ea typeface="Calibri" panose="020F0502020204030204" pitchFamily="34" charset="0"/>
                <a:cs typeface="Times New Roman" panose="02020603050405020304" pitchFamily="18" charset="0"/>
              </a:rPr>
              <a:t>P</a:t>
            </a:r>
            <a:r>
              <a:rPr lang="en-US" sz="8000"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roject </a:t>
            </a:r>
            <a:r>
              <a:rPr lang="en-US" sz="8000" b="1" dirty="0">
                <a:latin typeface="Times New Roman" panose="02020603050405020304" pitchFamily="18" charset="0"/>
                <a:ea typeface="Calibri" panose="020F0502020204030204" pitchFamily="34" charset="0"/>
                <a:cs typeface="Times New Roman" panose="02020603050405020304" pitchFamily="18" charset="0"/>
              </a:rPr>
              <a:t>M</a:t>
            </a:r>
            <a:r>
              <a:rPr lang="en-US" sz="8000" b="1" dirty="0">
                <a:effectLst/>
                <a:latin typeface="Times New Roman" panose="02020603050405020304" pitchFamily="18" charset="0"/>
                <a:ea typeface="Calibri" panose="020F0502020204030204" pitchFamily="34" charset="0"/>
                <a:cs typeface="Times New Roman" panose="02020603050405020304" pitchFamily="18" charset="0"/>
              </a:rPr>
              <a:t>anagement </a:t>
            </a:r>
            <a:r>
              <a:rPr lang="en-US" sz="8000" b="1" dirty="0">
                <a:effectLst/>
                <a:latin typeface="TH SarabunPSK" panose="020B0500040200020003" pitchFamily="34" charset="-34"/>
                <a:ea typeface="Calibri" panose="020F0502020204030204" pitchFamily="34" charset="0"/>
              </a:rPr>
              <a:t>	</a:t>
            </a:r>
            <a:endParaRPr lang="th-TH" sz="8000" b="1" dirty="0"/>
          </a:p>
        </p:txBody>
      </p:sp>
      <p:sp>
        <p:nvSpPr>
          <p:cNvPr id="3" name="Subtitle 2">
            <a:extLst>
              <a:ext uri="{FF2B5EF4-FFF2-40B4-BE49-F238E27FC236}">
                <a16:creationId xmlns:a16="http://schemas.microsoft.com/office/drawing/2014/main" id="{75A61AFC-F987-4AC9-8968-1FD93A1E1DC0}"/>
              </a:ext>
            </a:extLst>
          </p:cNvPr>
          <p:cNvSpPr>
            <a:spLocks noGrp="1"/>
          </p:cNvSpPr>
          <p:nvPr>
            <p:ph type="subTitle" idx="1"/>
          </p:nvPr>
        </p:nvSpPr>
        <p:spPr>
          <a:xfrm>
            <a:off x="1524000" y="5677786"/>
            <a:ext cx="9144000" cy="451552"/>
          </a:xfrm>
        </p:spPr>
        <p:txBody>
          <a:bodyPr/>
          <a:lstStyle/>
          <a:p>
            <a:r>
              <a:rPr lang="en-US" dirty="0"/>
              <a:t>Assoc. Prof. Dr. </a:t>
            </a:r>
            <a:r>
              <a:rPr lang="en-US" dirty="0" err="1"/>
              <a:t>Thacha</a:t>
            </a:r>
            <a:r>
              <a:rPr lang="en-US" dirty="0"/>
              <a:t> Lawanna</a:t>
            </a:r>
            <a:endParaRPr lang="th-TH" dirty="0"/>
          </a:p>
        </p:txBody>
      </p:sp>
      <p:sp>
        <p:nvSpPr>
          <p:cNvPr id="4" name="TextBox 3">
            <a:extLst>
              <a:ext uri="{FF2B5EF4-FFF2-40B4-BE49-F238E27FC236}">
                <a16:creationId xmlns:a16="http://schemas.microsoft.com/office/drawing/2014/main" id="{C76B856B-58AF-587B-BA3D-DDDD8E18A46C}"/>
              </a:ext>
            </a:extLst>
          </p:cNvPr>
          <p:cNvSpPr txBox="1"/>
          <p:nvPr/>
        </p:nvSpPr>
        <p:spPr>
          <a:xfrm>
            <a:off x="374073" y="3685309"/>
            <a:ext cx="1290097" cy="1384995"/>
          </a:xfrm>
          <a:prstGeom prst="rect">
            <a:avLst/>
          </a:prstGeom>
          <a:noFill/>
        </p:spPr>
        <p:txBody>
          <a:bodyPr wrap="none" rtlCol="0">
            <a:spAutoFit/>
          </a:bodyPr>
          <a:lstStyle/>
          <a:p>
            <a:r>
              <a:rPr lang="en-US" dirty="0"/>
              <a:t>Fast</a:t>
            </a:r>
          </a:p>
          <a:p>
            <a:r>
              <a:rPr lang="en-US" dirty="0"/>
              <a:t>Flexible</a:t>
            </a:r>
          </a:p>
          <a:p>
            <a:r>
              <a:rPr lang="en-US" dirty="0"/>
              <a:t>Team</a:t>
            </a:r>
            <a:endParaRPr lang="th-TH" dirty="0"/>
          </a:p>
        </p:txBody>
      </p:sp>
    </p:spTree>
    <p:extLst>
      <p:ext uri="{BB962C8B-B14F-4D97-AF65-F5344CB8AC3E}">
        <p14:creationId xmlns:p14="http://schemas.microsoft.com/office/powerpoint/2010/main" val="2937291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617934" y="429429"/>
            <a:ext cx="11154965" cy="2246769"/>
          </a:xfrm>
          <a:prstGeom prst="rect">
            <a:avLst/>
          </a:prstGeom>
          <a:solidFill>
            <a:schemeClr val="bg1">
              <a:lumMod val="95000"/>
            </a:schemeClr>
          </a:solidFill>
        </p:spPr>
        <p:txBody>
          <a:bodyPr wrap="square">
            <a:spAutoFit/>
          </a:bodyPr>
          <a:lstStyle/>
          <a:p>
            <a:pPr algn="just"/>
            <a:r>
              <a:rPr lang="en-US" b="1" dirty="0"/>
              <a:t>Objective of the Study:</a:t>
            </a:r>
          </a:p>
          <a:p>
            <a:r>
              <a:rPr lang="en-US" dirty="0"/>
              <a:t>To examine how technology-enhanced agile methodologies—such as AI-assisted planning, real-time data analytics, and automation tools—improve project efficiency, adaptability, and decision-making in digital innovation environments.</a:t>
            </a:r>
          </a:p>
        </p:txBody>
      </p:sp>
    </p:spTree>
    <p:extLst>
      <p:ext uri="{BB962C8B-B14F-4D97-AF65-F5344CB8AC3E}">
        <p14:creationId xmlns:p14="http://schemas.microsoft.com/office/powerpoint/2010/main" val="17310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6C71140-58FD-4F9E-AC73-BDC37919DABA}"/>
              </a:ext>
            </a:extLst>
          </p:cNvPr>
          <p:cNvSpPr txBox="1"/>
          <p:nvPr/>
        </p:nvSpPr>
        <p:spPr>
          <a:xfrm>
            <a:off x="564441" y="475742"/>
            <a:ext cx="6093618" cy="5693866"/>
          </a:xfrm>
          <a:prstGeom prst="rect">
            <a:avLst/>
          </a:prstGeom>
          <a:noFill/>
        </p:spPr>
        <p:txBody>
          <a:bodyPr wrap="square">
            <a:spAutoFit/>
          </a:bodyPr>
          <a:lstStyle/>
          <a:p>
            <a:r>
              <a:rPr lang="en-US" b="1" dirty="0"/>
              <a:t>1. </a:t>
            </a:r>
            <a:r>
              <a:rPr lang="en-US" b="1" dirty="0">
                <a:solidFill>
                  <a:srgbClr val="FF0000"/>
                </a:solidFill>
              </a:rPr>
              <a:t>Agile Principles </a:t>
            </a:r>
            <a:r>
              <a:rPr lang="en-US" b="1" dirty="0"/>
              <a:t>in Digital Environments</a:t>
            </a:r>
          </a:p>
          <a:p>
            <a:r>
              <a:rPr lang="en-US" dirty="0"/>
              <a:t>Agile principles emphasize </a:t>
            </a:r>
            <a:r>
              <a:rPr lang="en-US" u="sng" dirty="0">
                <a:solidFill>
                  <a:srgbClr val="FF0000"/>
                </a:solidFill>
              </a:rPr>
              <a:t>c</a:t>
            </a:r>
            <a:r>
              <a:rPr lang="en-US" u="sng" dirty="0"/>
              <a:t>ollaboration, </a:t>
            </a:r>
            <a:r>
              <a:rPr lang="en-US" u="sng" dirty="0">
                <a:solidFill>
                  <a:srgbClr val="FF0000"/>
                </a:solidFill>
              </a:rPr>
              <a:t>iterative development</a:t>
            </a:r>
            <a:r>
              <a:rPr lang="en-US" u="sng" dirty="0"/>
              <a:t>, and responsiveness to change</a:t>
            </a:r>
            <a:r>
              <a:rPr lang="en-US" dirty="0"/>
              <a:t>. In digital environments, these principles support rapid adaptation to </a:t>
            </a:r>
            <a:r>
              <a:rPr lang="en-US" u="sng" dirty="0"/>
              <a:t>technological shifts</a:t>
            </a:r>
            <a:r>
              <a:rPr lang="en-US" dirty="0"/>
              <a:t>, continuous software updates, and user-centered improvements. </a:t>
            </a:r>
            <a:r>
              <a:rPr lang="en-US" u="sng" dirty="0"/>
              <a:t>Teams can quickly test</a:t>
            </a:r>
            <a:r>
              <a:rPr lang="en-US" dirty="0"/>
              <a:t>, refine, and deploy features, ensuring high project relevance and alignment with evolving digital innovation goals.</a:t>
            </a:r>
          </a:p>
        </p:txBody>
      </p:sp>
      <p:sp>
        <p:nvSpPr>
          <p:cNvPr id="4" name="TextBox 3">
            <a:extLst>
              <a:ext uri="{FF2B5EF4-FFF2-40B4-BE49-F238E27FC236}">
                <a16:creationId xmlns:a16="http://schemas.microsoft.com/office/drawing/2014/main" id="{5DB8B083-89D8-4AC4-92C3-C45725C211B4}"/>
              </a:ext>
            </a:extLst>
          </p:cNvPr>
          <p:cNvSpPr txBox="1"/>
          <p:nvPr/>
        </p:nvSpPr>
        <p:spPr>
          <a:xfrm>
            <a:off x="7910512" y="362516"/>
            <a:ext cx="4033838" cy="2246769"/>
          </a:xfrm>
          <a:prstGeom prst="rect">
            <a:avLst/>
          </a:prstGeom>
          <a:noFill/>
        </p:spPr>
        <p:txBody>
          <a:bodyPr wrap="square">
            <a:spAutoFit/>
          </a:bodyPr>
          <a:lstStyle/>
          <a:p>
            <a:r>
              <a:rPr lang="en-US" sz="2000" dirty="0">
                <a:solidFill>
                  <a:srgbClr val="C00000"/>
                </a:solidFill>
              </a:rPr>
              <a:t>Agile principles in digital environments mean </a:t>
            </a:r>
            <a:r>
              <a:rPr lang="en-US" sz="2000" u="sng" dirty="0">
                <a:solidFill>
                  <a:srgbClr val="C00000"/>
                </a:solidFill>
                <a:highlight>
                  <a:srgbClr val="00FF00"/>
                </a:highlight>
              </a:rPr>
              <a:t>developing digital products </a:t>
            </a:r>
            <a:r>
              <a:rPr lang="en-US" sz="2000" u="sng" dirty="0">
                <a:solidFill>
                  <a:srgbClr val="C00000"/>
                </a:solidFill>
              </a:rPr>
              <a:t>through small, flexible, and continuous improvements based on user feedback and changing requirements.</a:t>
            </a:r>
            <a:endParaRPr lang="th-TH" sz="2000" u="sng" dirty="0">
              <a:solidFill>
                <a:srgbClr val="C00000"/>
              </a:solidFill>
            </a:endParaRPr>
          </a:p>
        </p:txBody>
      </p:sp>
    </p:spTree>
    <p:extLst>
      <p:ext uri="{BB962C8B-B14F-4D97-AF65-F5344CB8AC3E}">
        <p14:creationId xmlns:p14="http://schemas.microsoft.com/office/powerpoint/2010/main" val="3712602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anifesto for Agile Software Development - GeeksforGeeks">
            <a:extLst>
              <a:ext uri="{FF2B5EF4-FFF2-40B4-BE49-F238E27FC236}">
                <a16:creationId xmlns:a16="http://schemas.microsoft.com/office/drawing/2014/main" id="{9282BBB9-00DB-4BC6-878A-BC32BFED50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547688"/>
            <a:ext cx="9525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383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The Complete Agile Sprint Lifecycle Guide: Phases, Roles, and Best ...">
            <a:extLst>
              <a:ext uri="{FF2B5EF4-FFF2-40B4-BE49-F238E27FC236}">
                <a16:creationId xmlns:a16="http://schemas.microsoft.com/office/drawing/2014/main" id="{055B265E-47B6-4CBF-B25C-044A63E861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299" y="342900"/>
            <a:ext cx="11202351" cy="6272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4587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gile Performance Testing: A Sprint-by-Sprint Playbook">
            <a:extLst>
              <a:ext uri="{FF2B5EF4-FFF2-40B4-BE49-F238E27FC236}">
                <a16:creationId xmlns:a16="http://schemas.microsoft.com/office/drawing/2014/main" id="{7A41A571-077A-49B8-9456-F274E89077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650" y="385762"/>
            <a:ext cx="3950661" cy="2071688"/>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Why IT Infrastructure Should Use Agile Sprint Cycles (SCRUM) - Agdiwo">
            <a:extLst>
              <a:ext uri="{FF2B5EF4-FFF2-40B4-BE49-F238E27FC236}">
                <a16:creationId xmlns:a16="http://schemas.microsoft.com/office/drawing/2014/main" id="{9DCC0488-5ECA-4600-916A-73898E7AF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307" y="485776"/>
            <a:ext cx="6566980" cy="5014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7495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6" name="Picture 6" descr="What is Agile? A complete methodology guide | Zapier">
            <a:extLst>
              <a:ext uri="{FF2B5EF4-FFF2-40B4-BE49-F238E27FC236}">
                <a16:creationId xmlns:a16="http://schemas.microsoft.com/office/drawing/2014/main" id="{66CAAF84-2D73-49B9-807C-19E487056F8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846" b="8894"/>
          <a:stretch/>
        </p:blipFill>
        <p:spPr bwMode="auto">
          <a:xfrm>
            <a:off x="250086" y="102691"/>
            <a:ext cx="4256476" cy="6652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1889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A46D0F-9CAF-47B3-84A9-D1C3B2BEB969}"/>
              </a:ext>
            </a:extLst>
          </p:cNvPr>
          <p:cNvSpPr txBox="1"/>
          <p:nvPr/>
        </p:nvSpPr>
        <p:spPr>
          <a:xfrm>
            <a:off x="432197" y="316558"/>
            <a:ext cx="11326416" cy="6109365"/>
          </a:xfrm>
          <a:prstGeom prst="rect">
            <a:avLst/>
          </a:prstGeom>
          <a:noFill/>
        </p:spPr>
        <p:txBody>
          <a:bodyPr wrap="square">
            <a:spAutoFit/>
          </a:bodyPr>
          <a:lstStyle/>
          <a:p>
            <a:r>
              <a:rPr lang="en-US" sz="2300" dirty="0"/>
              <a:t>A company is developing a </a:t>
            </a:r>
            <a:r>
              <a:rPr lang="en-US" sz="2300" b="1" dirty="0"/>
              <a:t>mobile shopping application</a:t>
            </a:r>
            <a:r>
              <a:rPr lang="en-US" sz="2300" dirty="0"/>
              <a:t>. Instead of developing every feature before launching, the team releases a basic version first.</a:t>
            </a:r>
          </a:p>
          <a:p>
            <a:r>
              <a:rPr lang="en-US" sz="2300" dirty="0"/>
              <a:t>After the first release, customers report that the </a:t>
            </a:r>
            <a:r>
              <a:rPr lang="en-US" sz="2300" b="1" dirty="0"/>
              <a:t>checkout process is too complicated</a:t>
            </a:r>
            <a:r>
              <a:rPr lang="en-US" sz="2300" dirty="0"/>
              <a:t>. The Agile team collects this feedback, discusses the problem, and improves the checkout process during the next short development cycle, or </a:t>
            </a:r>
            <a:r>
              <a:rPr lang="en-US" sz="2300" b="1" dirty="0"/>
              <a:t>sprint</a:t>
            </a:r>
            <a:r>
              <a:rPr lang="en-US" sz="2300" dirty="0"/>
              <a:t>. The updated version is then released and tested again.</a:t>
            </a:r>
          </a:p>
          <a:p>
            <a:r>
              <a:rPr lang="en-US" sz="2300" dirty="0"/>
              <a:t>This demonstrates key Agile principles such as:</a:t>
            </a:r>
          </a:p>
          <a:p>
            <a:pPr>
              <a:buFont typeface="Arial" panose="020B0604020202020204" pitchFamily="34" charset="0"/>
              <a:buChar char="•"/>
            </a:pPr>
            <a:r>
              <a:rPr lang="en-US" sz="2300" b="1" dirty="0"/>
              <a:t>Customer collaboration</a:t>
            </a:r>
            <a:r>
              <a:rPr lang="en-US" sz="2300" dirty="0"/>
              <a:t> — listening to users and understanding their needs. </a:t>
            </a:r>
          </a:p>
          <a:p>
            <a:pPr>
              <a:buFont typeface="Arial" panose="020B0604020202020204" pitchFamily="34" charset="0"/>
              <a:buChar char="•"/>
            </a:pPr>
            <a:r>
              <a:rPr lang="en-US" sz="2300" b="1" dirty="0"/>
              <a:t>Iterative development</a:t>
            </a:r>
            <a:r>
              <a:rPr lang="en-US" sz="2300" dirty="0"/>
              <a:t> — improving the application through repeated development cycles. </a:t>
            </a:r>
          </a:p>
          <a:p>
            <a:pPr>
              <a:buFont typeface="Arial" panose="020B0604020202020204" pitchFamily="34" charset="0"/>
              <a:buChar char="•"/>
            </a:pPr>
            <a:r>
              <a:rPr lang="en-US" sz="2300" b="1" dirty="0"/>
              <a:t>Responding to change</a:t>
            </a:r>
            <a:r>
              <a:rPr lang="en-US" sz="2300" dirty="0"/>
              <a:t> — adjusting features when requirements change. </a:t>
            </a:r>
          </a:p>
          <a:p>
            <a:pPr>
              <a:buFont typeface="Arial" panose="020B0604020202020204" pitchFamily="34" charset="0"/>
              <a:buChar char="•"/>
            </a:pPr>
            <a:r>
              <a:rPr lang="en-US" sz="2300" b="1" dirty="0"/>
              <a:t>Frequent delivery</a:t>
            </a:r>
            <a:r>
              <a:rPr lang="en-US" sz="2300" dirty="0"/>
              <a:t> — releasing useful improvements regularly. </a:t>
            </a:r>
          </a:p>
          <a:p>
            <a:pPr>
              <a:buFont typeface="Arial" panose="020B0604020202020204" pitchFamily="34" charset="0"/>
              <a:buChar char="•"/>
            </a:pPr>
            <a:r>
              <a:rPr lang="en-US" sz="2300" b="1" dirty="0"/>
              <a:t>Team collaboration</a:t>
            </a:r>
            <a:r>
              <a:rPr lang="en-US" sz="2300" dirty="0"/>
              <a:t> — designers, developers, testers, and business teams working together. </a:t>
            </a:r>
          </a:p>
          <a:p>
            <a:endParaRPr lang="en-US" sz="2300" b="1" dirty="0"/>
          </a:p>
          <a:p>
            <a:r>
              <a:rPr lang="en-US" sz="2300" b="1" dirty="0"/>
              <a:t>In simple terms:</a:t>
            </a:r>
            <a:r>
              <a:rPr lang="en-US" sz="2300" dirty="0"/>
              <a:t> Agile means </a:t>
            </a:r>
            <a:r>
              <a:rPr lang="en-US" sz="2300" b="1" dirty="0"/>
              <a:t>develop a little → test → get feedback → improve → repeat.</a:t>
            </a:r>
            <a:endParaRPr lang="en-US" sz="2300" dirty="0"/>
          </a:p>
          <a:p>
            <a:endParaRPr lang="en-US" sz="2300" b="1" dirty="0"/>
          </a:p>
          <a:p>
            <a:r>
              <a:rPr lang="en-US" sz="2300" b="1" dirty="0"/>
              <a:t>Process:</a:t>
            </a:r>
            <a:br>
              <a:rPr lang="en-US" sz="2300" dirty="0"/>
            </a:br>
            <a:r>
              <a:rPr lang="en-US" sz="2300" b="1" dirty="0"/>
              <a:t>Plan → Develop → Test → Release → Collect Feedback → Improve → Repeat</a:t>
            </a:r>
            <a:endParaRPr lang="en-US" sz="2300" dirty="0"/>
          </a:p>
        </p:txBody>
      </p:sp>
    </p:spTree>
    <p:extLst>
      <p:ext uri="{BB962C8B-B14F-4D97-AF65-F5344CB8AC3E}">
        <p14:creationId xmlns:p14="http://schemas.microsoft.com/office/powerpoint/2010/main" val="982537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EC9D55-3AA8-404D-8813-64E5BA290207}"/>
              </a:ext>
            </a:extLst>
          </p:cNvPr>
          <p:cNvSpPr txBox="1"/>
          <p:nvPr/>
        </p:nvSpPr>
        <p:spPr>
          <a:xfrm>
            <a:off x="561172" y="424642"/>
            <a:ext cx="6093618" cy="5262979"/>
          </a:xfrm>
          <a:prstGeom prst="rect">
            <a:avLst/>
          </a:prstGeom>
          <a:noFill/>
        </p:spPr>
        <p:txBody>
          <a:bodyPr wrap="square">
            <a:spAutoFit/>
          </a:bodyPr>
          <a:lstStyle/>
          <a:p>
            <a:r>
              <a:rPr lang="en-US" b="1" dirty="0"/>
              <a:t>2. Role of Automation in Agile Workflows</a:t>
            </a:r>
          </a:p>
          <a:p>
            <a:r>
              <a:rPr lang="en-US" dirty="0"/>
              <a:t>Automation accelerates routine tasks such as </a:t>
            </a:r>
            <a:r>
              <a:rPr lang="en-US" u="sng" dirty="0"/>
              <a:t>testing, integration, deployment, and monitoring</a:t>
            </a:r>
            <a:r>
              <a:rPr lang="en-US" dirty="0"/>
              <a:t>. It reduces human errors and ensures consistent output during each development cycle. By automating repetitive work, agile teams focus on strategic decision-making and creative problem-solving, significantly improving project speed, reliability, and time-to-market.</a:t>
            </a:r>
          </a:p>
        </p:txBody>
      </p:sp>
      <p:sp>
        <p:nvSpPr>
          <p:cNvPr id="4" name="TextBox 3">
            <a:extLst>
              <a:ext uri="{FF2B5EF4-FFF2-40B4-BE49-F238E27FC236}">
                <a16:creationId xmlns:a16="http://schemas.microsoft.com/office/drawing/2014/main" id="{34C85DE9-78B9-48CA-BBBC-EAF5275978E1}"/>
              </a:ext>
            </a:extLst>
          </p:cNvPr>
          <p:cNvSpPr txBox="1"/>
          <p:nvPr/>
        </p:nvSpPr>
        <p:spPr>
          <a:xfrm>
            <a:off x="8129587" y="424642"/>
            <a:ext cx="3825478" cy="2400657"/>
          </a:xfrm>
          <a:prstGeom prst="rect">
            <a:avLst/>
          </a:prstGeom>
          <a:noFill/>
        </p:spPr>
        <p:txBody>
          <a:bodyPr wrap="square">
            <a:spAutoFit/>
          </a:bodyPr>
          <a:lstStyle/>
          <a:p>
            <a:r>
              <a:rPr lang="en-US" sz="2500" b="1" dirty="0">
                <a:solidFill>
                  <a:srgbClr val="C00000"/>
                </a:solidFill>
              </a:rPr>
              <a:t>using technology to perform repetitive tasks automatically</a:t>
            </a:r>
            <a:r>
              <a:rPr lang="en-US" sz="2500" dirty="0">
                <a:solidFill>
                  <a:srgbClr val="C00000"/>
                </a:solidFill>
              </a:rPr>
              <a:t>, helping Agile teams work faster, reduce errors, and deliver digital products more frequently.</a:t>
            </a:r>
            <a:endParaRPr lang="th-TH" sz="2500" dirty="0">
              <a:solidFill>
                <a:srgbClr val="C00000"/>
              </a:solidFill>
            </a:endParaRPr>
          </a:p>
        </p:txBody>
      </p:sp>
    </p:spTree>
    <p:extLst>
      <p:ext uri="{BB962C8B-B14F-4D97-AF65-F5344CB8AC3E}">
        <p14:creationId xmlns:p14="http://schemas.microsoft.com/office/powerpoint/2010/main" val="545943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Agile Workflow: Your Go-To Guide to an Adaptive Process">
            <a:extLst>
              <a:ext uri="{FF2B5EF4-FFF2-40B4-BE49-F238E27FC236}">
                <a16:creationId xmlns:a16="http://schemas.microsoft.com/office/drawing/2014/main" id="{4B6AFCAE-F5D4-45D8-B957-85AB0B0C8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975" y="390524"/>
            <a:ext cx="11068050" cy="60769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95C645B-1BA6-400F-AFB7-408F428B0422}"/>
              </a:ext>
            </a:extLst>
          </p:cNvPr>
          <p:cNvSpPr txBox="1"/>
          <p:nvPr/>
        </p:nvSpPr>
        <p:spPr>
          <a:xfrm>
            <a:off x="314325" y="3267417"/>
            <a:ext cx="1871663" cy="323165"/>
          </a:xfrm>
          <a:prstGeom prst="rect">
            <a:avLst/>
          </a:prstGeom>
          <a:noFill/>
        </p:spPr>
        <p:txBody>
          <a:bodyPr wrap="square">
            <a:spAutoFit/>
          </a:bodyPr>
          <a:lstStyle/>
          <a:p>
            <a:r>
              <a:rPr lang="en-GB" sz="1500" dirty="0">
                <a:solidFill>
                  <a:srgbClr val="FF0000"/>
                </a:solidFill>
              </a:rPr>
              <a:t>List all app features.</a:t>
            </a:r>
            <a:endParaRPr lang="th-TH" sz="1500" dirty="0">
              <a:solidFill>
                <a:srgbClr val="FF0000"/>
              </a:solidFill>
            </a:endParaRPr>
          </a:p>
        </p:txBody>
      </p:sp>
      <p:sp>
        <p:nvSpPr>
          <p:cNvPr id="6" name="TextBox 5">
            <a:extLst>
              <a:ext uri="{FF2B5EF4-FFF2-40B4-BE49-F238E27FC236}">
                <a16:creationId xmlns:a16="http://schemas.microsoft.com/office/drawing/2014/main" id="{D6FF2B6C-013E-4923-9499-0F3594DA7E11}"/>
              </a:ext>
            </a:extLst>
          </p:cNvPr>
          <p:cNvSpPr txBox="1"/>
          <p:nvPr/>
        </p:nvSpPr>
        <p:spPr>
          <a:xfrm>
            <a:off x="2289573" y="3267417"/>
            <a:ext cx="1182290" cy="784830"/>
          </a:xfrm>
          <a:prstGeom prst="rect">
            <a:avLst/>
          </a:prstGeom>
          <a:noFill/>
        </p:spPr>
        <p:txBody>
          <a:bodyPr wrap="square">
            <a:spAutoFit/>
          </a:bodyPr>
          <a:lstStyle/>
          <a:p>
            <a:r>
              <a:rPr lang="en-US" sz="1500" dirty="0">
                <a:solidFill>
                  <a:srgbClr val="FF0000"/>
                </a:solidFill>
              </a:rPr>
              <a:t>Choose features for this sprint.</a:t>
            </a:r>
            <a:endParaRPr lang="th-TH" sz="1500" dirty="0">
              <a:solidFill>
                <a:srgbClr val="FF0000"/>
              </a:solidFill>
            </a:endParaRPr>
          </a:p>
        </p:txBody>
      </p:sp>
      <p:sp>
        <p:nvSpPr>
          <p:cNvPr id="8" name="TextBox 7">
            <a:extLst>
              <a:ext uri="{FF2B5EF4-FFF2-40B4-BE49-F238E27FC236}">
                <a16:creationId xmlns:a16="http://schemas.microsoft.com/office/drawing/2014/main" id="{ACE13EC4-F60D-4715-9B71-6CCDF86854CD}"/>
              </a:ext>
            </a:extLst>
          </p:cNvPr>
          <p:cNvSpPr txBox="1"/>
          <p:nvPr/>
        </p:nvSpPr>
        <p:spPr>
          <a:xfrm>
            <a:off x="3719514" y="3152000"/>
            <a:ext cx="1182290" cy="553998"/>
          </a:xfrm>
          <a:prstGeom prst="rect">
            <a:avLst/>
          </a:prstGeom>
          <a:noFill/>
        </p:spPr>
        <p:txBody>
          <a:bodyPr wrap="square">
            <a:spAutoFit/>
          </a:bodyPr>
          <a:lstStyle/>
          <a:p>
            <a:r>
              <a:rPr lang="en-GB" sz="1500" dirty="0">
                <a:solidFill>
                  <a:srgbClr val="FF0000"/>
                </a:solidFill>
              </a:rPr>
              <a:t>List tasks to complete.</a:t>
            </a:r>
            <a:endParaRPr lang="th-TH" sz="1500" dirty="0">
              <a:solidFill>
                <a:srgbClr val="FF0000"/>
              </a:solidFill>
            </a:endParaRPr>
          </a:p>
        </p:txBody>
      </p:sp>
      <p:sp>
        <p:nvSpPr>
          <p:cNvPr id="10" name="TextBox 9">
            <a:extLst>
              <a:ext uri="{FF2B5EF4-FFF2-40B4-BE49-F238E27FC236}">
                <a16:creationId xmlns:a16="http://schemas.microsoft.com/office/drawing/2014/main" id="{188D2B8C-7A16-4A4D-9F1D-A6B3B5B71392}"/>
              </a:ext>
            </a:extLst>
          </p:cNvPr>
          <p:cNvSpPr txBox="1"/>
          <p:nvPr/>
        </p:nvSpPr>
        <p:spPr>
          <a:xfrm>
            <a:off x="5718573" y="3544415"/>
            <a:ext cx="2825353" cy="323165"/>
          </a:xfrm>
          <a:prstGeom prst="rect">
            <a:avLst/>
          </a:prstGeom>
          <a:noFill/>
        </p:spPr>
        <p:txBody>
          <a:bodyPr wrap="square">
            <a:spAutoFit/>
          </a:bodyPr>
          <a:lstStyle/>
          <a:p>
            <a:r>
              <a:rPr lang="en-US" sz="1500" dirty="0">
                <a:solidFill>
                  <a:srgbClr val="FF0000"/>
                </a:solidFill>
              </a:rPr>
              <a:t>Develop features for 2–4 weeks.</a:t>
            </a:r>
            <a:endParaRPr lang="th-TH" sz="1500" dirty="0">
              <a:solidFill>
                <a:srgbClr val="FF0000"/>
              </a:solidFill>
            </a:endParaRPr>
          </a:p>
        </p:txBody>
      </p:sp>
      <p:sp>
        <p:nvSpPr>
          <p:cNvPr id="12" name="TextBox 11">
            <a:extLst>
              <a:ext uri="{FF2B5EF4-FFF2-40B4-BE49-F238E27FC236}">
                <a16:creationId xmlns:a16="http://schemas.microsoft.com/office/drawing/2014/main" id="{49B9DA82-A69C-4C78-AF4F-023FFA7580A4}"/>
              </a:ext>
            </a:extLst>
          </p:cNvPr>
          <p:cNvSpPr txBox="1"/>
          <p:nvPr/>
        </p:nvSpPr>
        <p:spPr>
          <a:xfrm>
            <a:off x="7647385" y="5353377"/>
            <a:ext cx="2325290" cy="553998"/>
          </a:xfrm>
          <a:prstGeom prst="rect">
            <a:avLst/>
          </a:prstGeom>
          <a:noFill/>
        </p:spPr>
        <p:txBody>
          <a:bodyPr wrap="square">
            <a:spAutoFit/>
          </a:bodyPr>
          <a:lstStyle/>
          <a:p>
            <a:r>
              <a:rPr lang="en-US" sz="1500" dirty="0">
                <a:solidFill>
                  <a:srgbClr val="FF0000"/>
                </a:solidFill>
              </a:rPr>
              <a:t>Show completed work to users.</a:t>
            </a:r>
            <a:endParaRPr lang="th-TH" sz="1500" dirty="0">
              <a:solidFill>
                <a:srgbClr val="FF0000"/>
              </a:solidFill>
            </a:endParaRPr>
          </a:p>
        </p:txBody>
      </p:sp>
      <p:graphicFrame>
        <p:nvGraphicFramePr>
          <p:cNvPr id="11" name="Table 10">
            <a:extLst>
              <a:ext uri="{FF2B5EF4-FFF2-40B4-BE49-F238E27FC236}">
                <a16:creationId xmlns:a16="http://schemas.microsoft.com/office/drawing/2014/main" id="{757FDBCA-3955-443F-A741-EF854F27DDFF}"/>
              </a:ext>
            </a:extLst>
          </p:cNvPr>
          <p:cNvGraphicFramePr>
            <a:graphicFrameLocks noGrp="1"/>
          </p:cNvGraphicFramePr>
          <p:nvPr/>
        </p:nvGraphicFramePr>
        <p:xfrm>
          <a:off x="838200" y="3742214"/>
          <a:ext cx="10515600" cy="518160"/>
        </p:xfrm>
        <a:graphic>
          <a:graphicData uri="http://schemas.openxmlformats.org/drawingml/2006/table">
            <a:tbl>
              <a:tblPr/>
              <a:tblGrid>
                <a:gridCol w="10515600">
                  <a:extLst>
                    <a:ext uri="{9D8B030D-6E8A-4147-A177-3AD203B41FA5}">
                      <a16:colId xmlns:a16="http://schemas.microsoft.com/office/drawing/2014/main" val="2108585811"/>
                    </a:ext>
                  </a:extLst>
                </a:gridCol>
              </a:tblGrid>
              <a:tr h="0">
                <a:tc>
                  <a:txBody>
                    <a:bodyPr/>
                    <a:lstStyle/>
                    <a:p>
                      <a:endParaRPr lang="th-TH"/>
                    </a:p>
                  </a:txBody>
                  <a:tcPr anchor="ctr">
                    <a:lnL>
                      <a:noFill/>
                    </a:lnL>
                    <a:lnR>
                      <a:noFill/>
                    </a:lnR>
                    <a:lnT>
                      <a:noFill/>
                    </a:lnT>
                    <a:lnB>
                      <a:noFill/>
                    </a:lnB>
                  </a:tcPr>
                </a:tc>
                <a:extLst>
                  <a:ext uri="{0D108BD9-81ED-4DB2-BD59-A6C34878D82A}">
                    <a16:rowId xmlns:a16="http://schemas.microsoft.com/office/drawing/2014/main" val="3009136339"/>
                  </a:ext>
                </a:extLst>
              </a:tr>
            </a:tbl>
          </a:graphicData>
        </a:graphic>
      </p:graphicFrame>
      <p:graphicFrame>
        <p:nvGraphicFramePr>
          <p:cNvPr id="13" name="Table 12">
            <a:extLst>
              <a:ext uri="{FF2B5EF4-FFF2-40B4-BE49-F238E27FC236}">
                <a16:creationId xmlns:a16="http://schemas.microsoft.com/office/drawing/2014/main" id="{038B1FA2-CF59-43ED-8E63-50BA850FB2DF}"/>
              </a:ext>
            </a:extLst>
          </p:cNvPr>
          <p:cNvGraphicFramePr>
            <a:graphicFrameLocks noGrp="1"/>
          </p:cNvGraphicFramePr>
          <p:nvPr>
            <p:extLst>
              <p:ext uri="{D42A27DB-BD31-4B8C-83A1-F6EECF244321}">
                <p14:modId xmlns:p14="http://schemas.microsoft.com/office/powerpoint/2010/main" val="3448184454"/>
              </p:ext>
            </p:extLst>
          </p:nvPr>
        </p:nvGraphicFramePr>
        <p:xfrm>
          <a:off x="9360695" y="2993097"/>
          <a:ext cx="2043114" cy="548640"/>
        </p:xfrm>
        <a:graphic>
          <a:graphicData uri="http://schemas.openxmlformats.org/drawingml/2006/table">
            <a:tbl>
              <a:tblPr/>
              <a:tblGrid>
                <a:gridCol w="2043114">
                  <a:extLst>
                    <a:ext uri="{9D8B030D-6E8A-4147-A177-3AD203B41FA5}">
                      <a16:colId xmlns:a16="http://schemas.microsoft.com/office/drawing/2014/main" val="3469086233"/>
                    </a:ext>
                  </a:extLst>
                </a:gridCol>
              </a:tblGrid>
              <a:tr h="0">
                <a:tc>
                  <a:txBody>
                    <a:bodyPr/>
                    <a:lstStyle/>
                    <a:p>
                      <a:r>
                        <a:rPr lang="en-GB" sz="1500" dirty="0">
                          <a:solidFill>
                            <a:srgbClr val="FF0000"/>
                          </a:solidFill>
                        </a:rPr>
                        <a:t>Deliver a working version.</a:t>
                      </a:r>
                    </a:p>
                  </a:txBody>
                  <a:tcPr anchor="ctr">
                    <a:lnL>
                      <a:noFill/>
                    </a:lnL>
                    <a:lnR>
                      <a:noFill/>
                    </a:lnR>
                    <a:lnT>
                      <a:noFill/>
                    </a:lnT>
                    <a:lnB>
                      <a:noFill/>
                    </a:lnB>
                  </a:tcPr>
                </a:tc>
                <a:extLst>
                  <a:ext uri="{0D108BD9-81ED-4DB2-BD59-A6C34878D82A}">
                    <a16:rowId xmlns:a16="http://schemas.microsoft.com/office/drawing/2014/main" val="1985225727"/>
                  </a:ext>
                </a:extLst>
              </a:tr>
            </a:tbl>
          </a:graphicData>
        </a:graphic>
      </p:graphicFrame>
      <p:graphicFrame>
        <p:nvGraphicFramePr>
          <p:cNvPr id="14" name="Table 13">
            <a:extLst>
              <a:ext uri="{FF2B5EF4-FFF2-40B4-BE49-F238E27FC236}">
                <a16:creationId xmlns:a16="http://schemas.microsoft.com/office/drawing/2014/main" id="{15D4363C-FA62-4D64-A1FB-85959D2247E4}"/>
              </a:ext>
            </a:extLst>
          </p:cNvPr>
          <p:cNvGraphicFramePr>
            <a:graphicFrameLocks noGrp="1"/>
          </p:cNvGraphicFramePr>
          <p:nvPr/>
        </p:nvGraphicFramePr>
        <p:xfrm>
          <a:off x="838200" y="3742214"/>
          <a:ext cx="10515600" cy="518160"/>
        </p:xfrm>
        <a:graphic>
          <a:graphicData uri="http://schemas.openxmlformats.org/drawingml/2006/table">
            <a:tbl>
              <a:tblPr/>
              <a:tblGrid>
                <a:gridCol w="10515600">
                  <a:extLst>
                    <a:ext uri="{9D8B030D-6E8A-4147-A177-3AD203B41FA5}">
                      <a16:colId xmlns:a16="http://schemas.microsoft.com/office/drawing/2014/main" val="974108558"/>
                    </a:ext>
                  </a:extLst>
                </a:gridCol>
              </a:tblGrid>
              <a:tr h="0">
                <a:tc>
                  <a:txBody>
                    <a:bodyPr/>
                    <a:lstStyle/>
                    <a:p>
                      <a:endParaRPr lang="th-TH"/>
                    </a:p>
                  </a:txBody>
                  <a:tcPr anchor="ctr">
                    <a:lnL>
                      <a:noFill/>
                    </a:lnL>
                    <a:lnR>
                      <a:noFill/>
                    </a:lnR>
                    <a:lnT>
                      <a:noFill/>
                    </a:lnT>
                    <a:lnB>
                      <a:noFill/>
                    </a:lnB>
                  </a:tcPr>
                </a:tc>
                <a:extLst>
                  <a:ext uri="{0D108BD9-81ED-4DB2-BD59-A6C34878D82A}">
                    <a16:rowId xmlns:a16="http://schemas.microsoft.com/office/drawing/2014/main" val="3450967264"/>
                  </a:ext>
                </a:extLst>
              </a:tr>
            </a:tbl>
          </a:graphicData>
        </a:graphic>
      </p:graphicFrame>
      <p:graphicFrame>
        <p:nvGraphicFramePr>
          <p:cNvPr id="15" name="Table 14">
            <a:extLst>
              <a:ext uri="{FF2B5EF4-FFF2-40B4-BE49-F238E27FC236}">
                <a16:creationId xmlns:a16="http://schemas.microsoft.com/office/drawing/2014/main" id="{0AA35127-470A-4326-AC16-EAD88FDFBE9E}"/>
              </a:ext>
            </a:extLst>
          </p:cNvPr>
          <p:cNvGraphicFramePr>
            <a:graphicFrameLocks noGrp="1"/>
          </p:cNvGraphicFramePr>
          <p:nvPr>
            <p:extLst>
              <p:ext uri="{D42A27DB-BD31-4B8C-83A1-F6EECF244321}">
                <p14:modId xmlns:p14="http://schemas.microsoft.com/office/powerpoint/2010/main" val="2671390676"/>
              </p:ext>
            </p:extLst>
          </p:nvPr>
        </p:nvGraphicFramePr>
        <p:xfrm>
          <a:off x="6385322" y="1418830"/>
          <a:ext cx="2524125" cy="548640"/>
        </p:xfrm>
        <a:graphic>
          <a:graphicData uri="http://schemas.openxmlformats.org/drawingml/2006/table">
            <a:tbl>
              <a:tblPr/>
              <a:tblGrid>
                <a:gridCol w="2524125">
                  <a:extLst>
                    <a:ext uri="{9D8B030D-6E8A-4147-A177-3AD203B41FA5}">
                      <a16:colId xmlns:a16="http://schemas.microsoft.com/office/drawing/2014/main" val="4239965897"/>
                    </a:ext>
                  </a:extLst>
                </a:gridCol>
              </a:tblGrid>
              <a:tr h="323165">
                <a:tc>
                  <a:txBody>
                    <a:bodyPr/>
                    <a:lstStyle/>
                    <a:p>
                      <a:r>
                        <a:rPr lang="en-US" sz="1500" dirty="0">
                          <a:solidFill>
                            <a:srgbClr val="FF0000"/>
                          </a:solidFill>
                        </a:rPr>
                        <a:t>Discuss how to improve next sprint.</a:t>
                      </a:r>
                    </a:p>
                  </a:txBody>
                  <a:tcPr anchor="ctr">
                    <a:lnL>
                      <a:noFill/>
                    </a:lnL>
                    <a:lnR>
                      <a:noFill/>
                    </a:lnR>
                    <a:lnT>
                      <a:noFill/>
                    </a:lnT>
                    <a:lnB>
                      <a:noFill/>
                    </a:lnB>
                  </a:tcPr>
                </a:tc>
                <a:extLst>
                  <a:ext uri="{0D108BD9-81ED-4DB2-BD59-A6C34878D82A}">
                    <a16:rowId xmlns:a16="http://schemas.microsoft.com/office/drawing/2014/main" val="2022486665"/>
                  </a:ext>
                </a:extLst>
              </a:tr>
            </a:tbl>
          </a:graphicData>
        </a:graphic>
      </p:graphicFrame>
    </p:spTree>
    <p:extLst>
      <p:ext uri="{BB962C8B-B14F-4D97-AF65-F5344CB8AC3E}">
        <p14:creationId xmlns:p14="http://schemas.microsoft.com/office/powerpoint/2010/main" val="4136153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D42CA0-4F8C-42FB-88C0-F86BC2088C96}"/>
              </a:ext>
            </a:extLst>
          </p:cNvPr>
          <p:cNvSpPr txBox="1"/>
          <p:nvPr/>
        </p:nvSpPr>
        <p:spPr>
          <a:xfrm>
            <a:off x="260746" y="197346"/>
            <a:ext cx="11412141" cy="6463308"/>
          </a:xfrm>
          <a:prstGeom prst="rect">
            <a:avLst/>
          </a:prstGeom>
          <a:noFill/>
        </p:spPr>
        <p:txBody>
          <a:bodyPr wrap="square">
            <a:spAutoFit/>
          </a:bodyPr>
          <a:lstStyle/>
          <a:p>
            <a:r>
              <a:rPr lang="en-US" sz="2300" b="1" dirty="0"/>
              <a:t>Example:</a:t>
            </a:r>
            <a:endParaRPr lang="en-US" sz="2300" dirty="0"/>
          </a:p>
          <a:p>
            <a:r>
              <a:rPr lang="en-US" sz="2300" dirty="0"/>
              <a:t>A team is developing a </a:t>
            </a:r>
            <a:r>
              <a:rPr lang="en-US" sz="2300" b="1" dirty="0"/>
              <a:t>mobile banking application</a:t>
            </a:r>
            <a:r>
              <a:rPr lang="en-US" sz="2300" dirty="0"/>
              <a:t>. Every time developers add new code, an automated system can </a:t>
            </a:r>
            <a:r>
              <a:rPr lang="en-US" sz="2300" b="1" dirty="0"/>
              <a:t>test the application, identify errors, check security requirements, and prepare the new version for deployment</a:t>
            </a:r>
            <a:r>
              <a:rPr lang="en-US" sz="2300" dirty="0"/>
              <a:t>.</a:t>
            </a:r>
          </a:p>
          <a:p>
            <a:r>
              <a:rPr lang="en-US" sz="2300" dirty="0"/>
              <a:t>For example, if a developer changes the </a:t>
            </a:r>
            <a:r>
              <a:rPr lang="en-US" sz="2300" b="1" dirty="0"/>
              <a:t>money-transfer feature</a:t>
            </a:r>
            <a:r>
              <a:rPr lang="en-US" sz="2300" dirty="0"/>
              <a:t>, automated testing immediately checks whether users can still log in, transfer money, and receive transaction confirmations correctly. If an error is detected, the development team receives feedback quickly and can fix it during the same sprint.</a:t>
            </a:r>
          </a:p>
          <a:p>
            <a:r>
              <a:rPr lang="en-US" sz="2300" dirty="0"/>
              <a:t>Automation supports Agile workflows through:</a:t>
            </a:r>
          </a:p>
          <a:p>
            <a:pPr>
              <a:buFont typeface="Arial" panose="020B0604020202020204" pitchFamily="34" charset="0"/>
              <a:buChar char="•"/>
            </a:pPr>
            <a:r>
              <a:rPr lang="en-US" sz="2300" b="1" dirty="0"/>
              <a:t>Automated testing</a:t>
            </a:r>
            <a:r>
              <a:rPr lang="en-US" sz="2300" dirty="0"/>
              <a:t> — quickly checks whether features work correctly. </a:t>
            </a:r>
          </a:p>
          <a:p>
            <a:pPr>
              <a:buFont typeface="Arial" panose="020B0604020202020204" pitchFamily="34" charset="0"/>
              <a:buChar char="•"/>
            </a:pPr>
            <a:r>
              <a:rPr lang="en-US" sz="2300" b="1" dirty="0"/>
              <a:t>Continuous Integration (CI)</a:t>
            </a:r>
            <a:r>
              <a:rPr lang="en-US" sz="2300" dirty="0"/>
              <a:t> — automatically checks and integrates new code. </a:t>
            </a:r>
          </a:p>
          <a:p>
            <a:pPr>
              <a:buFont typeface="Arial" panose="020B0604020202020204" pitchFamily="34" charset="0"/>
              <a:buChar char="•"/>
            </a:pPr>
            <a:r>
              <a:rPr lang="en-US" sz="2300" b="1" dirty="0"/>
              <a:t>Continuous Delivery/Deployment (CD)</a:t>
            </a:r>
            <a:r>
              <a:rPr lang="en-US" sz="2300" dirty="0"/>
              <a:t> — prepares or releases new versions efficiently. </a:t>
            </a:r>
          </a:p>
          <a:p>
            <a:pPr>
              <a:buFont typeface="Arial" panose="020B0604020202020204" pitchFamily="34" charset="0"/>
              <a:buChar char="•"/>
            </a:pPr>
            <a:r>
              <a:rPr lang="en-US" sz="2300" b="1" dirty="0"/>
              <a:t>Automated monitoring</a:t>
            </a:r>
            <a:r>
              <a:rPr lang="en-US" sz="2300" dirty="0"/>
              <a:t> — identifies system problems after deployment. </a:t>
            </a:r>
          </a:p>
          <a:p>
            <a:pPr>
              <a:buFont typeface="Arial" panose="020B0604020202020204" pitchFamily="34" charset="0"/>
              <a:buChar char="•"/>
            </a:pPr>
            <a:r>
              <a:rPr lang="en-US" sz="2300" b="1" dirty="0"/>
              <a:t>Task automation</a:t>
            </a:r>
            <a:r>
              <a:rPr lang="en-US" sz="2300" dirty="0"/>
              <a:t> — reduces repetitive administrative and development work. </a:t>
            </a:r>
          </a:p>
          <a:p>
            <a:r>
              <a:rPr lang="en-US" sz="2300" b="1" dirty="0"/>
              <a:t>In simple terms:</a:t>
            </a:r>
            <a:r>
              <a:rPr lang="en-US" sz="2300" dirty="0"/>
              <a:t> Automation helps Agile teams </a:t>
            </a:r>
            <a:r>
              <a:rPr lang="en-US" sz="2300" b="1" dirty="0"/>
              <a:t>work faster, detect problems earlier, reduce human errors, and continuously improve products.</a:t>
            </a:r>
            <a:endParaRPr lang="en-US" sz="2300" dirty="0"/>
          </a:p>
          <a:p>
            <a:r>
              <a:rPr lang="en-US" sz="2300" b="1" dirty="0"/>
              <a:t>Process:</a:t>
            </a:r>
            <a:br>
              <a:rPr lang="en-US" sz="2300" dirty="0"/>
            </a:br>
            <a:r>
              <a:rPr lang="en-US" sz="2300" b="1" dirty="0"/>
              <a:t>Develop → Automatically Test → Detect Problems → Fix → Deploy → Monitor → Improve</a:t>
            </a:r>
            <a:endParaRPr lang="en-US" sz="2300" dirty="0"/>
          </a:p>
        </p:txBody>
      </p:sp>
    </p:spTree>
    <p:extLst>
      <p:ext uri="{BB962C8B-B14F-4D97-AF65-F5344CB8AC3E}">
        <p14:creationId xmlns:p14="http://schemas.microsoft.com/office/powerpoint/2010/main" val="2889584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BBA756-B518-46D6-9789-034E11DDEE6B}"/>
              </a:ext>
            </a:extLst>
          </p:cNvPr>
          <p:cNvSpPr txBox="1"/>
          <p:nvPr/>
        </p:nvSpPr>
        <p:spPr>
          <a:xfrm>
            <a:off x="675750" y="491959"/>
            <a:ext cx="6093618" cy="5693866"/>
          </a:xfrm>
          <a:prstGeom prst="rect">
            <a:avLst/>
          </a:prstGeom>
          <a:noFill/>
        </p:spPr>
        <p:txBody>
          <a:bodyPr wrap="square">
            <a:spAutoFit/>
          </a:bodyPr>
          <a:lstStyle/>
          <a:p>
            <a:r>
              <a:rPr lang="en-US" b="1" dirty="0"/>
              <a:t>3. Digital Collaboration Tools for Agile Teams</a:t>
            </a:r>
          </a:p>
          <a:p>
            <a:r>
              <a:rPr lang="en-US" dirty="0">
                <a:solidFill>
                  <a:srgbClr val="C00000"/>
                </a:solidFill>
              </a:rPr>
              <a:t>Tools</a:t>
            </a:r>
            <a:r>
              <a:rPr lang="en-US" dirty="0"/>
              <a:t> like Jira, Trello, Slack, and Confluence enable real-time communication, task tracking, and documentation. These platforms support transparency, faster feedback cycles, and remote collaboration. Digital tools streamline sprint planning, backlog management, and progress monitoring, helping distributed teams maintain efficiency and alignment throughout the project lifecycle.</a:t>
            </a:r>
          </a:p>
        </p:txBody>
      </p:sp>
      <p:sp>
        <p:nvSpPr>
          <p:cNvPr id="4" name="TextBox 3">
            <a:extLst>
              <a:ext uri="{FF2B5EF4-FFF2-40B4-BE49-F238E27FC236}">
                <a16:creationId xmlns:a16="http://schemas.microsoft.com/office/drawing/2014/main" id="{1AC695CC-E238-467D-A9AE-DEBE9364E0AB}"/>
              </a:ext>
            </a:extLst>
          </p:cNvPr>
          <p:cNvSpPr txBox="1"/>
          <p:nvPr/>
        </p:nvSpPr>
        <p:spPr>
          <a:xfrm>
            <a:off x="7915274" y="491959"/>
            <a:ext cx="3796903" cy="2923877"/>
          </a:xfrm>
          <a:prstGeom prst="rect">
            <a:avLst/>
          </a:prstGeom>
          <a:noFill/>
        </p:spPr>
        <p:txBody>
          <a:bodyPr wrap="square">
            <a:spAutoFit/>
          </a:bodyPr>
          <a:lstStyle/>
          <a:p>
            <a:r>
              <a:rPr lang="en-US" sz="2300" dirty="0">
                <a:solidFill>
                  <a:srgbClr val="C00000"/>
                </a:solidFill>
              </a:rPr>
              <a:t>software platforms that help Agile team members communicate, share information, manage tasks, and work together effectively, especially when team members work remotely or in different locations.</a:t>
            </a:r>
            <a:endParaRPr lang="th-TH" sz="2300" dirty="0">
              <a:solidFill>
                <a:srgbClr val="C00000"/>
              </a:solidFill>
            </a:endParaRPr>
          </a:p>
        </p:txBody>
      </p:sp>
    </p:spTree>
    <p:extLst>
      <p:ext uri="{BB962C8B-B14F-4D97-AF65-F5344CB8AC3E}">
        <p14:creationId xmlns:p14="http://schemas.microsoft.com/office/powerpoint/2010/main" val="23420956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Agile Team Structure in Software Development: A Comprehensive Guide">
            <a:extLst>
              <a:ext uri="{FF2B5EF4-FFF2-40B4-BE49-F238E27FC236}">
                <a16:creationId xmlns:a16="http://schemas.microsoft.com/office/drawing/2014/main" id="{94A825EA-7821-4C5B-A493-49823DD21C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838200"/>
            <a:ext cx="9753600" cy="518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6113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0EC8BE-02E4-4EE6-A7F8-26DC31FCB50C}"/>
              </a:ext>
            </a:extLst>
          </p:cNvPr>
          <p:cNvSpPr txBox="1"/>
          <p:nvPr/>
        </p:nvSpPr>
        <p:spPr>
          <a:xfrm>
            <a:off x="417910" y="386865"/>
            <a:ext cx="11197828" cy="5755422"/>
          </a:xfrm>
          <a:prstGeom prst="rect">
            <a:avLst/>
          </a:prstGeom>
          <a:noFill/>
        </p:spPr>
        <p:txBody>
          <a:bodyPr wrap="square">
            <a:spAutoFit/>
          </a:bodyPr>
          <a:lstStyle/>
          <a:p>
            <a:r>
              <a:rPr lang="en-US" sz="2300" b="1" dirty="0"/>
              <a:t>Example:</a:t>
            </a:r>
            <a:endParaRPr lang="en-US" sz="2300" dirty="0"/>
          </a:p>
          <a:p>
            <a:r>
              <a:rPr lang="en-US" sz="2300" dirty="0"/>
              <a:t>A team is developing a </a:t>
            </a:r>
            <a:r>
              <a:rPr lang="en-US" sz="2300" b="1" dirty="0"/>
              <a:t>mobile banking application</a:t>
            </a:r>
            <a:r>
              <a:rPr lang="en-US" sz="2300" dirty="0"/>
              <a:t>. The developers, designers, testers, and project managers work from different locations. They use digital collaboration tools to coordinate their Agile activities.</a:t>
            </a:r>
          </a:p>
          <a:p>
            <a:r>
              <a:rPr lang="en-US" sz="2300" dirty="0"/>
              <a:t>For example, the team may use </a:t>
            </a:r>
            <a:r>
              <a:rPr lang="en-US" sz="2300" dirty="0">
                <a:hlinkClick r:id="rId2"/>
              </a:rPr>
              <a:t>Slack</a:t>
            </a:r>
            <a:r>
              <a:rPr lang="en-US" sz="2300" dirty="0"/>
              <a:t> for daily communication, </a:t>
            </a:r>
            <a:r>
              <a:rPr lang="en-US" sz="2300" dirty="0">
                <a:hlinkClick r:id="rId3"/>
              </a:rPr>
              <a:t>Jira</a:t>
            </a:r>
            <a:r>
              <a:rPr lang="en-US" sz="2300" dirty="0"/>
              <a:t> to manage sprint tasks and track progress, </a:t>
            </a:r>
            <a:r>
              <a:rPr lang="en-US" sz="2300" dirty="0">
                <a:hlinkClick r:id="rId4"/>
              </a:rPr>
              <a:t>GitHub</a:t>
            </a:r>
            <a:r>
              <a:rPr lang="en-US" sz="2300" dirty="0"/>
              <a:t> to collaborate on software code, and </a:t>
            </a:r>
            <a:r>
              <a:rPr lang="en-US" sz="2300" dirty="0">
                <a:hlinkClick r:id="rId5"/>
              </a:rPr>
              <a:t>Zoom</a:t>
            </a:r>
            <a:r>
              <a:rPr lang="en-US" sz="2300" dirty="0"/>
              <a:t> for sprint meetings and discussions.</a:t>
            </a:r>
          </a:p>
          <a:p>
            <a:r>
              <a:rPr lang="en-US" sz="2300" dirty="0"/>
              <a:t>These tools support Agile teams by enabling:</a:t>
            </a:r>
          </a:p>
          <a:p>
            <a:pPr>
              <a:buFont typeface="Arial" panose="020B0604020202020204" pitchFamily="34" charset="0"/>
              <a:buChar char="•"/>
            </a:pPr>
            <a:r>
              <a:rPr lang="en-US" sz="2300" b="1" dirty="0"/>
              <a:t>Real-time communication</a:t>
            </a:r>
            <a:r>
              <a:rPr lang="en-US" sz="2300" dirty="0"/>
              <a:t> — team members can quickly discuss problems and decisions. </a:t>
            </a:r>
          </a:p>
          <a:p>
            <a:pPr>
              <a:buFont typeface="Arial" panose="020B0604020202020204" pitchFamily="34" charset="0"/>
              <a:buChar char="•"/>
            </a:pPr>
            <a:r>
              <a:rPr lang="en-US" sz="2300" b="1" dirty="0"/>
              <a:t>Task management</a:t>
            </a:r>
            <a:r>
              <a:rPr lang="en-US" sz="2300" dirty="0"/>
              <a:t> — tasks can be assigned and monitored during each sprint. </a:t>
            </a:r>
          </a:p>
          <a:p>
            <a:pPr>
              <a:buFont typeface="Arial" panose="020B0604020202020204" pitchFamily="34" charset="0"/>
              <a:buChar char="•"/>
            </a:pPr>
            <a:r>
              <a:rPr lang="en-US" sz="2300" b="1" dirty="0"/>
              <a:t>File and knowledge sharing</a:t>
            </a:r>
            <a:r>
              <a:rPr lang="en-US" sz="2300" dirty="0"/>
              <a:t> — documents, designs, and project information can be shared easily. </a:t>
            </a:r>
          </a:p>
          <a:p>
            <a:pPr>
              <a:buFont typeface="Arial" panose="020B0604020202020204" pitchFamily="34" charset="0"/>
              <a:buChar char="•"/>
            </a:pPr>
            <a:r>
              <a:rPr lang="en-US" sz="2300" b="1" dirty="0"/>
              <a:t>Progress tracking</a:t>
            </a:r>
            <a:r>
              <a:rPr lang="en-US" sz="2300" dirty="0"/>
              <a:t> — everyone can see what has been completed and what remains. </a:t>
            </a:r>
          </a:p>
          <a:p>
            <a:pPr>
              <a:buFont typeface="Arial" panose="020B0604020202020204" pitchFamily="34" charset="0"/>
              <a:buChar char="•"/>
            </a:pPr>
            <a:r>
              <a:rPr lang="en-US" sz="2300" b="1" dirty="0"/>
              <a:t>Remote collaboration</a:t>
            </a:r>
            <a:r>
              <a:rPr lang="en-US" sz="2300" dirty="0"/>
              <a:t> — team members can work effectively from different locations. </a:t>
            </a:r>
          </a:p>
          <a:p>
            <a:r>
              <a:rPr lang="en-US" sz="2300" b="1" dirty="0"/>
              <a:t>In simple terms:</a:t>
            </a:r>
            <a:r>
              <a:rPr lang="en-US" sz="2300" dirty="0"/>
              <a:t> Digital collaboration tools help Agile teams </a:t>
            </a:r>
            <a:r>
              <a:rPr lang="en-US" sz="2300" b="1" dirty="0"/>
              <a:t>communicate → coordinate → share → track → improve together.</a:t>
            </a:r>
            <a:endParaRPr lang="en-US" sz="2300" dirty="0"/>
          </a:p>
        </p:txBody>
      </p:sp>
    </p:spTree>
    <p:extLst>
      <p:ext uri="{BB962C8B-B14F-4D97-AF65-F5344CB8AC3E}">
        <p14:creationId xmlns:p14="http://schemas.microsoft.com/office/powerpoint/2010/main" val="509311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C2F0F8-27BF-4B01-9C36-99D0415FE4D7}"/>
              </a:ext>
            </a:extLst>
          </p:cNvPr>
          <p:cNvSpPr txBox="1"/>
          <p:nvPr/>
        </p:nvSpPr>
        <p:spPr>
          <a:xfrm>
            <a:off x="489348" y="384304"/>
            <a:ext cx="6093618" cy="4832092"/>
          </a:xfrm>
          <a:prstGeom prst="rect">
            <a:avLst/>
          </a:prstGeom>
          <a:noFill/>
        </p:spPr>
        <p:txBody>
          <a:bodyPr wrap="square">
            <a:spAutoFit/>
          </a:bodyPr>
          <a:lstStyle/>
          <a:p>
            <a:r>
              <a:rPr lang="en-US" b="1" dirty="0"/>
              <a:t>4. AI-Assisted Project Planning</a:t>
            </a:r>
          </a:p>
          <a:p>
            <a:r>
              <a:rPr lang="en-US" dirty="0"/>
              <a:t>Artificial intelligence enhances </a:t>
            </a:r>
            <a:r>
              <a:rPr lang="en-US" dirty="0">
                <a:solidFill>
                  <a:srgbClr val="C00000"/>
                </a:solidFill>
              </a:rPr>
              <a:t>planning accuracy</a:t>
            </a:r>
            <a:r>
              <a:rPr lang="en-US" dirty="0"/>
              <a:t> by analyzing historical data, predicting workloads, estimating sprint durations, and identifying risks. AI-driven insights help project managers allocate resources, optimize schedules, and anticipate obstacles earlier. This improves the adaptability and foresight of agile teams working in rapidly changing technology environments.</a:t>
            </a:r>
          </a:p>
        </p:txBody>
      </p:sp>
      <p:sp>
        <p:nvSpPr>
          <p:cNvPr id="4" name="TextBox 3">
            <a:extLst>
              <a:ext uri="{FF2B5EF4-FFF2-40B4-BE49-F238E27FC236}">
                <a16:creationId xmlns:a16="http://schemas.microsoft.com/office/drawing/2014/main" id="{FBF2AF55-870F-4763-890E-91BEF10001D7}"/>
              </a:ext>
            </a:extLst>
          </p:cNvPr>
          <p:cNvSpPr txBox="1"/>
          <p:nvPr/>
        </p:nvSpPr>
        <p:spPr>
          <a:xfrm>
            <a:off x="8658224" y="384304"/>
            <a:ext cx="3044428" cy="2215991"/>
          </a:xfrm>
          <a:prstGeom prst="rect">
            <a:avLst/>
          </a:prstGeom>
          <a:noFill/>
        </p:spPr>
        <p:txBody>
          <a:bodyPr wrap="square">
            <a:spAutoFit/>
          </a:bodyPr>
          <a:lstStyle/>
          <a:p>
            <a:r>
              <a:rPr lang="en-US" sz="2300" dirty="0">
                <a:solidFill>
                  <a:srgbClr val="C00000"/>
                </a:solidFill>
              </a:rPr>
              <a:t>using Artificial Intelligence (AI) to help teams plan, organize, predict, and manage project activities more effectively.</a:t>
            </a:r>
            <a:endParaRPr lang="th-TH" sz="2300" dirty="0">
              <a:solidFill>
                <a:srgbClr val="C00000"/>
              </a:solidFill>
            </a:endParaRPr>
          </a:p>
        </p:txBody>
      </p:sp>
    </p:spTree>
    <p:extLst>
      <p:ext uri="{BB962C8B-B14F-4D97-AF65-F5344CB8AC3E}">
        <p14:creationId xmlns:p14="http://schemas.microsoft.com/office/powerpoint/2010/main" val="1079645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What Is a Project Plan? The Ultimate Guide to Project Planning">
            <a:extLst>
              <a:ext uri="{FF2B5EF4-FFF2-40B4-BE49-F238E27FC236}">
                <a16:creationId xmlns:a16="http://schemas.microsoft.com/office/drawing/2014/main" id="{16582E72-65C7-433D-B349-B1BB4024DC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8" y="153988"/>
            <a:ext cx="11901487" cy="6548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2502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201680-4139-40FA-A2B6-F150F46C3C62}"/>
              </a:ext>
            </a:extLst>
          </p:cNvPr>
          <p:cNvSpPr txBox="1"/>
          <p:nvPr/>
        </p:nvSpPr>
        <p:spPr>
          <a:xfrm>
            <a:off x="300038" y="149216"/>
            <a:ext cx="11366003" cy="6524863"/>
          </a:xfrm>
          <a:prstGeom prst="rect">
            <a:avLst/>
          </a:prstGeom>
          <a:noFill/>
        </p:spPr>
        <p:txBody>
          <a:bodyPr wrap="square">
            <a:spAutoFit/>
          </a:bodyPr>
          <a:lstStyle/>
          <a:p>
            <a:r>
              <a:rPr lang="en-US" sz="2200" b="1" dirty="0"/>
              <a:t>Example:</a:t>
            </a:r>
            <a:endParaRPr lang="en-US" sz="2200" dirty="0"/>
          </a:p>
          <a:p>
            <a:r>
              <a:rPr lang="en-US" sz="2200" dirty="0"/>
              <a:t>A company is developing a </a:t>
            </a:r>
            <a:r>
              <a:rPr lang="en-US" sz="2200" b="1" dirty="0"/>
              <a:t>mobile banking application</a:t>
            </a:r>
            <a:r>
              <a:rPr lang="en-US" sz="2200" dirty="0"/>
              <a:t>. The project manager uses an AI-assisted system to analyze information from previous software projects, including </a:t>
            </a:r>
            <a:r>
              <a:rPr lang="en-US" sz="2200" b="1" dirty="0"/>
              <a:t>task duration, team performance, costs, delays, and common risks</a:t>
            </a:r>
            <a:r>
              <a:rPr lang="en-US" sz="2200" dirty="0"/>
              <a:t>.</a:t>
            </a:r>
          </a:p>
          <a:p>
            <a:r>
              <a:rPr lang="en-US" sz="2200" dirty="0"/>
              <a:t>For example, AI may predict that developing a new </a:t>
            </a:r>
            <a:r>
              <a:rPr lang="en-US" sz="2200" b="1" dirty="0"/>
              <a:t>money-transfer feature</a:t>
            </a:r>
            <a:r>
              <a:rPr lang="en-US" sz="2200" dirty="0"/>
              <a:t> will take </a:t>
            </a:r>
            <a:r>
              <a:rPr lang="en-US" sz="2200" b="1" dirty="0"/>
              <a:t>three weeks instead of the originally planned two weeks</a:t>
            </a:r>
            <a:r>
              <a:rPr lang="en-US" sz="2200" dirty="0"/>
              <a:t> because similar projects experienced delays during security testing. The project manager can then adjust the schedule and assign additional resources before problems occur.</a:t>
            </a:r>
          </a:p>
          <a:p>
            <a:r>
              <a:rPr lang="en-US" sz="2200" dirty="0"/>
              <a:t>AI can support project planning through:</a:t>
            </a:r>
          </a:p>
          <a:p>
            <a:pPr>
              <a:buFont typeface="Arial" panose="020B0604020202020204" pitchFamily="34" charset="0"/>
              <a:buChar char="•"/>
            </a:pPr>
            <a:r>
              <a:rPr lang="en-US" sz="2200" b="1" dirty="0"/>
              <a:t>Time estimation</a:t>
            </a:r>
            <a:r>
              <a:rPr lang="en-US" sz="2200" dirty="0"/>
              <a:t> — predicts how long tasks may take. </a:t>
            </a:r>
          </a:p>
          <a:p>
            <a:pPr>
              <a:buFont typeface="Arial" panose="020B0604020202020204" pitchFamily="34" charset="0"/>
              <a:buChar char="•"/>
            </a:pPr>
            <a:r>
              <a:rPr lang="en-US" sz="2200" b="1" dirty="0"/>
              <a:t>Resource allocation</a:t>
            </a:r>
            <a:r>
              <a:rPr lang="en-US" sz="2200" dirty="0"/>
              <a:t> — recommends how people and resources should be assigned. </a:t>
            </a:r>
          </a:p>
          <a:p>
            <a:pPr>
              <a:buFont typeface="Arial" panose="020B0604020202020204" pitchFamily="34" charset="0"/>
              <a:buChar char="•"/>
            </a:pPr>
            <a:r>
              <a:rPr lang="en-US" sz="2200" b="1" dirty="0"/>
              <a:t>Risk prediction</a:t>
            </a:r>
            <a:r>
              <a:rPr lang="en-US" sz="2200" dirty="0"/>
              <a:t> — identifies activities that may cause delays or problems. </a:t>
            </a:r>
          </a:p>
          <a:p>
            <a:pPr>
              <a:buFont typeface="Arial" panose="020B0604020202020204" pitchFamily="34" charset="0"/>
              <a:buChar char="•"/>
            </a:pPr>
            <a:r>
              <a:rPr lang="en-US" sz="2200" b="1" dirty="0"/>
              <a:t>Cost estimation</a:t>
            </a:r>
            <a:r>
              <a:rPr lang="en-US" sz="2200" dirty="0"/>
              <a:t> — helps predict project expenses. </a:t>
            </a:r>
          </a:p>
          <a:p>
            <a:pPr>
              <a:buFont typeface="Arial" panose="020B0604020202020204" pitchFamily="34" charset="0"/>
              <a:buChar char="•"/>
            </a:pPr>
            <a:r>
              <a:rPr lang="en-US" sz="2200" b="1" dirty="0"/>
              <a:t>Task prioritization</a:t>
            </a:r>
            <a:r>
              <a:rPr lang="en-US" sz="2200" dirty="0"/>
              <a:t> — recommends which activities should be completed first. </a:t>
            </a:r>
          </a:p>
          <a:p>
            <a:pPr>
              <a:buFont typeface="Arial" panose="020B0604020202020204" pitchFamily="34" charset="0"/>
              <a:buChar char="•"/>
            </a:pPr>
            <a:r>
              <a:rPr lang="en-US" sz="2200" b="1" dirty="0"/>
              <a:t>Progress forecasting</a:t>
            </a:r>
            <a:r>
              <a:rPr lang="en-US" sz="2200" dirty="0"/>
              <a:t> — predicts whether the project is likely to meet its deadlines. </a:t>
            </a:r>
          </a:p>
          <a:p>
            <a:r>
              <a:rPr lang="en-US" sz="2200" b="1" dirty="0"/>
              <a:t>In simple terms:</a:t>
            </a:r>
            <a:r>
              <a:rPr lang="en-US" sz="2200" dirty="0"/>
              <a:t> AI-assisted project planning means using AI to </a:t>
            </a:r>
            <a:r>
              <a:rPr lang="en-US" sz="2200" b="1" dirty="0"/>
              <a:t>analyze past data → predict future problems → recommend actions → improve project decisions.</a:t>
            </a:r>
            <a:endParaRPr lang="en-US" sz="2200" dirty="0"/>
          </a:p>
          <a:p>
            <a:r>
              <a:rPr lang="en-US" sz="2200" b="1" dirty="0"/>
              <a:t>Process:</a:t>
            </a:r>
            <a:br>
              <a:rPr lang="en-US" sz="2200" dirty="0"/>
            </a:br>
            <a:r>
              <a:rPr lang="en-US" sz="2200" b="1" dirty="0"/>
              <a:t>Collect Project Data → AI Analysis → Predict → Recommend → Plan → Monitor → Adjust</a:t>
            </a:r>
            <a:endParaRPr lang="en-US" sz="2200" dirty="0"/>
          </a:p>
        </p:txBody>
      </p:sp>
    </p:spTree>
    <p:extLst>
      <p:ext uri="{BB962C8B-B14F-4D97-AF65-F5344CB8AC3E}">
        <p14:creationId xmlns:p14="http://schemas.microsoft.com/office/powerpoint/2010/main" val="4029957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E182BA-9AD6-459A-B99C-8195E7611C40}"/>
              </a:ext>
            </a:extLst>
          </p:cNvPr>
          <p:cNvSpPr txBox="1"/>
          <p:nvPr/>
        </p:nvSpPr>
        <p:spPr>
          <a:xfrm>
            <a:off x="867136" y="460061"/>
            <a:ext cx="6093618" cy="5262979"/>
          </a:xfrm>
          <a:prstGeom prst="rect">
            <a:avLst/>
          </a:prstGeom>
          <a:noFill/>
        </p:spPr>
        <p:txBody>
          <a:bodyPr wrap="square">
            <a:spAutoFit/>
          </a:bodyPr>
          <a:lstStyle/>
          <a:p>
            <a:r>
              <a:rPr lang="en-US" b="1" dirty="0"/>
              <a:t>5. Real-Time Data Analytics for Decision-Making</a:t>
            </a:r>
          </a:p>
          <a:p>
            <a:r>
              <a:rPr lang="en-US" dirty="0"/>
              <a:t>Real-time analytics allow teams to monitor performance metrics, user behaviors, and system feedback instantly. With immediate insights, agile teams can adjust priorities, refine features, and address issues proactively. Data-driven decision-making enhances project accuracy, supports continuous improvement, and ensures alignment with end-user needs.</a:t>
            </a:r>
          </a:p>
        </p:txBody>
      </p:sp>
      <p:sp>
        <p:nvSpPr>
          <p:cNvPr id="4" name="TextBox 3">
            <a:extLst>
              <a:ext uri="{FF2B5EF4-FFF2-40B4-BE49-F238E27FC236}">
                <a16:creationId xmlns:a16="http://schemas.microsoft.com/office/drawing/2014/main" id="{40AF09B0-5BB6-4A3B-A58D-4292A0583A85}"/>
              </a:ext>
            </a:extLst>
          </p:cNvPr>
          <p:cNvSpPr txBox="1"/>
          <p:nvPr/>
        </p:nvSpPr>
        <p:spPr>
          <a:xfrm>
            <a:off x="7872411" y="460061"/>
            <a:ext cx="3911203" cy="1862048"/>
          </a:xfrm>
          <a:prstGeom prst="rect">
            <a:avLst/>
          </a:prstGeom>
          <a:noFill/>
        </p:spPr>
        <p:txBody>
          <a:bodyPr wrap="square">
            <a:spAutoFit/>
          </a:bodyPr>
          <a:lstStyle/>
          <a:p>
            <a:r>
              <a:rPr lang="en-US" sz="2300">
                <a:solidFill>
                  <a:srgbClr val="C00000"/>
                </a:solidFill>
              </a:rPr>
              <a:t>collecting, analyzing, and using data immediately as it is generated, allowing organizations to make faster and more informed decisions.</a:t>
            </a:r>
            <a:endParaRPr lang="th-TH" sz="2300" dirty="0">
              <a:solidFill>
                <a:srgbClr val="C00000"/>
              </a:solidFill>
            </a:endParaRPr>
          </a:p>
        </p:txBody>
      </p:sp>
    </p:spTree>
    <p:extLst>
      <p:ext uri="{BB962C8B-B14F-4D97-AF65-F5344CB8AC3E}">
        <p14:creationId xmlns:p14="http://schemas.microsoft.com/office/powerpoint/2010/main" val="2901413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Guide to Real-Time Analytics">
            <a:extLst>
              <a:ext uri="{FF2B5EF4-FFF2-40B4-BE49-F238E27FC236}">
                <a16:creationId xmlns:a16="http://schemas.microsoft.com/office/drawing/2014/main" id="{E64F26E2-709D-4E66-A7E7-52C2872921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 y="504825"/>
            <a:ext cx="11639550" cy="584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204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3295A2-CBBB-47AA-8BA7-71B4E475900B}"/>
              </a:ext>
            </a:extLst>
          </p:cNvPr>
          <p:cNvSpPr txBox="1"/>
          <p:nvPr/>
        </p:nvSpPr>
        <p:spPr>
          <a:xfrm>
            <a:off x="417908" y="346979"/>
            <a:ext cx="11555017" cy="6232475"/>
          </a:xfrm>
          <a:prstGeom prst="rect">
            <a:avLst/>
          </a:prstGeom>
          <a:noFill/>
        </p:spPr>
        <p:txBody>
          <a:bodyPr wrap="square">
            <a:spAutoFit/>
          </a:bodyPr>
          <a:lstStyle/>
          <a:p>
            <a:r>
              <a:rPr lang="en-US" sz="2100" b="1" dirty="0"/>
              <a:t>Example:</a:t>
            </a:r>
            <a:endParaRPr lang="en-US" sz="2100" dirty="0"/>
          </a:p>
          <a:p>
            <a:r>
              <a:rPr lang="en-US" sz="2100" dirty="0"/>
              <a:t>A company operates an </a:t>
            </a:r>
            <a:r>
              <a:rPr lang="en-US" sz="2100" b="1" dirty="0"/>
              <a:t>e-commerce platform</a:t>
            </a:r>
            <a:r>
              <a:rPr lang="en-US" sz="2100" dirty="0"/>
              <a:t>. The system continuously collects real-time information about </a:t>
            </a:r>
            <a:r>
              <a:rPr lang="en-US" sz="2100" b="1" dirty="0"/>
              <a:t>customer visits, product searches, purchases, inventory levels, and payment transactions</a:t>
            </a:r>
            <a:r>
              <a:rPr lang="en-US" sz="2100" dirty="0"/>
              <a:t>.</a:t>
            </a:r>
          </a:p>
          <a:p>
            <a:r>
              <a:rPr lang="en-US" sz="2100" dirty="0"/>
              <a:t>For example, the system detects that a particular product is receiving a </a:t>
            </a:r>
            <a:r>
              <a:rPr lang="en-US" sz="2100" b="1" dirty="0"/>
              <a:t>sudden increase in customer demand</a:t>
            </a:r>
            <a:r>
              <a:rPr lang="en-US" sz="2100" dirty="0"/>
              <a:t>. Real-time analytics immediately identifies this trend and alerts managers. The company can then </a:t>
            </a:r>
            <a:r>
              <a:rPr lang="en-US" sz="2100" b="1" dirty="0"/>
              <a:t>increase inventory, adjust promotions, or recommend similar products</a:t>
            </a:r>
            <a:r>
              <a:rPr lang="en-US" sz="2100" dirty="0"/>
              <a:t> before the opportunity is lost.</a:t>
            </a:r>
          </a:p>
          <a:p>
            <a:r>
              <a:rPr lang="en-US" sz="2100" dirty="0"/>
              <a:t>Real-time data analytics supports decision-making through:</a:t>
            </a:r>
          </a:p>
          <a:p>
            <a:pPr>
              <a:buFont typeface="Arial" panose="020B0604020202020204" pitchFamily="34" charset="0"/>
              <a:buChar char="•"/>
            </a:pPr>
            <a:r>
              <a:rPr lang="en-US" sz="2100" b="1" dirty="0"/>
              <a:t>Immediate insights</a:t>
            </a:r>
            <a:r>
              <a:rPr lang="en-US" sz="2100" dirty="0"/>
              <a:t> — managers can see what is happening now. </a:t>
            </a:r>
          </a:p>
          <a:p>
            <a:pPr>
              <a:buFont typeface="Arial" panose="020B0604020202020204" pitchFamily="34" charset="0"/>
              <a:buChar char="•"/>
            </a:pPr>
            <a:r>
              <a:rPr lang="en-US" sz="2100" b="1" dirty="0"/>
              <a:t>Trend detection</a:t>
            </a:r>
            <a:r>
              <a:rPr lang="en-US" sz="2100" dirty="0"/>
              <a:t> — emerging patterns can be identified quickly. </a:t>
            </a:r>
          </a:p>
          <a:p>
            <a:pPr>
              <a:buFont typeface="Arial" panose="020B0604020202020204" pitchFamily="34" charset="0"/>
              <a:buChar char="•"/>
            </a:pPr>
            <a:r>
              <a:rPr lang="en-US" sz="2100" b="1" dirty="0"/>
              <a:t>Faster decisions</a:t>
            </a:r>
            <a:r>
              <a:rPr lang="en-US" sz="2100" dirty="0"/>
              <a:t> — organizations can respond without waiting for periodic reports. </a:t>
            </a:r>
          </a:p>
          <a:p>
            <a:pPr>
              <a:buFont typeface="Arial" panose="020B0604020202020204" pitchFamily="34" charset="0"/>
              <a:buChar char="•"/>
            </a:pPr>
            <a:r>
              <a:rPr lang="en-US" sz="2100" b="1" dirty="0"/>
              <a:t>Risk detection</a:t>
            </a:r>
            <a:r>
              <a:rPr lang="en-US" sz="2100" dirty="0"/>
              <a:t> — unusual activities or potential problems can be identified early. </a:t>
            </a:r>
          </a:p>
          <a:p>
            <a:pPr>
              <a:buFont typeface="Arial" panose="020B0604020202020204" pitchFamily="34" charset="0"/>
              <a:buChar char="•"/>
            </a:pPr>
            <a:r>
              <a:rPr lang="en-US" sz="2100" b="1" dirty="0"/>
              <a:t>Customer personalization</a:t>
            </a:r>
            <a:r>
              <a:rPr lang="en-US" sz="2100" dirty="0"/>
              <a:t> — recommendations can be adjusted based on current customer behavior. </a:t>
            </a:r>
          </a:p>
          <a:p>
            <a:pPr>
              <a:buFont typeface="Arial" panose="020B0604020202020204" pitchFamily="34" charset="0"/>
              <a:buChar char="•"/>
            </a:pPr>
            <a:r>
              <a:rPr lang="en-US" sz="2100" b="1" dirty="0"/>
              <a:t>Operational optimization</a:t>
            </a:r>
            <a:r>
              <a:rPr lang="en-US" sz="2100" dirty="0"/>
              <a:t> — resources, inventory, and processes can be adjusted dynamically. </a:t>
            </a:r>
          </a:p>
          <a:p>
            <a:r>
              <a:rPr lang="en-US" sz="2100" b="1" dirty="0"/>
              <a:t>In simple terms:</a:t>
            </a:r>
            <a:r>
              <a:rPr lang="en-US" sz="2100" dirty="0"/>
              <a:t> Real-time data analytics means using current data to </a:t>
            </a:r>
            <a:r>
              <a:rPr lang="en-US" sz="2100" b="1" dirty="0"/>
              <a:t>Monitor → Analyze → Identify → Decide → Act immediately.</a:t>
            </a:r>
            <a:endParaRPr lang="en-US" sz="2100" dirty="0"/>
          </a:p>
          <a:p>
            <a:r>
              <a:rPr lang="en-US" sz="2100" b="1" dirty="0"/>
              <a:t>Example:</a:t>
            </a:r>
            <a:br>
              <a:rPr lang="en-US" sz="2100" dirty="0"/>
            </a:br>
            <a:r>
              <a:rPr lang="en-US" sz="2100" b="1" dirty="0"/>
              <a:t>Customer demand suddenly increases → System analyzes live sales data → High-demand product identified → Manager receives alert → Inventory is increased → Sales opportunity is captured.</a:t>
            </a:r>
            <a:endParaRPr lang="en-US" sz="2100" dirty="0"/>
          </a:p>
        </p:txBody>
      </p:sp>
    </p:spTree>
    <p:extLst>
      <p:ext uri="{BB962C8B-B14F-4D97-AF65-F5344CB8AC3E}">
        <p14:creationId xmlns:p14="http://schemas.microsoft.com/office/powerpoint/2010/main" val="3504098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3295A2-CBBB-47AA-8BA7-71B4E475900B}"/>
              </a:ext>
            </a:extLst>
          </p:cNvPr>
          <p:cNvSpPr txBox="1"/>
          <p:nvPr/>
        </p:nvSpPr>
        <p:spPr>
          <a:xfrm>
            <a:off x="4011810" y="2613392"/>
            <a:ext cx="4168380" cy="1631216"/>
          </a:xfrm>
          <a:prstGeom prst="rect">
            <a:avLst/>
          </a:prstGeom>
          <a:noFill/>
        </p:spPr>
        <p:txBody>
          <a:bodyPr wrap="square">
            <a:spAutoFit/>
          </a:bodyPr>
          <a:lstStyle/>
          <a:p>
            <a:r>
              <a:rPr lang="en-US" sz="10000" b="1" dirty="0"/>
              <a:t>Thanks</a:t>
            </a:r>
            <a:endParaRPr lang="en-US" sz="10000" dirty="0"/>
          </a:p>
        </p:txBody>
      </p:sp>
    </p:spTree>
    <p:extLst>
      <p:ext uri="{BB962C8B-B14F-4D97-AF65-F5344CB8AC3E}">
        <p14:creationId xmlns:p14="http://schemas.microsoft.com/office/powerpoint/2010/main" val="556153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429F58-E6C4-465C-8BD4-906BE64AC4FA}"/>
              </a:ext>
            </a:extLst>
          </p:cNvPr>
          <p:cNvSpPr txBox="1"/>
          <p:nvPr/>
        </p:nvSpPr>
        <p:spPr>
          <a:xfrm>
            <a:off x="792708" y="566386"/>
            <a:ext cx="6093618" cy="5262979"/>
          </a:xfrm>
          <a:prstGeom prst="rect">
            <a:avLst/>
          </a:prstGeom>
          <a:noFill/>
        </p:spPr>
        <p:txBody>
          <a:bodyPr wrap="square">
            <a:spAutoFit/>
          </a:bodyPr>
          <a:lstStyle/>
          <a:p>
            <a:r>
              <a:rPr lang="en-US" b="1" dirty="0"/>
              <a:t>6. Cloud Computing for Agile Scalability</a:t>
            </a:r>
          </a:p>
          <a:p>
            <a:r>
              <a:rPr lang="en-US" dirty="0"/>
              <a:t>Cloud platforms </a:t>
            </a:r>
            <a:r>
              <a:rPr lang="en-US" u="sng" dirty="0"/>
              <a:t>provide flexible infrastructure</a:t>
            </a:r>
            <a:r>
              <a:rPr lang="en-US" dirty="0"/>
              <a:t> that scales according to project demands. Agile teams benefit from rapid deployment, resource elasticity, and seamless integration with development tools. Cloud computing reduces operational overhead, supports distributed work environments, and ensures high availability, enabling smoother sprint cycles and continuous delivery.</a:t>
            </a:r>
          </a:p>
        </p:txBody>
      </p:sp>
      <p:sp>
        <p:nvSpPr>
          <p:cNvPr id="4" name="TextBox 3">
            <a:extLst>
              <a:ext uri="{FF2B5EF4-FFF2-40B4-BE49-F238E27FC236}">
                <a16:creationId xmlns:a16="http://schemas.microsoft.com/office/drawing/2014/main" id="{D27F4CCA-126E-463B-B6A1-1E9D7F68892A}"/>
              </a:ext>
            </a:extLst>
          </p:cNvPr>
          <p:cNvSpPr txBox="1"/>
          <p:nvPr/>
        </p:nvSpPr>
        <p:spPr>
          <a:xfrm>
            <a:off x="8354864" y="642228"/>
            <a:ext cx="3044428" cy="2569934"/>
          </a:xfrm>
          <a:prstGeom prst="rect">
            <a:avLst/>
          </a:prstGeom>
          <a:noFill/>
        </p:spPr>
        <p:txBody>
          <a:bodyPr wrap="square">
            <a:spAutoFit/>
          </a:bodyPr>
          <a:lstStyle/>
          <a:p>
            <a:r>
              <a:rPr lang="en-US" sz="2300" dirty="0">
                <a:solidFill>
                  <a:srgbClr val="C00000"/>
                </a:solidFill>
              </a:rPr>
              <a:t>using cloud-based computing resources that can be quickly increased or decreased according to changing business and user demands.</a:t>
            </a:r>
            <a:endParaRPr lang="th-TH" sz="2300" dirty="0">
              <a:solidFill>
                <a:srgbClr val="C00000"/>
              </a:solidFill>
            </a:endParaRPr>
          </a:p>
        </p:txBody>
      </p:sp>
    </p:spTree>
    <p:extLst>
      <p:ext uri="{BB962C8B-B14F-4D97-AF65-F5344CB8AC3E}">
        <p14:creationId xmlns:p14="http://schemas.microsoft.com/office/powerpoint/2010/main" val="3687954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E97625A-4435-4BA0-B8BF-52AE5552B785}"/>
              </a:ext>
            </a:extLst>
          </p:cNvPr>
          <p:cNvPicPr>
            <a:picLocks noChangeAspect="1"/>
          </p:cNvPicPr>
          <p:nvPr/>
        </p:nvPicPr>
        <p:blipFill>
          <a:blip r:embed="rId2"/>
          <a:stretch>
            <a:fillRect/>
          </a:stretch>
        </p:blipFill>
        <p:spPr>
          <a:xfrm>
            <a:off x="2667000" y="271462"/>
            <a:ext cx="6858000" cy="6315075"/>
          </a:xfrm>
          <a:prstGeom prst="rect">
            <a:avLst/>
          </a:prstGeom>
        </p:spPr>
      </p:pic>
    </p:spTree>
    <p:extLst>
      <p:ext uri="{BB962C8B-B14F-4D97-AF65-F5344CB8AC3E}">
        <p14:creationId xmlns:p14="http://schemas.microsoft.com/office/powerpoint/2010/main" val="2197103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ll Kinds of &quot;AAS&quot; in Cloud Computing">
            <a:extLst>
              <a:ext uri="{FF2B5EF4-FFF2-40B4-BE49-F238E27FC236}">
                <a16:creationId xmlns:a16="http://schemas.microsoft.com/office/drawing/2014/main" id="{10B2CE8C-1F82-41C6-B8EA-3F551FE212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685799"/>
            <a:ext cx="11138591" cy="5472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2734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Agile Scaling Options - One size fits all?">
            <a:extLst>
              <a:ext uri="{FF2B5EF4-FFF2-40B4-BE49-F238E27FC236}">
                <a16:creationId xmlns:a16="http://schemas.microsoft.com/office/drawing/2014/main" id="{2480869E-37D9-4F12-AC1E-AB54BB3206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9569" y="205383"/>
            <a:ext cx="7910512" cy="5932884"/>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To Scale Agile In An Organization follow 5 strategies - ShriLearning">
            <a:extLst>
              <a:ext uri="{FF2B5EF4-FFF2-40B4-BE49-F238E27FC236}">
                <a16:creationId xmlns:a16="http://schemas.microsoft.com/office/drawing/2014/main" id="{46EB1B9E-3A0B-44FD-8221-F13321457E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467" r="16133"/>
          <a:stretch/>
        </p:blipFill>
        <p:spPr bwMode="auto">
          <a:xfrm>
            <a:off x="385762" y="205383"/>
            <a:ext cx="3551081" cy="2923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00996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DB7D9F-75BF-4F17-A9BC-B1560E343BD1}"/>
              </a:ext>
            </a:extLst>
          </p:cNvPr>
          <p:cNvSpPr txBox="1"/>
          <p:nvPr/>
        </p:nvSpPr>
        <p:spPr>
          <a:xfrm>
            <a:off x="346471" y="448539"/>
            <a:ext cx="11526441" cy="5401479"/>
          </a:xfrm>
          <a:prstGeom prst="rect">
            <a:avLst/>
          </a:prstGeom>
          <a:noFill/>
        </p:spPr>
        <p:txBody>
          <a:bodyPr wrap="square">
            <a:spAutoFit/>
          </a:bodyPr>
          <a:lstStyle/>
          <a:p>
            <a:r>
              <a:rPr lang="en-US" sz="2300" b="1" dirty="0"/>
              <a:t>Example:</a:t>
            </a:r>
            <a:endParaRPr lang="en-US" sz="2300" dirty="0"/>
          </a:p>
          <a:p>
            <a:r>
              <a:rPr lang="en-US" sz="2300" dirty="0"/>
              <a:t>A company develops an </a:t>
            </a:r>
            <a:r>
              <a:rPr lang="en-US" sz="2300" b="1" dirty="0"/>
              <a:t>online shopping application</a:t>
            </a:r>
            <a:r>
              <a:rPr lang="en-US" sz="2300" dirty="0"/>
              <a:t> using an Agile approach. Normally, the application serves </a:t>
            </a:r>
            <a:r>
              <a:rPr lang="en-US" sz="2300" b="1" dirty="0"/>
              <a:t>10,000 users per day</a:t>
            </a:r>
            <a:r>
              <a:rPr lang="en-US" sz="2300" dirty="0"/>
              <a:t>, but during a major promotion, the number suddenly increases to </a:t>
            </a:r>
            <a:r>
              <a:rPr lang="en-US" sz="2300" b="1" dirty="0"/>
              <a:t>100,000 users</a:t>
            </a:r>
            <a:r>
              <a:rPr lang="en-US" sz="2300" dirty="0"/>
              <a:t>.</a:t>
            </a:r>
          </a:p>
          <a:p>
            <a:r>
              <a:rPr lang="en-US" sz="2300" dirty="0"/>
              <a:t>Instead of purchasing new physical servers, the company uses cloud computing to </a:t>
            </a:r>
            <a:r>
              <a:rPr lang="en-US" sz="2300" b="1" dirty="0"/>
              <a:t>automatically increase computing capacity</a:t>
            </a:r>
            <a:r>
              <a:rPr lang="en-US" sz="2300" dirty="0"/>
              <a:t> to handle the additional users. After the promotion ends, the resources can be reduced again.</a:t>
            </a:r>
          </a:p>
          <a:p>
            <a:r>
              <a:rPr lang="en-US" sz="2300" dirty="0"/>
              <a:t>Cloud computing supports Agile scalability through:</a:t>
            </a:r>
          </a:p>
          <a:p>
            <a:pPr>
              <a:buFont typeface="Arial" panose="020B0604020202020204" pitchFamily="34" charset="0"/>
              <a:buChar char="•"/>
            </a:pPr>
            <a:r>
              <a:rPr lang="en-US" sz="2300" b="1" dirty="0"/>
              <a:t>Rapid scaling</a:t>
            </a:r>
            <a:r>
              <a:rPr lang="en-US" sz="2300" dirty="0"/>
              <a:t> — computing resources can expand when demand increases. </a:t>
            </a:r>
          </a:p>
          <a:p>
            <a:pPr>
              <a:buFont typeface="Arial" panose="020B0604020202020204" pitchFamily="34" charset="0"/>
              <a:buChar char="•"/>
            </a:pPr>
            <a:r>
              <a:rPr lang="en-US" sz="2300" b="1" dirty="0"/>
              <a:t>Flexibility</a:t>
            </a:r>
            <a:r>
              <a:rPr lang="en-US" sz="2300" dirty="0"/>
              <a:t> — teams can quickly create development and testing environments. </a:t>
            </a:r>
          </a:p>
          <a:p>
            <a:pPr>
              <a:buFont typeface="Arial" panose="020B0604020202020204" pitchFamily="34" charset="0"/>
              <a:buChar char="•"/>
            </a:pPr>
            <a:r>
              <a:rPr lang="en-US" sz="2300" b="1" dirty="0"/>
              <a:t>Faster deployment</a:t>
            </a:r>
            <a:r>
              <a:rPr lang="en-US" sz="2300" dirty="0"/>
              <a:t> — new features can be released more frequently. </a:t>
            </a:r>
          </a:p>
          <a:p>
            <a:pPr>
              <a:buFont typeface="Arial" panose="020B0604020202020204" pitchFamily="34" charset="0"/>
              <a:buChar char="•"/>
            </a:pPr>
            <a:r>
              <a:rPr lang="en-US" sz="2300" b="1" dirty="0"/>
              <a:t>Cost efficiency</a:t>
            </a:r>
            <a:r>
              <a:rPr lang="en-US" sz="2300" dirty="0"/>
              <a:t> — organizations pay for resources according to usage. </a:t>
            </a:r>
          </a:p>
          <a:p>
            <a:pPr>
              <a:buFont typeface="Arial" panose="020B0604020202020204" pitchFamily="34" charset="0"/>
              <a:buChar char="•"/>
            </a:pPr>
            <a:r>
              <a:rPr lang="en-US" sz="2300" b="1" dirty="0"/>
              <a:t>Remote collaboration</a:t>
            </a:r>
            <a:r>
              <a:rPr lang="en-US" sz="2300" dirty="0"/>
              <a:t> — Agile teams can access systems and resources from different locations. </a:t>
            </a:r>
          </a:p>
          <a:p>
            <a:pPr>
              <a:buFont typeface="Arial" panose="020B0604020202020204" pitchFamily="34" charset="0"/>
              <a:buChar char="•"/>
            </a:pPr>
            <a:r>
              <a:rPr lang="en-US" sz="2300" b="1" dirty="0"/>
              <a:t>Automation</a:t>
            </a:r>
            <a:r>
              <a:rPr lang="en-US" sz="2300" dirty="0"/>
              <a:t> — cloud resources can automatically respond to changing workloads.</a:t>
            </a:r>
          </a:p>
        </p:txBody>
      </p:sp>
    </p:spTree>
    <p:extLst>
      <p:ext uri="{BB962C8B-B14F-4D97-AF65-F5344CB8AC3E}">
        <p14:creationId xmlns:p14="http://schemas.microsoft.com/office/powerpoint/2010/main" val="6727175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FDDFAB-BCD1-48AE-B4EB-5C562CA462C3}"/>
              </a:ext>
            </a:extLst>
          </p:cNvPr>
          <p:cNvSpPr txBox="1"/>
          <p:nvPr/>
        </p:nvSpPr>
        <p:spPr>
          <a:xfrm>
            <a:off x="770445" y="587651"/>
            <a:ext cx="6093618" cy="5262979"/>
          </a:xfrm>
          <a:prstGeom prst="rect">
            <a:avLst/>
          </a:prstGeom>
          <a:noFill/>
        </p:spPr>
        <p:txBody>
          <a:bodyPr wrap="square">
            <a:spAutoFit/>
          </a:bodyPr>
          <a:lstStyle/>
          <a:p>
            <a:r>
              <a:rPr lang="en-US" b="1" dirty="0"/>
              <a:t>7. DevOps Integration with Agile Methods</a:t>
            </a:r>
          </a:p>
          <a:p>
            <a:r>
              <a:rPr lang="en-US" dirty="0"/>
              <a:t>DevOps unifies development and operations to streamline software delivery. When integrated with agile, DevOps accelerates release cycles, enhances collaboration, and improves quality through continuous integration and deployment (CI/CD). This combination ensures faster value delivery, reliable updates, and improved responsiveness to user feedback.</a:t>
            </a:r>
          </a:p>
        </p:txBody>
      </p:sp>
      <p:sp>
        <p:nvSpPr>
          <p:cNvPr id="4" name="TextBox 3">
            <a:extLst>
              <a:ext uri="{FF2B5EF4-FFF2-40B4-BE49-F238E27FC236}">
                <a16:creationId xmlns:a16="http://schemas.microsoft.com/office/drawing/2014/main" id="{48D43292-7AD5-49D7-A613-26CAB9442B31}"/>
              </a:ext>
            </a:extLst>
          </p:cNvPr>
          <p:cNvSpPr txBox="1"/>
          <p:nvPr/>
        </p:nvSpPr>
        <p:spPr>
          <a:xfrm>
            <a:off x="7800975" y="587651"/>
            <a:ext cx="3811190" cy="2215991"/>
          </a:xfrm>
          <a:prstGeom prst="rect">
            <a:avLst/>
          </a:prstGeom>
          <a:noFill/>
        </p:spPr>
        <p:txBody>
          <a:bodyPr wrap="square">
            <a:spAutoFit/>
          </a:bodyPr>
          <a:lstStyle/>
          <a:p>
            <a:r>
              <a:rPr lang="en-US" sz="2300" dirty="0">
                <a:solidFill>
                  <a:srgbClr val="C00000"/>
                </a:solidFill>
              </a:rPr>
              <a:t>combining Agile development practices with collaboration between development and IT operations teams to deliver software faster, more reliably, and continuously.</a:t>
            </a:r>
            <a:endParaRPr lang="th-TH" sz="2300" dirty="0">
              <a:solidFill>
                <a:srgbClr val="C00000"/>
              </a:solidFill>
            </a:endParaRPr>
          </a:p>
        </p:txBody>
      </p:sp>
    </p:spTree>
    <p:extLst>
      <p:ext uri="{BB962C8B-B14F-4D97-AF65-F5344CB8AC3E}">
        <p14:creationId xmlns:p14="http://schemas.microsoft.com/office/powerpoint/2010/main" val="185755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DevOps vs Agile: How They Compare">
            <a:extLst>
              <a:ext uri="{FF2B5EF4-FFF2-40B4-BE49-F238E27FC236}">
                <a16:creationId xmlns:a16="http://schemas.microsoft.com/office/drawing/2014/main" id="{C642C326-FCA8-43F9-8DA4-EED2BCAE37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737" y="471487"/>
            <a:ext cx="11058525" cy="6220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22333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Agile with DevOps: A Comprehensive Baseline Guide">
            <a:extLst>
              <a:ext uri="{FF2B5EF4-FFF2-40B4-BE49-F238E27FC236}">
                <a16:creationId xmlns:a16="http://schemas.microsoft.com/office/drawing/2014/main" id="{F5AA9628-8ECA-4E11-87E5-33825FC651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7019" y="145458"/>
            <a:ext cx="6557962" cy="6567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76820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247566-92DB-49DE-8B9C-71C06380DFF0}"/>
              </a:ext>
            </a:extLst>
          </p:cNvPr>
          <p:cNvPicPr>
            <a:picLocks noChangeAspect="1"/>
          </p:cNvPicPr>
          <p:nvPr/>
        </p:nvPicPr>
        <p:blipFill>
          <a:blip r:embed="rId2"/>
          <a:stretch>
            <a:fillRect/>
          </a:stretch>
        </p:blipFill>
        <p:spPr>
          <a:xfrm>
            <a:off x="656897" y="752196"/>
            <a:ext cx="5758189" cy="4902084"/>
          </a:xfrm>
          <a:prstGeom prst="rect">
            <a:avLst/>
          </a:prstGeom>
        </p:spPr>
      </p:pic>
      <p:pic>
        <p:nvPicPr>
          <p:cNvPr id="13316" name="Picture 4" descr="How Do Agile And Devops Interrelate?">
            <a:extLst>
              <a:ext uri="{FF2B5EF4-FFF2-40B4-BE49-F238E27FC236}">
                <a16:creationId xmlns:a16="http://schemas.microsoft.com/office/drawing/2014/main" id="{D1A9B280-44FC-4923-9A22-75C99E6A51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4673" y="1904999"/>
            <a:ext cx="3871913" cy="2581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04774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FA404F-CF37-4FA5-AC8C-D101C27AB0E1}"/>
              </a:ext>
            </a:extLst>
          </p:cNvPr>
          <p:cNvSpPr txBox="1"/>
          <p:nvPr/>
        </p:nvSpPr>
        <p:spPr>
          <a:xfrm>
            <a:off x="375048" y="329715"/>
            <a:ext cx="11583590" cy="5401479"/>
          </a:xfrm>
          <a:prstGeom prst="rect">
            <a:avLst/>
          </a:prstGeom>
          <a:noFill/>
        </p:spPr>
        <p:txBody>
          <a:bodyPr wrap="square">
            <a:spAutoFit/>
          </a:bodyPr>
          <a:lstStyle/>
          <a:p>
            <a:r>
              <a:rPr lang="en-US" sz="2300" b="1" dirty="0"/>
              <a:t>Example:</a:t>
            </a:r>
            <a:endParaRPr lang="en-US" sz="2300" dirty="0"/>
          </a:p>
          <a:p>
            <a:r>
              <a:rPr lang="en-US" sz="2300" dirty="0"/>
              <a:t>A company is developing a </a:t>
            </a:r>
            <a:r>
              <a:rPr lang="en-US" sz="2300" b="1" dirty="0"/>
              <a:t>mobile banking application</a:t>
            </a:r>
            <a:r>
              <a:rPr lang="en-US" sz="2300" dirty="0"/>
              <a:t> using Agile. During each two-week sprint, developers create and improve features such as </a:t>
            </a:r>
            <a:r>
              <a:rPr lang="en-US" sz="2300" b="1" dirty="0"/>
              <a:t>money transfers, bill payments, and account notifications</a:t>
            </a:r>
            <a:r>
              <a:rPr lang="en-US" sz="2300" dirty="0"/>
              <a:t>.</a:t>
            </a:r>
          </a:p>
          <a:p>
            <a:r>
              <a:rPr lang="en-US" sz="2300" dirty="0"/>
              <a:t>After developers complete a new money-transfer feature, DevOps practices automatically </a:t>
            </a:r>
            <a:r>
              <a:rPr lang="en-US" sz="2300" b="1" dirty="0"/>
              <a:t>build, test, and deploy the new code</a:t>
            </a:r>
            <a:r>
              <a:rPr lang="en-US" sz="2300" dirty="0"/>
              <a:t> to a testing environment. If automated tests identify a problem, developers receive immediate feedback and fix it within the sprint. Once the feature passes testing, it can be safely released to users.</a:t>
            </a:r>
          </a:p>
          <a:p>
            <a:r>
              <a:rPr lang="en-US" sz="2300" dirty="0"/>
              <a:t>DevOps supports Agile methods through:</a:t>
            </a:r>
          </a:p>
          <a:p>
            <a:pPr>
              <a:buFont typeface="Arial" panose="020B0604020202020204" pitchFamily="34" charset="0"/>
              <a:buChar char="•"/>
            </a:pPr>
            <a:r>
              <a:rPr lang="en-US" sz="2300" b="1" dirty="0"/>
              <a:t>Continuous Integration (CI)</a:t>
            </a:r>
            <a:r>
              <a:rPr lang="en-US" sz="2300" dirty="0"/>
              <a:t> — developers frequently integrate new code. </a:t>
            </a:r>
          </a:p>
          <a:p>
            <a:pPr>
              <a:buFont typeface="Arial" panose="020B0604020202020204" pitchFamily="34" charset="0"/>
              <a:buChar char="•"/>
            </a:pPr>
            <a:r>
              <a:rPr lang="en-US" sz="2300" b="1" dirty="0"/>
              <a:t>Continuous Delivery/Deployment (CD)</a:t>
            </a:r>
            <a:r>
              <a:rPr lang="en-US" sz="2300" dirty="0"/>
              <a:t> — software updates can be released quickly. </a:t>
            </a:r>
          </a:p>
          <a:p>
            <a:pPr>
              <a:buFont typeface="Arial" panose="020B0604020202020204" pitchFamily="34" charset="0"/>
              <a:buChar char="•"/>
            </a:pPr>
            <a:r>
              <a:rPr lang="en-US" sz="2300" b="1" dirty="0"/>
              <a:t>Automated testing</a:t>
            </a:r>
            <a:r>
              <a:rPr lang="en-US" sz="2300" dirty="0"/>
              <a:t> — problems are identified earlier. </a:t>
            </a:r>
          </a:p>
          <a:p>
            <a:pPr>
              <a:buFont typeface="Arial" panose="020B0604020202020204" pitchFamily="34" charset="0"/>
              <a:buChar char="•"/>
            </a:pPr>
            <a:r>
              <a:rPr lang="en-US" sz="2300" b="1" dirty="0"/>
              <a:t>Continuous monitoring</a:t>
            </a:r>
            <a:r>
              <a:rPr lang="en-US" sz="2300" dirty="0"/>
              <a:t> — system performance is monitored after release. </a:t>
            </a:r>
          </a:p>
          <a:p>
            <a:pPr>
              <a:buFont typeface="Arial" panose="020B0604020202020204" pitchFamily="34" charset="0"/>
              <a:buChar char="•"/>
            </a:pPr>
            <a:r>
              <a:rPr lang="en-US" sz="2300" b="1" dirty="0"/>
              <a:t>Team collaboration</a:t>
            </a:r>
            <a:r>
              <a:rPr lang="en-US" sz="2300" dirty="0"/>
              <a:t> — development and operations teams share responsibilities. </a:t>
            </a:r>
          </a:p>
          <a:p>
            <a:pPr>
              <a:buFont typeface="Arial" panose="020B0604020202020204" pitchFamily="34" charset="0"/>
              <a:buChar char="•"/>
            </a:pPr>
            <a:r>
              <a:rPr lang="en-US" sz="2300" b="1" dirty="0"/>
              <a:t>Rapid feedback</a:t>
            </a:r>
            <a:r>
              <a:rPr lang="en-US" sz="2300" dirty="0"/>
              <a:t> — teams receive information quickly and make improvements.</a:t>
            </a:r>
          </a:p>
        </p:txBody>
      </p:sp>
    </p:spTree>
    <p:extLst>
      <p:ext uri="{BB962C8B-B14F-4D97-AF65-F5344CB8AC3E}">
        <p14:creationId xmlns:p14="http://schemas.microsoft.com/office/powerpoint/2010/main" val="20723780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BA0F8A-4478-48E0-94C5-CA6249682BE5}"/>
              </a:ext>
            </a:extLst>
          </p:cNvPr>
          <p:cNvSpPr txBox="1"/>
          <p:nvPr/>
        </p:nvSpPr>
        <p:spPr>
          <a:xfrm>
            <a:off x="624968" y="499466"/>
            <a:ext cx="6093618" cy="5262979"/>
          </a:xfrm>
          <a:prstGeom prst="rect">
            <a:avLst/>
          </a:prstGeom>
          <a:noFill/>
        </p:spPr>
        <p:txBody>
          <a:bodyPr wrap="square">
            <a:spAutoFit/>
          </a:bodyPr>
          <a:lstStyle/>
          <a:p>
            <a:r>
              <a:rPr lang="en-US" b="1" dirty="0"/>
              <a:t>8. Digital Risk Management in Agile Projects</a:t>
            </a:r>
          </a:p>
          <a:p>
            <a:r>
              <a:rPr lang="en-US" dirty="0"/>
              <a:t>Digital projects face risks such as security threats, data breaches, and system failures. Agile risk management involves continuous assessment, rapid mitigation, and iterative testing. Technologies like automated security scans and predictive analytics help teams identify vulnerabilities early, reducing disruptions and ensuring smoother project execution.</a:t>
            </a:r>
          </a:p>
        </p:txBody>
      </p:sp>
      <p:sp>
        <p:nvSpPr>
          <p:cNvPr id="4" name="TextBox 3">
            <a:extLst>
              <a:ext uri="{FF2B5EF4-FFF2-40B4-BE49-F238E27FC236}">
                <a16:creationId xmlns:a16="http://schemas.microsoft.com/office/drawing/2014/main" id="{D13EA57C-59AA-49BB-8977-52143ED2D9D7}"/>
              </a:ext>
            </a:extLst>
          </p:cNvPr>
          <p:cNvSpPr txBox="1"/>
          <p:nvPr/>
        </p:nvSpPr>
        <p:spPr>
          <a:xfrm>
            <a:off x="7827279" y="499466"/>
            <a:ext cx="3739753" cy="2215991"/>
          </a:xfrm>
          <a:prstGeom prst="rect">
            <a:avLst/>
          </a:prstGeom>
          <a:noFill/>
        </p:spPr>
        <p:txBody>
          <a:bodyPr wrap="square">
            <a:spAutoFit/>
          </a:bodyPr>
          <a:lstStyle/>
          <a:p>
            <a:r>
              <a:rPr lang="en-US" sz="2300" dirty="0">
                <a:solidFill>
                  <a:srgbClr val="C00000"/>
                </a:solidFill>
              </a:rPr>
              <a:t>continuously identifying, evaluating, and responding to digital risks throughout short development cycles, rather than waiting until the project is completed.</a:t>
            </a:r>
            <a:endParaRPr lang="th-TH" sz="2300" dirty="0">
              <a:solidFill>
                <a:srgbClr val="C00000"/>
              </a:solidFill>
            </a:endParaRPr>
          </a:p>
        </p:txBody>
      </p:sp>
    </p:spTree>
    <p:extLst>
      <p:ext uri="{BB962C8B-B14F-4D97-AF65-F5344CB8AC3E}">
        <p14:creationId xmlns:p14="http://schemas.microsoft.com/office/powerpoint/2010/main" val="41268134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ISACA Now Blog 2023 Making Risk Management for Agile Projects ...">
            <a:extLst>
              <a:ext uri="{FF2B5EF4-FFF2-40B4-BE49-F238E27FC236}">
                <a16:creationId xmlns:a16="http://schemas.microsoft.com/office/drawing/2014/main" id="{AB59AA6B-DF7D-4C9F-BF60-1F63B898E8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19075"/>
            <a:ext cx="7620000" cy="641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04505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Fail Fast, Move On: Agile Risk Management">
            <a:extLst>
              <a:ext uri="{FF2B5EF4-FFF2-40B4-BE49-F238E27FC236}">
                <a16:creationId xmlns:a16="http://schemas.microsoft.com/office/drawing/2014/main" id="{9B91503B-D201-49D7-BD89-455C7E89FE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617" r="7188"/>
          <a:stretch/>
        </p:blipFill>
        <p:spPr bwMode="auto">
          <a:xfrm>
            <a:off x="928688" y="138113"/>
            <a:ext cx="10387012" cy="6581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21270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B1F52B-934D-4523-ABF8-CAF473AC11AC}"/>
              </a:ext>
            </a:extLst>
          </p:cNvPr>
          <p:cNvSpPr txBox="1"/>
          <p:nvPr/>
        </p:nvSpPr>
        <p:spPr>
          <a:xfrm>
            <a:off x="446484" y="362814"/>
            <a:ext cx="11455003" cy="5755422"/>
          </a:xfrm>
          <a:prstGeom prst="rect">
            <a:avLst/>
          </a:prstGeom>
          <a:noFill/>
        </p:spPr>
        <p:txBody>
          <a:bodyPr wrap="square">
            <a:spAutoFit/>
          </a:bodyPr>
          <a:lstStyle/>
          <a:p>
            <a:r>
              <a:rPr lang="en-US" sz="2300" b="1" dirty="0"/>
              <a:t>Example:</a:t>
            </a:r>
            <a:endParaRPr lang="en-US" sz="2300" dirty="0"/>
          </a:p>
          <a:p>
            <a:r>
              <a:rPr lang="en-US" sz="2300" dirty="0"/>
              <a:t>A team is developing a </a:t>
            </a:r>
            <a:r>
              <a:rPr lang="en-US" sz="2300" b="1" dirty="0"/>
              <a:t>mobile banking application</a:t>
            </a:r>
            <a:r>
              <a:rPr lang="en-US" sz="2300" dirty="0"/>
              <a:t> using Agile methods. During one sprint, the team introduces a new </a:t>
            </a:r>
            <a:r>
              <a:rPr lang="en-US" sz="2300" b="1" dirty="0"/>
              <a:t>online payment feature</a:t>
            </a:r>
            <a:r>
              <a:rPr lang="en-US" sz="2300" dirty="0"/>
              <a:t>.</a:t>
            </a:r>
          </a:p>
          <a:p>
            <a:r>
              <a:rPr lang="en-US" sz="2300" dirty="0"/>
              <a:t>Before releasing the feature, the team identifies a potential </a:t>
            </a:r>
            <a:r>
              <a:rPr lang="en-US" sz="2300" b="1" dirty="0"/>
              <a:t>cybersecurity risk</a:t>
            </a:r>
            <a:r>
              <a:rPr lang="en-US" sz="2300" dirty="0"/>
              <a:t>: unauthorized users might gain access to customer transactions. The team evaluates the risk, introduces </a:t>
            </a:r>
            <a:r>
              <a:rPr lang="en-US" sz="2300" b="1" dirty="0"/>
              <a:t>multi-factor authentication and additional security testing</a:t>
            </a:r>
            <a:r>
              <a:rPr lang="en-US" sz="2300" dirty="0"/>
              <a:t>, and tests the feature again before deployment.</a:t>
            </a:r>
          </a:p>
          <a:p>
            <a:r>
              <a:rPr lang="en-US" sz="2300" dirty="0"/>
              <a:t>If new risks appear after release, the team uses monitoring data and customer feedback to address them in the next sprint.</a:t>
            </a:r>
          </a:p>
          <a:p>
            <a:r>
              <a:rPr lang="en-US" sz="2300" dirty="0"/>
              <a:t>Digital risk management can address:</a:t>
            </a:r>
          </a:p>
          <a:p>
            <a:pPr>
              <a:buFont typeface="Arial" panose="020B0604020202020204" pitchFamily="34" charset="0"/>
              <a:buChar char="•"/>
            </a:pPr>
            <a:r>
              <a:rPr lang="en-US" sz="2300" b="1" dirty="0"/>
              <a:t>Cybersecurity risks</a:t>
            </a:r>
            <a:r>
              <a:rPr lang="en-US" sz="2300" dirty="0"/>
              <a:t> — hacking, malware, and unauthorized access. </a:t>
            </a:r>
          </a:p>
          <a:p>
            <a:pPr>
              <a:buFont typeface="Arial" panose="020B0604020202020204" pitchFamily="34" charset="0"/>
              <a:buChar char="•"/>
            </a:pPr>
            <a:r>
              <a:rPr lang="en-US" sz="2300" b="1" dirty="0"/>
              <a:t>Data privacy risks</a:t>
            </a:r>
            <a:r>
              <a:rPr lang="en-US" sz="2300" dirty="0"/>
              <a:t> — exposure or misuse of customer information. </a:t>
            </a:r>
          </a:p>
          <a:p>
            <a:pPr>
              <a:buFont typeface="Arial" panose="020B0604020202020204" pitchFamily="34" charset="0"/>
              <a:buChar char="•"/>
            </a:pPr>
            <a:r>
              <a:rPr lang="en-US" sz="2300" b="1" dirty="0"/>
              <a:t>Technical risks</a:t>
            </a:r>
            <a:r>
              <a:rPr lang="en-US" sz="2300" dirty="0"/>
              <a:t> — system failures, bugs, or integration problems. </a:t>
            </a:r>
          </a:p>
          <a:p>
            <a:pPr>
              <a:buFont typeface="Arial" panose="020B0604020202020204" pitchFamily="34" charset="0"/>
              <a:buChar char="•"/>
            </a:pPr>
            <a:r>
              <a:rPr lang="en-US" sz="2300" b="1" dirty="0"/>
              <a:t>Operational risks</a:t>
            </a:r>
            <a:r>
              <a:rPr lang="en-US" sz="2300" dirty="0"/>
              <a:t> — disruptions to digital services. </a:t>
            </a:r>
          </a:p>
          <a:p>
            <a:pPr>
              <a:buFont typeface="Arial" panose="020B0604020202020204" pitchFamily="34" charset="0"/>
              <a:buChar char="•"/>
            </a:pPr>
            <a:r>
              <a:rPr lang="en-US" sz="2300" b="1" dirty="0"/>
              <a:t>Compliance risks</a:t>
            </a:r>
            <a:r>
              <a:rPr lang="en-US" sz="2300" dirty="0"/>
              <a:t> — failure to meet legal or regulatory requirements. </a:t>
            </a:r>
          </a:p>
          <a:p>
            <a:pPr>
              <a:buFont typeface="Arial" panose="020B0604020202020204" pitchFamily="34" charset="0"/>
              <a:buChar char="•"/>
            </a:pPr>
            <a:r>
              <a:rPr lang="en-US" sz="2300" b="1" dirty="0"/>
              <a:t>Project risks</a:t>
            </a:r>
            <a:r>
              <a:rPr lang="en-US" sz="2300" dirty="0"/>
              <a:t> — delays, budget problems, or changing requirements.</a:t>
            </a:r>
          </a:p>
        </p:txBody>
      </p:sp>
    </p:spTree>
    <p:extLst>
      <p:ext uri="{BB962C8B-B14F-4D97-AF65-F5344CB8AC3E}">
        <p14:creationId xmlns:p14="http://schemas.microsoft.com/office/powerpoint/2010/main" val="30525255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26D539-B42C-42D7-8C4E-19C6C9B5CD60}"/>
              </a:ext>
            </a:extLst>
          </p:cNvPr>
          <p:cNvSpPr txBox="1"/>
          <p:nvPr/>
        </p:nvSpPr>
        <p:spPr>
          <a:xfrm>
            <a:off x="603703" y="527447"/>
            <a:ext cx="6093618" cy="4832092"/>
          </a:xfrm>
          <a:prstGeom prst="rect">
            <a:avLst/>
          </a:prstGeom>
          <a:noFill/>
        </p:spPr>
        <p:txBody>
          <a:bodyPr wrap="square">
            <a:spAutoFit/>
          </a:bodyPr>
          <a:lstStyle/>
          <a:p>
            <a:r>
              <a:rPr lang="en-US" b="1" dirty="0"/>
              <a:t>9. Remote Agile Team Management</a:t>
            </a:r>
          </a:p>
          <a:p>
            <a:r>
              <a:rPr lang="en-US" dirty="0"/>
              <a:t>Remote work requires strong communication, digital tools, and clear workflows. Agile methodologies ensure structure through daily stand-ups, sprint reviews, and retrospectives. Technology supports remote coordination, maintaining productivity and collaboration despite physical distance. This approach enhances team flexibility and access to global talent.</a:t>
            </a:r>
          </a:p>
        </p:txBody>
      </p:sp>
      <p:sp>
        <p:nvSpPr>
          <p:cNvPr id="4" name="TextBox 3">
            <a:extLst>
              <a:ext uri="{FF2B5EF4-FFF2-40B4-BE49-F238E27FC236}">
                <a16:creationId xmlns:a16="http://schemas.microsoft.com/office/drawing/2014/main" id="{9B5B0260-E897-4339-A860-86C4081CD3C7}"/>
              </a:ext>
            </a:extLst>
          </p:cNvPr>
          <p:cNvSpPr txBox="1"/>
          <p:nvPr/>
        </p:nvSpPr>
        <p:spPr>
          <a:xfrm>
            <a:off x="7929563" y="527447"/>
            <a:ext cx="3525440" cy="2923877"/>
          </a:xfrm>
          <a:prstGeom prst="rect">
            <a:avLst/>
          </a:prstGeom>
          <a:noFill/>
        </p:spPr>
        <p:txBody>
          <a:bodyPr wrap="square">
            <a:spAutoFit/>
          </a:bodyPr>
          <a:lstStyle/>
          <a:p>
            <a:r>
              <a:rPr lang="en-US" sz="2300" dirty="0">
                <a:solidFill>
                  <a:srgbClr val="C00000"/>
                </a:solidFill>
              </a:rPr>
              <a:t>organizing and coordinating Agile teams whose members work from different locations while maintaining effective communication, collaboration, and continuous delivery.</a:t>
            </a:r>
            <a:endParaRPr lang="th-TH" sz="2300" dirty="0">
              <a:solidFill>
                <a:srgbClr val="C00000"/>
              </a:solidFill>
            </a:endParaRPr>
          </a:p>
        </p:txBody>
      </p:sp>
    </p:spTree>
    <p:extLst>
      <p:ext uri="{BB962C8B-B14F-4D97-AF65-F5344CB8AC3E}">
        <p14:creationId xmlns:p14="http://schemas.microsoft.com/office/powerpoint/2010/main" val="35330186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Scrum, Remote Teams, &amp; Success: Five Ways to Have All Three ...">
            <a:extLst>
              <a:ext uri="{FF2B5EF4-FFF2-40B4-BE49-F238E27FC236}">
                <a16:creationId xmlns:a16="http://schemas.microsoft.com/office/drawing/2014/main" id="{3A013A92-EC5F-4F06-9ECB-82DA25F1DA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438150"/>
            <a:ext cx="11430000" cy="598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0208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291E5C-4956-438A-A526-7DC41BF0B9ED}"/>
              </a:ext>
            </a:extLst>
          </p:cNvPr>
          <p:cNvSpPr txBox="1"/>
          <p:nvPr/>
        </p:nvSpPr>
        <p:spPr>
          <a:xfrm>
            <a:off x="403622" y="217677"/>
            <a:ext cx="11326415" cy="5047536"/>
          </a:xfrm>
          <a:prstGeom prst="rect">
            <a:avLst/>
          </a:prstGeom>
          <a:noFill/>
        </p:spPr>
        <p:txBody>
          <a:bodyPr wrap="square">
            <a:spAutoFit/>
          </a:bodyPr>
          <a:lstStyle/>
          <a:p>
            <a:r>
              <a:rPr lang="en-US" sz="2300" b="1" dirty="0"/>
              <a:t>Example:</a:t>
            </a:r>
            <a:endParaRPr lang="en-US" sz="2300" dirty="0"/>
          </a:p>
          <a:p>
            <a:r>
              <a:rPr lang="en-US" sz="2300" dirty="0"/>
              <a:t>A company is developing a </a:t>
            </a:r>
            <a:r>
              <a:rPr lang="en-US" sz="2300" b="1" dirty="0"/>
              <a:t>mobile banking application</a:t>
            </a:r>
            <a:r>
              <a:rPr lang="en-US" sz="2300" dirty="0"/>
              <a:t> with team members working in different locations. Developers work in Thailand, UX/UI designers work in Singapore, and software testers work in China.</a:t>
            </a:r>
          </a:p>
          <a:p>
            <a:r>
              <a:rPr lang="en-US" sz="2300" dirty="0"/>
              <a:t>The team uses </a:t>
            </a:r>
            <a:r>
              <a:rPr lang="en-US" sz="2300" dirty="0">
                <a:hlinkClick r:id="rId2"/>
              </a:rPr>
              <a:t>Microsoft Teams</a:t>
            </a:r>
            <a:r>
              <a:rPr lang="en-US" sz="2300" dirty="0"/>
              <a:t> for daily meetings, </a:t>
            </a:r>
            <a:r>
              <a:rPr lang="en-US" sz="2300" dirty="0">
                <a:hlinkClick r:id="rId3"/>
              </a:rPr>
              <a:t>Jira</a:t>
            </a:r>
            <a:r>
              <a:rPr lang="en-US" sz="2300" dirty="0"/>
              <a:t> for sprint and task management, and </a:t>
            </a:r>
            <a:r>
              <a:rPr lang="en-US" sz="2300" dirty="0">
                <a:hlinkClick r:id="rId4"/>
              </a:rPr>
              <a:t>GitHub</a:t>
            </a:r>
            <a:r>
              <a:rPr lang="en-US" sz="2300" dirty="0"/>
              <a:t> for software development collaboration. During each sprint, team members conduct </a:t>
            </a:r>
            <a:r>
              <a:rPr lang="en-US" sz="2300" b="1" dirty="0"/>
              <a:t>daily stand-ups, share progress, identify problems, and review completed work online</a:t>
            </a:r>
            <a:r>
              <a:rPr lang="en-US" sz="2300" dirty="0"/>
              <a:t>.</a:t>
            </a:r>
          </a:p>
          <a:p>
            <a:r>
              <a:rPr lang="en-US" sz="2300" dirty="0"/>
              <a:t>Remote Agile team management involves:</a:t>
            </a:r>
          </a:p>
          <a:p>
            <a:pPr>
              <a:buFont typeface="Arial" panose="020B0604020202020204" pitchFamily="34" charset="0"/>
              <a:buChar char="•"/>
            </a:pPr>
            <a:r>
              <a:rPr lang="en-US" sz="2300" b="1" dirty="0"/>
              <a:t>Regular communication</a:t>
            </a:r>
            <a:r>
              <a:rPr lang="en-US" sz="2300" dirty="0"/>
              <a:t> — conducting virtual stand-ups and sprint meetings. </a:t>
            </a:r>
          </a:p>
          <a:p>
            <a:pPr>
              <a:buFont typeface="Arial" panose="020B0604020202020204" pitchFamily="34" charset="0"/>
              <a:buChar char="•"/>
            </a:pPr>
            <a:r>
              <a:rPr lang="en-US" sz="2300" b="1" dirty="0"/>
              <a:t>Clear task allocation</a:t>
            </a:r>
            <a:r>
              <a:rPr lang="en-US" sz="2300" dirty="0"/>
              <a:t> — ensuring everyone understands their responsibilities. </a:t>
            </a:r>
          </a:p>
          <a:p>
            <a:pPr>
              <a:buFont typeface="Arial" panose="020B0604020202020204" pitchFamily="34" charset="0"/>
              <a:buChar char="•"/>
            </a:pPr>
            <a:r>
              <a:rPr lang="en-US" sz="2300" b="1" dirty="0"/>
              <a:t>Progress tracking</a:t>
            </a:r>
            <a:r>
              <a:rPr lang="en-US" sz="2300" dirty="0"/>
              <a:t> — monitoring sprint tasks and project milestones. </a:t>
            </a:r>
          </a:p>
          <a:p>
            <a:pPr>
              <a:buFont typeface="Arial" panose="020B0604020202020204" pitchFamily="34" charset="0"/>
              <a:buChar char="•"/>
            </a:pPr>
            <a:r>
              <a:rPr lang="en-US" sz="2300" b="1" dirty="0"/>
              <a:t>Digital collaboration</a:t>
            </a:r>
            <a:r>
              <a:rPr lang="en-US" sz="2300" dirty="0"/>
              <a:t> — sharing documents, code, and information online. </a:t>
            </a:r>
          </a:p>
          <a:p>
            <a:pPr>
              <a:buFont typeface="Arial" panose="020B0604020202020204" pitchFamily="34" charset="0"/>
              <a:buChar char="•"/>
            </a:pPr>
            <a:r>
              <a:rPr lang="en-US" sz="2300" b="1" dirty="0"/>
              <a:t>Time-zone coordination</a:t>
            </a:r>
            <a:r>
              <a:rPr lang="en-US" sz="2300" dirty="0"/>
              <a:t> — scheduling important activities at suitable times. </a:t>
            </a:r>
          </a:p>
          <a:p>
            <a:pPr>
              <a:buFont typeface="Arial" panose="020B0604020202020204" pitchFamily="34" charset="0"/>
              <a:buChar char="•"/>
            </a:pPr>
            <a:r>
              <a:rPr lang="en-US" sz="2300" b="1" dirty="0"/>
              <a:t>Team engagement</a:t>
            </a:r>
            <a:r>
              <a:rPr lang="en-US" sz="2300" dirty="0"/>
              <a:t> — maintaining trust and collaboration despite physical distance.</a:t>
            </a:r>
          </a:p>
        </p:txBody>
      </p:sp>
    </p:spTree>
    <p:extLst>
      <p:ext uri="{BB962C8B-B14F-4D97-AF65-F5344CB8AC3E}">
        <p14:creationId xmlns:p14="http://schemas.microsoft.com/office/powerpoint/2010/main" val="37258130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FC9A4C-1242-45A0-A3B7-AE6E8496A6A9}"/>
              </a:ext>
            </a:extLst>
          </p:cNvPr>
          <p:cNvSpPr txBox="1"/>
          <p:nvPr/>
        </p:nvSpPr>
        <p:spPr>
          <a:xfrm>
            <a:off x="728912" y="491959"/>
            <a:ext cx="6093618" cy="5262979"/>
          </a:xfrm>
          <a:prstGeom prst="rect">
            <a:avLst/>
          </a:prstGeom>
          <a:noFill/>
        </p:spPr>
        <p:txBody>
          <a:bodyPr wrap="square">
            <a:spAutoFit/>
          </a:bodyPr>
          <a:lstStyle/>
          <a:p>
            <a:r>
              <a:rPr lang="en-US" b="1" dirty="0"/>
              <a:t>10. Continuous Improvement through Digital Feedback Loops</a:t>
            </a:r>
          </a:p>
          <a:p>
            <a:r>
              <a:rPr lang="en-US" dirty="0"/>
              <a:t>Digital feedback loops gather real-time user data, performance metrics, and system events to refine features continuously. Agile teams use this information to make iterative enhancements and prioritize valuable tasks. Technology-enabled feedback improves user satisfaction, product quality, and overall project success in dynamic digital environments.</a:t>
            </a:r>
          </a:p>
        </p:txBody>
      </p:sp>
      <p:sp>
        <p:nvSpPr>
          <p:cNvPr id="4" name="TextBox 3">
            <a:extLst>
              <a:ext uri="{FF2B5EF4-FFF2-40B4-BE49-F238E27FC236}">
                <a16:creationId xmlns:a16="http://schemas.microsoft.com/office/drawing/2014/main" id="{8D78924B-D21D-4B99-94F8-FBA6E6A6634A}"/>
              </a:ext>
            </a:extLst>
          </p:cNvPr>
          <p:cNvSpPr txBox="1"/>
          <p:nvPr/>
        </p:nvSpPr>
        <p:spPr>
          <a:xfrm>
            <a:off x="8472488" y="505123"/>
            <a:ext cx="3296840" cy="2923877"/>
          </a:xfrm>
          <a:prstGeom prst="rect">
            <a:avLst/>
          </a:prstGeom>
          <a:noFill/>
        </p:spPr>
        <p:txBody>
          <a:bodyPr wrap="square">
            <a:spAutoFit/>
          </a:bodyPr>
          <a:lstStyle/>
          <a:p>
            <a:r>
              <a:rPr lang="en-US" sz="2300" dirty="0">
                <a:solidFill>
                  <a:srgbClr val="C00000"/>
                </a:solidFill>
              </a:rPr>
              <a:t>using continuously collected digital data and user feedback to identify problems, make improvements, and evaluate whether those improvements are successful.</a:t>
            </a:r>
            <a:endParaRPr lang="th-TH" sz="2300" dirty="0">
              <a:solidFill>
                <a:srgbClr val="C00000"/>
              </a:solidFill>
            </a:endParaRPr>
          </a:p>
        </p:txBody>
      </p:sp>
    </p:spTree>
    <p:extLst>
      <p:ext uri="{BB962C8B-B14F-4D97-AF65-F5344CB8AC3E}">
        <p14:creationId xmlns:p14="http://schemas.microsoft.com/office/powerpoint/2010/main" val="336193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ontinuous Improvement Feedback Loop With Smart Manufacturing">
            <a:extLst>
              <a:ext uri="{FF2B5EF4-FFF2-40B4-BE49-F238E27FC236}">
                <a16:creationId xmlns:a16="http://schemas.microsoft.com/office/drawing/2014/main" id="{B6DFC612-2E5D-478C-9E28-38F745287B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7638" y="1309688"/>
            <a:ext cx="4276725" cy="4238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16502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77D154-F50B-4D6E-BAB8-B4A52F7C5E7D}"/>
              </a:ext>
            </a:extLst>
          </p:cNvPr>
          <p:cNvSpPr txBox="1"/>
          <p:nvPr/>
        </p:nvSpPr>
        <p:spPr>
          <a:xfrm>
            <a:off x="403623" y="527477"/>
            <a:ext cx="11226402" cy="6109365"/>
          </a:xfrm>
          <a:prstGeom prst="rect">
            <a:avLst/>
          </a:prstGeom>
          <a:noFill/>
        </p:spPr>
        <p:txBody>
          <a:bodyPr wrap="square">
            <a:spAutoFit/>
          </a:bodyPr>
          <a:lstStyle/>
          <a:p>
            <a:r>
              <a:rPr lang="en-US" sz="2300" b="1" dirty="0"/>
              <a:t>Example:</a:t>
            </a:r>
            <a:endParaRPr lang="en-US" sz="2300" dirty="0"/>
          </a:p>
          <a:p>
            <a:r>
              <a:rPr lang="en-US" sz="2300" dirty="0"/>
              <a:t>A company operates a </a:t>
            </a:r>
            <a:r>
              <a:rPr lang="en-US" sz="2300" b="1" dirty="0"/>
              <a:t>mobile banking application</a:t>
            </a:r>
            <a:r>
              <a:rPr lang="en-US" sz="2300" dirty="0"/>
              <a:t>. After releasing a new money-transfer feature, the system continuously collects information such as </a:t>
            </a:r>
            <a:r>
              <a:rPr lang="en-US" sz="2300" b="1" dirty="0"/>
              <a:t>user feedback, transaction errors, completion time, customer complaints, and application performance</a:t>
            </a:r>
            <a:r>
              <a:rPr lang="en-US" sz="2300" dirty="0"/>
              <a:t>.</a:t>
            </a:r>
          </a:p>
          <a:p>
            <a:r>
              <a:rPr lang="en-US" sz="2300" dirty="0"/>
              <a:t>For example, analytics show that </a:t>
            </a:r>
            <a:r>
              <a:rPr lang="en-US" sz="2300" b="1" dirty="0"/>
              <a:t>30% of users leave the transfer process at the confirmation page</a:t>
            </a:r>
            <a:r>
              <a:rPr lang="en-US" sz="2300" dirty="0"/>
              <a:t>. The development team investigates and discovers that the confirmation page is confusing. During the next Agile sprint, the team simplifies the page and releases the improved version. New data then shows that the abandonment rate has decreased to </a:t>
            </a:r>
            <a:r>
              <a:rPr lang="en-US" sz="2300" b="1" dirty="0"/>
              <a:t>10%</a:t>
            </a:r>
            <a:r>
              <a:rPr lang="en-US" sz="2300" dirty="0"/>
              <a:t>.</a:t>
            </a:r>
          </a:p>
          <a:p>
            <a:r>
              <a:rPr lang="en-US" sz="2300" dirty="0"/>
              <a:t>This creates a </a:t>
            </a:r>
            <a:r>
              <a:rPr lang="en-US" sz="2300" b="1" dirty="0"/>
              <a:t>digital feedback loop</a:t>
            </a:r>
            <a:r>
              <a:rPr lang="en-US" sz="2300" dirty="0"/>
              <a:t>, because the results of one improvement become new information for the next improvement.</a:t>
            </a:r>
          </a:p>
          <a:p>
            <a:r>
              <a:rPr lang="en-US" sz="2300" dirty="0"/>
              <a:t>Digital feedback loops support:</a:t>
            </a:r>
          </a:p>
          <a:p>
            <a:pPr>
              <a:buFont typeface="Arial" panose="020B0604020202020204" pitchFamily="34" charset="0"/>
              <a:buChar char="•"/>
            </a:pPr>
            <a:r>
              <a:rPr lang="en-US" sz="2300" b="1" dirty="0"/>
              <a:t>Continuous monitoring</a:t>
            </a:r>
            <a:r>
              <a:rPr lang="en-US" sz="2300" dirty="0"/>
              <a:t> — collecting performance and user data regularly. </a:t>
            </a:r>
          </a:p>
          <a:p>
            <a:pPr>
              <a:buFont typeface="Arial" panose="020B0604020202020204" pitchFamily="34" charset="0"/>
              <a:buChar char="•"/>
            </a:pPr>
            <a:r>
              <a:rPr lang="en-US" sz="2300" b="1" dirty="0"/>
              <a:t>User feedback</a:t>
            </a:r>
            <a:r>
              <a:rPr lang="en-US" sz="2300" dirty="0"/>
              <a:t> — understanding customer needs and problems. </a:t>
            </a:r>
          </a:p>
          <a:p>
            <a:pPr>
              <a:buFont typeface="Arial" panose="020B0604020202020204" pitchFamily="34" charset="0"/>
              <a:buChar char="•"/>
            </a:pPr>
            <a:r>
              <a:rPr lang="en-US" sz="2300" b="1" dirty="0"/>
              <a:t>Rapid problem identification</a:t>
            </a:r>
            <a:r>
              <a:rPr lang="en-US" sz="2300" dirty="0"/>
              <a:t> — detecting issues quickly. </a:t>
            </a:r>
          </a:p>
          <a:p>
            <a:pPr>
              <a:buFont typeface="Arial" panose="020B0604020202020204" pitchFamily="34" charset="0"/>
              <a:buChar char="•"/>
            </a:pPr>
            <a:r>
              <a:rPr lang="en-US" sz="2300" b="1" dirty="0"/>
              <a:t>Data-driven decisions</a:t>
            </a:r>
            <a:r>
              <a:rPr lang="en-US" sz="2300" dirty="0"/>
              <a:t> — making improvements based on evidence. </a:t>
            </a:r>
          </a:p>
          <a:p>
            <a:pPr>
              <a:buFont typeface="Arial" panose="020B0604020202020204" pitchFamily="34" charset="0"/>
              <a:buChar char="•"/>
            </a:pPr>
            <a:r>
              <a:rPr lang="en-US" sz="2300" b="1" dirty="0"/>
              <a:t>Iterative improvement</a:t>
            </a:r>
            <a:r>
              <a:rPr lang="en-US" sz="2300" dirty="0"/>
              <a:t> — making small improvements repeatedly. </a:t>
            </a:r>
          </a:p>
          <a:p>
            <a:pPr>
              <a:buFont typeface="Arial" panose="020B0604020202020204" pitchFamily="34" charset="0"/>
              <a:buChar char="•"/>
            </a:pPr>
            <a:r>
              <a:rPr lang="en-US" sz="2300" b="1" dirty="0"/>
              <a:t>Performance measurement</a:t>
            </a:r>
            <a:r>
              <a:rPr lang="en-US" sz="2300" dirty="0"/>
              <a:t> — determining whether changes actually work.</a:t>
            </a:r>
          </a:p>
        </p:txBody>
      </p:sp>
    </p:spTree>
    <p:extLst>
      <p:ext uri="{BB962C8B-B14F-4D97-AF65-F5344CB8AC3E}">
        <p14:creationId xmlns:p14="http://schemas.microsoft.com/office/powerpoint/2010/main" val="20319456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23E07C-C3B3-42CF-9659-2EB27AF3F169}"/>
              </a:ext>
            </a:extLst>
          </p:cNvPr>
          <p:cNvSpPr txBox="1"/>
          <p:nvPr/>
        </p:nvSpPr>
        <p:spPr>
          <a:xfrm>
            <a:off x="4011810" y="2613392"/>
            <a:ext cx="4168380" cy="1631216"/>
          </a:xfrm>
          <a:prstGeom prst="rect">
            <a:avLst/>
          </a:prstGeom>
          <a:noFill/>
        </p:spPr>
        <p:txBody>
          <a:bodyPr wrap="square">
            <a:spAutoFit/>
          </a:bodyPr>
          <a:lstStyle/>
          <a:p>
            <a:r>
              <a:rPr lang="en-US" sz="10000" b="1" dirty="0"/>
              <a:t>Thanks</a:t>
            </a:r>
            <a:endParaRPr lang="en-US" sz="10000" dirty="0"/>
          </a:p>
        </p:txBody>
      </p:sp>
    </p:spTree>
    <p:extLst>
      <p:ext uri="{BB962C8B-B14F-4D97-AF65-F5344CB8AC3E}">
        <p14:creationId xmlns:p14="http://schemas.microsoft.com/office/powerpoint/2010/main" val="75001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TotalTime>
  <Words>2715</Words>
  <Application>Microsoft Office PowerPoint</Application>
  <PresentationFormat>Widescreen</PresentationFormat>
  <Paragraphs>155</Paragraphs>
  <Slides>42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Calibri Light</vt:lpstr>
      <vt:lpstr>TH SarabunPSK</vt:lpstr>
      <vt:lpstr>Times New Roman</vt:lpstr>
      <vt:lpstr>Office Theme</vt:lpstr>
      <vt:lpstr>Chapter 10 Technology Digital Agile Project Management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Core AI technologies fueling transformation</dc:title>
  <dc:creator>Adtha Lawanna</dc:creator>
  <cp:lastModifiedBy>Adtha Lawanna</cp:lastModifiedBy>
  <cp:revision>41</cp:revision>
  <dcterms:created xsi:type="dcterms:W3CDTF">2025-11-15T02:26:25Z</dcterms:created>
  <dcterms:modified xsi:type="dcterms:W3CDTF">2026-09-16T11:13:13Z</dcterms:modified>
</cp:coreProperties>
</file>