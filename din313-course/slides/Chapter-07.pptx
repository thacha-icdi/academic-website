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0" r:id="rId7"/>
    <p:sldId id="261" r:id="rId8"/>
    <p:sldId id="262" r:id="rId9"/>
    <p:sldId id="263" r:id="rId10"/>
    <p:sldId id="264" r:id="rId11"/>
    <p:sldId id="265" r:id="rId12"/>
    <p:sldId id="266" r:id="rId13"/>
    <p:sldId id="267" r:id="rId14"/>
    <p:sldId id="270" r:id="rId15"/>
    <p:sldId id="268" r:id="rId16"/>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82" d="100"/>
          <a:sy n="82" d="100"/>
        </p:scale>
        <p:origin x="13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06/08/69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06/08/69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7 </a:t>
            </a:r>
            <a:r>
              <a:rPr lang="en-US" sz="8000" b="1" dirty="0">
                <a:effectLst/>
                <a:latin typeface="TH SarabunPSK" panose="020B0500040200020003" pitchFamily="34" charset="-34"/>
                <a:ea typeface="Calibri" panose="020F0502020204030204" pitchFamily="34" charset="0"/>
              </a:rPr>
              <a:t>Prototyping for design thinking in digital transformation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1815882"/>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investigate how rapid prototyping techniques enhance solution validation, stakeholder engagement, and iterative improvement within digital transformation initiatives.</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471556" y="383660"/>
            <a:ext cx="6093618" cy="5262979"/>
          </a:xfrm>
          <a:prstGeom prst="rect">
            <a:avLst/>
          </a:prstGeom>
          <a:noFill/>
        </p:spPr>
        <p:txBody>
          <a:bodyPr wrap="square">
            <a:spAutoFit/>
          </a:bodyPr>
          <a:lstStyle/>
          <a:p>
            <a:pPr algn="just"/>
            <a:r>
              <a:rPr lang="en-US" b="1" dirty="0"/>
              <a:t>1. </a:t>
            </a:r>
            <a:r>
              <a:rPr lang="en-US" b="1" dirty="0">
                <a:highlight>
                  <a:srgbClr val="FFFF00"/>
                </a:highlight>
              </a:rPr>
              <a:t>Role of Prototyping </a:t>
            </a:r>
            <a:r>
              <a:rPr lang="en-US" b="1" dirty="0"/>
              <a:t>in Design Thinking</a:t>
            </a:r>
          </a:p>
          <a:p>
            <a:pPr algn="just"/>
            <a:r>
              <a:rPr lang="en-US" dirty="0">
                <a:solidFill>
                  <a:srgbClr val="FF0000"/>
                </a:solidFill>
              </a:rPr>
              <a:t>Prototyping transforms abstract ideas into tangible representations </a:t>
            </a:r>
            <a:r>
              <a:rPr lang="en-US" dirty="0"/>
              <a:t>that teams can evaluate early in the design process. It helps reduce uncertainty, reveal user needs, and validate assumptions before costly development begins. Prototypes support rapid learning, encourage experimentation, and ensure solutions align closely with user expectations during digital transformation initiatives.</a:t>
            </a:r>
          </a:p>
        </p:txBody>
      </p:sp>
      <p:pic>
        <p:nvPicPr>
          <p:cNvPr id="1026" name="Picture 2" descr="Design Thinking Prototype Stage ...">
            <a:extLst>
              <a:ext uri="{FF2B5EF4-FFF2-40B4-BE49-F238E27FC236}">
                <a16:creationId xmlns:a16="http://schemas.microsoft.com/office/drawing/2014/main" id="{802BCC55-9F90-A6B4-6ACB-41C30C11B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5508" y="383660"/>
            <a:ext cx="2847975" cy="16097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sign Thinking: Prototyping (2016 ...">
            <a:extLst>
              <a:ext uri="{FF2B5EF4-FFF2-40B4-BE49-F238E27FC236}">
                <a16:creationId xmlns:a16="http://schemas.microsoft.com/office/drawing/2014/main" id="{5500DB62-02E5-C405-12F9-651DA2B1E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745" y="2215049"/>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5 Stages in the Design Thinking Process ...">
            <a:extLst>
              <a:ext uri="{FF2B5EF4-FFF2-40B4-BE49-F238E27FC236}">
                <a16:creationId xmlns:a16="http://schemas.microsoft.com/office/drawing/2014/main" id="{2B98DB27-7B72-54EF-55B7-E4F633BD1B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1024" y="4187877"/>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469893" y="607295"/>
            <a:ext cx="6093618" cy="4832092"/>
          </a:xfrm>
          <a:prstGeom prst="rect">
            <a:avLst/>
          </a:prstGeom>
          <a:noFill/>
        </p:spPr>
        <p:txBody>
          <a:bodyPr wrap="square">
            <a:spAutoFit/>
          </a:bodyPr>
          <a:lstStyle/>
          <a:p>
            <a:pPr algn="just"/>
            <a:r>
              <a:rPr lang="en-US" b="1" dirty="0"/>
              <a:t>2. </a:t>
            </a:r>
            <a:r>
              <a:rPr lang="en-US" b="1" dirty="0">
                <a:highlight>
                  <a:srgbClr val="FFFF00"/>
                </a:highlight>
              </a:rPr>
              <a:t>Low-Fidelity </a:t>
            </a:r>
            <a:r>
              <a:rPr lang="en-US" b="1" dirty="0"/>
              <a:t>vs. </a:t>
            </a:r>
            <a:r>
              <a:rPr lang="en-US" b="1" dirty="0">
                <a:highlight>
                  <a:srgbClr val="00FF00"/>
                </a:highlight>
              </a:rPr>
              <a:t>High-Fidelity </a:t>
            </a:r>
            <a:r>
              <a:rPr lang="en-US" b="1" dirty="0"/>
              <a:t>Prototypes</a:t>
            </a:r>
          </a:p>
          <a:p>
            <a:pPr algn="just"/>
            <a:r>
              <a:rPr lang="en-US" dirty="0"/>
              <a:t>Low-fidelity prototypes such as </a:t>
            </a:r>
            <a:r>
              <a:rPr lang="en-US" u="sng" dirty="0"/>
              <a:t>sketches or paper mockups</a:t>
            </a:r>
            <a:r>
              <a:rPr lang="en-US" dirty="0"/>
              <a:t> allow teams to explore ideas quickly and cheaply. High-fidelity prototypes replicate </a:t>
            </a:r>
            <a:r>
              <a:rPr lang="en-US" u="sng" dirty="0"/>
              <a:t>real interfaces and functions</a:t>
            </a:r>
            <a:r>
              <a:rPr lang="en-US" dirty="0"/>
              <a:t> for deeper testing. Knowing when to use each type helps organizations balance speed and accuracy, accelerating decision-making in digital transformation projects.</a:t>
            </a:r>
          </a:p>
        </p:txBody>
      </p:sp>
      <p:sp>
        <p:nvSpPr>
          <p:cNvPr id="3" name="TextBox 2">
            <a:extLst>
              <a:ext uri="{FF2B5EF4-FFF2-40B4-BE49-F238E27FC236}">
                <a16:creationId xmlns:a16="http://schemas.microsoft.com/office/drawing/2014/main" id="{366DF17C-3B94-C91A-A019-8CDF3406E2ED}"/>
              </a:ext>
            </a:extLst>
          </p:cNvPr>
          <p:cNvSpPr txBox="1"/>
          <p:nvPr/>
        </p:nvSpPr>
        <p:spPr>
          <a:xfrm>
            <a:off x="7677202" y="589710"/>
            <a:ext cx="2580489" cy="1815882"/>
          </a:xfrm>
          <a:prstGeom prst="rect">
            <a:avLst/>
          </a:prstGeom>
          <a:noFill/>
        </p:spPr>
        <p:txBody>
          <a:bodyPr wrap="square">
            <a:spAutoFit/>
          </a:bodyPr>
          <a:lstStyle/>
          <a:p>
            <a:r>
              <a:rPr lang="th-TH" dirty="0">
                <a:highlight>
                  <a:srgbClr val="FFFF00"/>
                </a:highlight>
              </a:rPr>
              <a:t>https://www.youtube.com/watch?v=yafaGNFu8Eg</a:t>
            </a:r>
          </a:p>
        </p:txBody>
      </p:sp>
      <p:sp>
        <p:nvSpPr>
          <p:cNvPr id="6" name="TextBox 5">
            <a:extLst>
              <a:ext uri="{FF2B5EF4-FFF2-40B4-BE49-F238E27FC236}">
                <a16:creationId xmlns:a16="http://schemas.microsoft.com/office/drawing/2014/main" id="{3D102A6C-F77D-CDB3-03E1-3C557256E51A}"/>
              </a:ext>
            </a:extLst>
          </p:cNvPr>
          <p:cNvSpPr txBox="1"/>
          <p:nvPr/>
        </p:nvSpPr>
        <p:spPr>
          <a:xfrm>
            <a:off x="7525507" y="2906110"/>
            <a:ext cx="3587262" cy="1384995"/>
          </a:xfrm>
          <a:prstGeom prst="rect">
            <a:avLst/>
          </a:prstGeom>
          <a:noFill/>
        </p:spPr>
        <p:txBody>
          <a:bodyPr wrap="square">
            <a:spAutoFit/>
          </a:bodyPr>
          <a:lstStyle/>
          <a:p>
            <a:r>
              <a:rPr lang="en-US" dirty="0">
                <a:highlight>
                  <a:srgbClr val="00FF00"/>
                </a:highlight>
              </a:rPr>
              <a:t>https://www.youtube.com/watch?v=rfjHV0sas50</a:t>
            </a:r>
            <a:endParaRPr lang="th-TH" dirty="0">
              <a:highlight>
                <a:srgbClr val="00FF00"/>
              </a:highlight>
            </a:endParaRPr>
          </a:p>
        </p:txBody>
      </p:sp>
    </p:spTree>
    <p:extLst>
      <p:ext uri="{BB962C8B-B14F-4D97-AF65-F5344CB8AC3E}">
        <p14:creationId xmlns:p14="http://schemas.microsoft.com/office/powerpoint/2010/main" val="545943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E12C17-7BA1-3D9D-F939-3D3BC7B70D90}"/>
              </a:ext>
            </a:extLst>
          </p:cNvPr>
          <p:cNvPicPr>
            <a:picLocks noChangeAspect="1"/>
          </p:cNvPicPr>
          <p:nvPr/>
        </p:nvPicPr>
        <p:blipFill>
          <a:blip r:embed="rId2"/>
          <a:stretch>
            <a:fillRect/>
          </a:stretch>
        </p:blipFill>
        <p:spPr>
          <a:xfrm>
            <a:off x="342203" y="648182"/>
            <a:ext cx="5582709" cy="4899932"/>
          </a:xfrm>
          <a:prstGeom prst="rect">
            <a:avLst/>
          </a:prstGeom>
        </p:spPr>
      </p:pic>
      <p:pic>
        <p:nvPicPr>
          <p:cNvPr id="3" name="Picture 2">
            <a:extLst>
              <a:ext uri="{FF2B5EF4-FFF2-40B4-BE49-F238E27FC236}">
                <a16:creationId xmlns:a16="http://schemas.microsoft.com/office/drawing/2014/main" id="{31D6929F-AA06-68E4-5F0E-2652A79D5867}"/>
              </a:ext>
            </a:extLst>
          </p:cNvPr>
          <p:cNvPicPr>
            <a:picLocks noChangeAspect="1"/>
          </p:cNvPicPr>
          <p:nvPr/>
        </p:nvPicPr>
        <p:blipFill>
          <a:blip r:embed="rId3"/>
          <a:stretch>
            <a:fillRect/>
          </a:stretch>
        </p:blipFill>
        <p:spPr>
          <a:xfrm>
            <a:off x="6191332" y="444036"/>
            <a:ext cx="5441035" cy="5567020"/>
          </a:xfrm>
          <a:prstGeom prst="rect">
            <a:avLst/>
          </a:prstGeom>
        </p:spPr>
      </p:pic>
    </p:spTree>
    <p:extLst>
      <p:ext uri="{BB962C8B-B14F-4D97-AF65-F5344CB8AC3E}">
        <p14:creationId xmlns:p14="http://schemas.microsoft.com/office/powerpoint/2010/main" val="720036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571028" y="271082"/>
            <a:ext cx="4735490" cy="6124754"/>
          </a:xfrm>
          <a:prstGeom prst="rect">
            <a:avLst/>
          </a:prstGeom>
          <a:noFill/>
        </p:spPr>
        <p:txBody>
          <a:bodyPr wrap="square">
            <a:spAutoFit/>
          </a:bodyPr>
          <a:lstStyle/>
          <a:p>
            <a:pPr algn="just"/>
            <a:r>
              <a:rPr lang="en-US" b="1" dirty="0"/>
              <a:t>3. User-Centered Prototyping</a:t>
            </a:r>
          </a:p>
          <a:p>
            <a:pPr algn="just"/>
            <a:r>
              <a:rPr lang="en-US" dirty="0"/>
              <a:t>User-centered prototyping focuses on </a:t>
            </a:r>
            <a:r>
              <a:rPr lang="en-US" u="sng" dirty="0"/>
              <a:t>creating early models based on actual user behaviors, expectations, and feedback.</a:t>
            </a:r>
            <a:r>
              <a:rPr lang="en-US" dirty="0"/>
              <a:t> Through direct testing sessions, designers observe pain points and refine concepts iteratively. This approach ensures that digital solutions remain relevant, accessible, and meaningful for target audiences in transformation efforts.</a:t>
            </a:r>
          </a:p>
        </p:txBody>
      </p:sp>
      <p:pic>
        <p:nvPicPr>
          <p:cNvPr id="2" name="Picture 1">
            <a:extLst>
              <a:ext uri="{FF2B5EF4-FFF2-40B4-BE49-F238E27FC236}">
                <a16:creationId xmlns:a16="http://schemas.microsoft.com/office/drawing/2014/main" id="{7DBECC91-5F44-B5A2-1849-4DCA1A18129C}"/>
              </a:ext>
            </a:extLst>
          </p:cNvPr>
          <p:cNvPicPr>
            <a:picLocks noChangeAspect="1"/>
          </p:cNvPicPr>
          <p:nvPr/>
        </p:nvPicPr>
        <p:blipFill>
          <a:blip r:embed="rId2"/>
          <a:srcRect b="4034"/>
          <a:stretch>
            <a:fillRect/>
          </a:stretch>
        </p:blipFill>
        <p:spPr>
          <a:xfrm>
            <a:off x="5667016" y="489137"/>
            <a:ext cx="5953956" cy="4232766"/>
          </a:xfrm>
          <a:prstGeom prst="rect">
            <a:avLst/>
          </a:prstGeom>
        </p:spPr>
      </p:pic>
    </p:spTree>
    <p:extLst>
      <p:ext uri="{BB962C8B-B14F-4D97-AF65-F5344CB8AC3E}">
        <p14:creationId xmlns:p14="http://schemas.microsoft.com/office/powerpoint/2010/main" val="234209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4401205"/>
          </a:xfrm>
          <a:prstGeom prst="rect">
            <a:avLst/>
          </a:prstGeom>
          <a:noFill/>
        </p:spPr>
        <p:txBody>
          <a:bodyPr wrap="square">
            <a:spAutoFit/>
          </a:bodyPr>
          <a:lstStyle/>
          <a:p>
            <a:pPr algn="just"/>
            <a:r>
              <a:rPr lang="en-US" b="1" dirty="0"/>
              <a:t>4. Iterative Experimentation</a:t>
            </a:r>
          </a:p>
          <a:p>
            <a:pPr algn="just"/>
            <a:r>
              <a:rPr lang="en-US" dirty="0"/>
              <a:t>Prototyping supports continuous improvement through iterative cycles of build–test–learn. Each iteration provides insights into what works and what needs revision. This process reduces risk, improves solution quality, and ensures alignment between business goals and user needs throughout digital transformation.</a:t>
            </a:r>
          </a:p>
        </p:txBody>
      </p:sp>
      <p:pic>
        <p:nvPicPr>
          <p:cNvPr id="2050" name="Picture 2">
            <a:extLst>
              <a:ext uri="{FF2B5EF4-FFF2-40B4-BE49-F238E27FC236}">
                <a16:creationId xmlns:a16="http://schemas.microsoft.com/office/drawing/2014/main" id="{997D27E6-61D5-C053-0B01-E4409237AE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0801" y="384304"/>
            <a:ext cx="4275254" cy="282651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hat is Iterative Development and Why ...">
            <a:extLst>
              <a:ext uri="{FF2B5EF4-FFF2-40B4-BE49-F238E27FC236}">
                <a16:creationId xmlns:a16="http://schemas.microsoft.com/office/drawing/2014/main" id="{502D44D0-ED26-7B74-6B9C-3F4BE49AC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0801" y="3647186"/>
            <a:ext cx="4400514" cy="2495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645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458885" y="365973"/>
            <a:ext cx="11177794" cy="1938992"/>
          </a:xfrm>
          <a:prstGeom prst="rect">
            <a:avLst/>
          </a:prstGeom>
          <a:noFill/>
        </p:spPr>
        <p:txBody>
          <a:bodyPr wrap="square">
            <a:spAutoFit/>
          </a:bodyPr>
          <a:lstStyle/>
          <a:p>
            <a:pPr algn="just"/>
            <a:r>
              <a:rPr lang="en-US" sz="2400" b="1" dirty="0"/>
              <a:t>5. Rapid Prototyping Tools</a:t>
            </a:r>
          </a:p>
          <a:p>
            <a:pPr algn="just"/>
            <a:r>
              <a:rPr lang="en-US" sz="2400" dirty="0"/>
              <a:t>Digital tools such as Figma, Adobe XD, and </a:t>
            </a:r>
            <a:r>
              <a:rPr lang="en-US" sz="2400" dirty="0" err="1"/>
              <a:t>ProtoPie</a:t>
            </a:r>
            <a:r>
              <a:rPr lang="en-US" sz="2400" dirty="0"/>
              <a:t> speed up prototyping by enabling teams to create interactive interfaces quickly. These platforms facilitate collaboration, real-time updates, and user testing, making them essential in modern digital transformation projects that require speed and agility.</a:t>
            </a:r>
          </a:p>
        </p:txBody>
      </p:sp>
      <p:pic>
        <p:nvPicPr>
          <p:cNvPr id="3074" name="Picture 2" descr="A rapid guide to rapid prototyping ...">
            <a:extLst>
              <a:ext uri="{FF2B5EF4-FFF2-40B4-BE49-F238E27FC236}">
                <a16:creationId xmlns:a16="http://schemas.microsoft.com/office/drawing/2014/main" id="{A8CC1269-70F4-CDC4-40F8-1478E0C3E6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5688" y="2785968"/>
            <a:ext cx="2189640" cy="164011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 Rapid Prototyping, what is Rapid Prototyping, Rapid Prototype, what is Rapid Prototype, What is a Prototyping, Rapid prototyping steps, rapid prototyping process, Example of Rapid Prototyping, Applications of Rapid Prototyping">
            <a:extLst>
              <a:ext uri="{FF2B5EF4-FFF2-40B4-BE49-F238E27FC236}">
                <a16:creationId xmlns:a16="http://schemas.microsoft.com/office/drawing/2014/main" id="{1194F48D-0B5B-7188-45E4-84E1008B0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885" y="2785968"/>
            <a:ext cx="7257148" cy="3706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413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519270" y="340094"/>
            <a:ext cx="11342878" cy="2677656"/>
          </a:xfrm>
          <a:prstGeom prst="rect">
            <a:avLst/>
          </a:prstGeom>
          <a:noFill/>
        </p:spPr>
        <p:txBody>
          <a:bodyPr wrap="square">
            <a:spAutoFit/>
          </a:bodyPr>
          <a:lstStyle/>
          <a:p>
            <a:pPr algn="just"/>
            <a:r>
              <a:rPr lang="en-US" b="1" dirty="0"/>
              <a:t>6. Prototyping for Service Innovation</a:t>
            </a:r>
          </a:p>
          <a:p>
            <a:pPr algn="just"/>
            <a:r>
              <a:rPr lang="en-US" dirty="0"/>
              <a:t>Prototyping is not limited to products or interfaces; it also applies to digital services. </a:t>
            </a:r>
            <a:r>
              <a:rPr lang="en-US" u="sng" dirty="0"/>
              <a:t>Service blueprints, customer journey simulations, and role-playing enable organizations to visualize service delivery</a:t>
            </a:r>
            <a:r>
              <a:rPr lang="en-US" dirty="0"/>
              <a:t>. This helps refine workflows, identify bottlenecks, and create improved service experiences during digital transformation.</a:t>
            </a:r>
          </a:p>
        </p:txBody>
      </p:sp>
      <p:pic>
        <p:nvPicPr>
          <p:cNvPr id="2" name="Picture 1">
            <a:extLst>
              <a:ext uri="{FF2B5EF4-FFF2-40B4-BE49-F238E27FC236}">
                <a16:creationId xmlns:a16="http://schemas.microsoft.com/office/drawing/2014/main" id="{3CE413A3-7A56-7F76-7DB9-26138209E503}"/>
              </a:ext>
            </a:extLst>
          </p:cNvPr>
          <p:cNvPicPr>
            <a:picLocks noChangeAspect="1"/>
          </p:cNvPicPr>
          <p:nvPr/>
        </p:nvPicPr>
        <p:blipFill>
          <a:blip r:embed="rId2"/>
          <a:stretch>
            <a:fillRect/>
          </a:stretch>
        </p:blipFill>
        <p:spPr>
          <a:xfrm>
            <a:off x="2588365" y="3088427"/>
            <a:ext cx="6839905" cy="3429479"/>
          </a:xfrm>
          <a:prstGeom prst="rect">
            <a:avLst/>
          </a:prstGeom>
        </p:spPr>
      </p:pic>
    </p:spTree>
    <p:extLst>
      <p:ext uri="{BB962C8B-B14F-4D97-AF65-F5344CB8AC3E}">
        <p14:creationId xmlns:p14="http://schemas.microsoft.com/office/powerpoint/2010/main" val="3687954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537332" y="348720"/>
            <a:ext cx="5049276" cy="6124754"/>
          </a:xfrm>
          <a:prstGeom prst="rect">
            <a:avLst/>
          </a:prstGeom>
          <a:noFill/>
        </p:spPr>
        <p:txBody>
          <a:bodyPr wrap="square">
            <a:spAutoFit/>
          </a:bodyPr>
          <a:lstStyle/>
          <a:p>
            <a:pPr algn="just"/>
            <a:r>
              <a:rPr lang="en-US" b="1" dirty="0"/>
              <a:t>7. Stakeholder Engagement Through Prototypes</a:t>
            </a:r>
          </a:p>
          <a:p>
            <a:pPr algn="just"/>
            <a:r>
              <a:rPr lang="en-US" dirty="0"/>
              <a:t>Prototypes act as communication tools that help stakeholders understand proposed solutions clearly. They reduce ambiguity, facilitate collaboration, and support informed decision-making. Engaging stakeholders early through prototypes increases alignment, reduces resistance, and accelerates transformation adoption across the organization.</a:t>
            </a:r>
          </a:p>
        </p:txBody>
      </p:sp>
      <p:pic>
        <p:nvPicPr>
          <p:cNvPr id="2" name="Picture 1">
            <a:extLst>
              <a:ext uri="{FF2B5EF4-FFF2-40B4-BE49-F238E27FC236}">
                <a16:creationId xmlns:a16="http://schemas.microsoft.com/office/drawing/2014/main" id="{9BC117E1-3237-2814-A787-F4F948EF1D3F}"/>
              </a:ext>
            </a:extLst>
          </p:cNvPr>
          <p:cNvPicPr>
            <a:picLocks noChangeAspect="1"/>
          </p:cNvPicPr>
          <p:nvPr/>
        </p:nvPicPr>
        <p:blipFill>
          <a:blip r:embed="rId2"/>
          <a:stretch>
            <a:fillRect/>
          </a:stretch>
        </p:blipFill>
        <p:spPr>
          <a:xfrm>
            <a:off x="6001660" y="548849"/>
            <a:ext cx="5274625" cy="3484532"/>
          </a:xfrm>
          <a:prstGeom prst="rect">
            <a:avLst/>
          </a:prstGeom>
        </p:spPr>
      </p:pic>
    </p:spTree>
    <p:extLst>
      <p:ext uri="{BB962C8B-B14F-4D97-AF65-F5344CB8AC3E}">
        <p14:creationId xmlns:p14="http://schemas.microsoft.com/office/powerpoint/2010/main" val="185755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426760" y="366459"/>
            <a:ext cx="6093618" cy="3970318"/>
          </a:xfrm>
          <a:prstGeom prst="rect">
            <a:avLst/>
          </a:prstGeom>
          <a:noFill/>
        </p:spPr>
        <p:txBody>
          <a:bodyPr wrap="square">
            <a:spAutoFit/>
          </a:bodyPr>
          <a:lstStyle/>
          <a:p>
            <a:pPr algn="just"/>
            <a:r>
              <a:rPr lang="en-US" b="1" dirty="0"/>
              <a:t>8. </a:t>
            </a:r>
            <a:r>
              <a:rPr lang="en-US" b="1" dirty="0">
                <a:highlight>
                  <a:srgbClr val="FFFF00"/>
                </a:highlight>
              </a:rPr>
              <a:t>Testing Assumptions and Hypotheses</a:t>
            </a:r>
          </a:p>
          <a:p>
            <a:pPr algn="just"/>
            <a:r>
              <a:rPr lang="en-US" dirty="0"/>
              <a:t>Prototypes allow teams to test </a:t>
            </a:r>
            <a:r>
              <a:rPr lang="en-US" dirty="0">
                <a:solidFill>
                  <a:srgbClr val="FF0000"/>
                </a:solidFill>
              </a:rPr>
              <a:t>key assumptions about user behavior</a:t>
            </a:r>
            <a:r>
              <a:rPr lang="en-US" dirty="0"/>
              <a:t>, technical feasibility, and business value. By validating hypotheses early, digital transformation initiatives avoid costly failures. This evidence-based approach ensures solutions are grounded in real insights rather than assumptions.</a:t>
            </a:r>
          </a:p>
        </p:txBody>
      </p:sp>
    </p:spTree>
    <p:extLst>
      <p:ext uri="{BB962C8B-B14F-4D97-AF65-F5344CB8AC3E}">
        <p14:creationId xmlns:p14="http://schemas.microsoft.com/office/powerpoint/2010/main" val="4126813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571028" y="555320"/>
            <a:ext cx="11278593" cy="2677656"/>
          </a:xfrm>
          <a:prstGeom prst="rect">
            <a:avLst/>
          </a:prstGeom>
          <a:noFill/>
        </p:spPr>
        <p:txBody>
          <a:bodyPr wrap="square">
            <a:spAutoFit/>
          </a:bodyPr>
          <a:lstStyle/>
          <a:p>
            <a:pPr algn="just"/>
            <a:r>
              <a:rPr lang="en-GB" b="1" dirty="0"/>
              <a:t>9. </a:t>
            </a:r>
            <a:r>
              <a:rPr lang="en-GB" b="1" dirty="0">
                <a:highlight>
                  <a:srgbClr val="FFFF00"/>
                </a:highlight>
              </a:rPr>
              <a:t>Prototyping in Agile Development</a:t>
            </a:r>
          </a:p>
          <a:p>
            <a:pPr algn="just"/>
            <a:r>
              <a:rPr lang="en-GB" dirty="0"/>
              <a:t>In agile environments, prototypes support short development cycles and continuous delivery. They help align developers, designers, and product owners before coding begins. Prototyping ensures agile teams iterate efficiently, improve sprint outcomes, and maintain user focus throughout digital transformation.</a:t>
            </a:r>
          </a:p>
        </p:txBody>
      </p:sp>
      <p:pic>
        <p:nvPicPr>
          <p:cNvPr id="2" name="Picture 1">
            <a:extLst>
              <a:ext uri="{FF2B5EF4-FFF2-40B4-BE49-F238E27FC236}">
                <a16:creationId xmlns:a16="http://schemas.microsoft.com/office/drawing/2014/main" id="{4259CA23-8FE3-4DAE-C0C2-E65A22DA3E7E}"/>
              </a:ext>
            </a:extLst>
          </p:cNvPr>
          <p:cNvPicPr>
            <a:picLocks noChangeAspect="1"/>
          </p:cNvPicPr>
          <p:nvPr/>
        </p:nvPicPr>
        <p:blipFill>
          <a:blip r:embed="rId2"/>
          <a:stretch>
            <a:fillRect/>
          </a:stretch>
        </p:blipFill>
        <p:spPr>
          <a:xfrm>
            <a:off x="2723679" y="3625025"/>
            <a:ext cx="6744641" cy="2981741"/>
          </a:xfrm>
          <a:prstGeom prst="rect">
            <a:avLst/>
          </a:prstGeom>
        </p:spPr>
      </p:pic>
    </p:spTree>
    <p:extLst>
      <p:ext uri="{BB962C8B-B14F-4D97-AF65-F5344CB8AC3E}">
        <p14:creationId xmlns:p14="http://schemas.microsoft.com/office/powerpoint/2010/main" val="3533018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553776" y="521248"/>
            <a:ext cx="5067400" cy="5693866"/>
          </a:xfrm>
          <a:prstGeom prst="rect">
            <a:avLst/>
          </a:prstGeom>
          <a:noFill/>
        </p:spPr>
        <p:txBody>
          <a:bodyPr wrap="square">
            <a:spAutoFit/>
          </a:bodyPr>
          <a:lstStyle/>
          <a:p>
            <a:pPr algn="just"/>
            <a:r>
              <a:rPr lang="en-US" b="1" dirty="0"/>
              <a:t>10. Measuring </a:t>
            </a:r>
            <a:r>
              <a:rPr lang="en-US" b="1" dirty="0">
                <a:highlight>
                  <a:srgbClr val="FFFF00"/>
                </a:highlight>
              </a:rPr>
              <a:t>Prototype Effectiveness</a:t>
            </a:r>
          </a:p>
          <a:p>
            <a:pPr algn="just"/>
            <a:r>
              <a:rPr lang="en-US" dirty="0"/>
              <a:t>Effective prototyping requires evaluation metrics such as usability, clarity, task success, and </a:t>
            </a:r>
            <a:r>
              <a:rPr lang="en-US" dirty="0">
                <a:solidFill>
                  <a:srgbClr val="FF0000"/>
                </a:solidFill>
              </a:rPr>
              <a:t>user satisfaction</a:t>
            </a:r>
            <a:r>
              <a:rPr lang="en-US" dirty="0"/>
              <a:t>. Measuring prototype performance helps identify weaknesses early and supports prioritization of improvements. This ensures that final digital solutions deliver value and meet the strategic goals of transformation.</a:t>
            </a:r>
          </a:p>
        </p:txBody>
      </p:sp>
      <p:pic>
        <p:nvPicPr>
          <p:cNvPr id="2" name="Picture 1">
            <a:extLst>
              <a:ext uri="{FF2B5EF4-FFF2-40B4-BE49-F238E27FC236}">
                <a16:creationId xmlns:a16="http://schemas.microsoft.com/office/drawing/2014/main" id="{20B1FECD-A135-BCE1-7419-77D9C0E17278}"/>
              </a:ext>
            </a:extLst>
          </p:cNvPr>
          <p:cNvPicPr>
            <a:picLocks noChangeAspect="1"/>
          </p:cNvPicPr>
          <p:nvPr/>
        </p:nvPicPr>
        <p:blipFill>
          <a:blip r:embed="rId2"/>
          <a:stretch>
            <a:fillRect/>
          </a:stretch>
        </p:blipFill>
        <p:spPr>
          <a:xfrm>
            <a:off x="6017049" y="521248"/>
            <a:ext cx="5621175" cy="3115510"/>
          </a:xfrm>
          <a:prstGeom prst="rect">
            <a:avLst/>
          </a:prstGeom>
        </p:spPr>
      </p:pic>
    </p:spTree>
    <p:extLst>
      <p:ext uri="{BB962C8B-B14F-4D97-AF65-F5344CB8AC3E}">
        <p14:creationId xmlns:p14="http://schemas.microsoft.com/office/powerpoint/2010/main" val="33619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128F02-7A9D-BC84-1962-7620614F9DE4}"/>
              </a:ext>
            </a:extLst>
          </p:cNvPr>
          <p:cNvSpPr txBox="1"/>
          <p:nvPr/>
        </p:nvSpPr>
        <p:spPr>
          <a:xfrm>
            <a:off x="511277" y="393388"/>
            <a:ext cx="10794305" cy="1384995"/>
          </a:xfrm>
          <a:prstGeom prst="rect">
            <a:avLst/>
          </a:prstGeom>
          <a:noFill/>
          <a:ln>
            <a:solidFill>
              <a:schemeClr val="tx1"/>
            </a:solidFill>
          </a:ln>
        </p:spPr>
        <p:txBody>
          <a:bodyPr wrap="square">
            <a:spAutoFit/>
          </a:bodyPr>
          <a:lstStyle/>
          <a:p>
            <a:pPr>
              <a:buNone/>
            </a:pPr>
            <a:r>
              <a:rPr lang="en-US" dirty="0"/>
              <a:t>From ideation (brainstorm) process&gt;&gt;&gt; you answer/solution/product</a:t>
            </a:r>
          </a:p>
          <a:p>
            <a:pPr>
              <a:buNone/>
            </a:pPr>
            <a:r>
              <a:rPr lang="en-US" dirty="0"/>
              <a:t>In prototyping process&gt;&gt;&gt; </a:t>
            </a:r>
            <a:r>
              <a:rPr lang="en-US" b="1" dirty="0">
                <a:highlight>
                  <a:srgbClr val="FFFF00"/>
                </a:highlight>
              </a:rPr>
              <a:t>show how to use that product</a:t>
            </a:r>
          </a:p>
          <a:p>
            <a:pPr>
              <a:buNone/>
            </a:pPr>
            <a:r>
              <a:rPr lang="en-US" dirty="0"/>
              <a:t>+ how to make money with that product</a:t>
            </a:r>
          </a:p>
        </p:txBody>
      </p:sp>
      <p:sp>
        <p:nvSpPr>
          <p:cNvPr id="3" name="TextBox 2">
            <a:extLst>
              <a:ext uri="{FF2B5EF4-FFF2-40B4-BE49-F238E27FC236}">
                <a16:creationId xmlns:a16="http://schemas.microsoft.com/office/drawing/2014/main" id="{94E1450C-17B4-C0D6-0F28-9A4F55451B0A}"/>
              </a:ext>
            </a:extLst>
          </p:cNvPr>
          <p:cNvSpPr txBox="1"/>
          <p:nvPr/>
        </p:nvSpPr>
        <p:spPr>
          <a:xfrm>
            <a:off x="511277" y="2245634"/>
            <a:ext cx="10794305" cy="2677656"/>
          </a:xfrm>
          <a:prstGeom prst="rect">
            <a:avLst/>
          </a:prstGeom>
          <a:noFill/>
          <a:ln>
            <a:solidFill>
              <a:schemeClr val="tx1"/>
            </a:solidFill>
          </a:ln>
        </p:spPr>
        <p:txBody>
          <a:bodyPr wrap="square">
            <a:spAutoFit/>
          </a:bodyPr>
          <a:lstStyle/>
          <a:p>
            <a:pPr>
              <a:buNone/>
            </a:pPr>
            <a:r>
              <a:rPr lang="en-US" b="1" dirty="0"/>
              <a:t>Mid-Term Exams 20%</a:t>
            </a:r>
          </a:p>
          <a:p>
            <a:pPr>
              <a:buNone/>
            </a:pPr>
            <a:r>
              <a:rPr lang="en-US" dirty="0"/>
              <a:t>4 questions (Essay)</a:t>
            </a:r>
          </a:p>
          <a:p>
            <a:pPr marL="514350" indent="-514350">
              <a:buAutoNum type="arabicPeriod"/>
            </a:pPr>
            <a:r>
              <a:rPr lang="en-US" dirty="0"/>
              <a:t>About Empathize</a:t>
            </a:r>
          </a:p>
          <a:p>
            <a:pPr marL="514350" indent="-514350">
              <a:buAutoNum type="arabicPeriod"/>
            </a:pPr>
            <a:r>
              <a:rPr lang="en-US" dirty="0"/>
              <a:t>About Define problems</a:t>
            </a:r>
          </a:p>
          <a:p>
            <a:pPr marL="514350" indent="-514350">
              <a:buAutoNum type="arabicPeriod"/>
            </a:pPr>
            <a:r>
              <a:rPr lang="en-US" dirty="0"/>
              <a:t>About Ideation</a:t>
            </a:r>
          </a:p>
          <a:p>
            <a:pPr marL="514350" indent="-514350">
              <a:buAutoNum type="arabicPeriod"/>
            </a:pPr>
            <a:r>
              <a:rPr lang="en-US" dirty="0"/>
              <a:t>About Prototyping  </a:t>
            </a:r>
          </a:p>
        </p:txBody>
      </p:sp>
    </p:spTree>
    <p:extLst>
      <p:ext uri="{BB962C8B-B14F-4D97-AF65-F5344CB8AC3E}">
        <p14:creationId xmlns:p14="http://schemas.microsoft.com/office/powerpoint/2010/main" val="3510776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4897DB-E31E-920E-30AF-E4C03E8A3238}"/>
              </a:ext>
            </a:extLst>
          </p:cNvPr>
          <p:cNvSpPr txBox="1"/>
          <p:nvPr/>
        </p:nvSpPr>
        <p:spPr>
          <a:xfrm>
            <a:off x="491645" y="592681"/>
            <a:ext cx="10794305" cy="1815882"/>
          </a:xfrm>
          <a:prstGeom prst="rect">
            <a:avLst/>
          </a:prstGeom>
          <a:noFill/>
        </p:spPr>
        <p:txBody>
          <a:bodyPr wrap="square">
            <a:spAutoFit/>
          </a:bodyPr>
          <a:lstStyle/>
          <a:p>
            <a:pPr>
              <a:buNone/>
            </a:pPr>
            <a:r>
              <a:rPr lang="en-US" b="1" dirty="0"/>
              <a:t>Question:</a:t>
            </a:r>
            <a:br>
              <a:rPr lang="en-US" dirty="0"/>
            </a:br>
            <a:r>
              <a:rPr lang="en-US" dirty="0"/>
              <a:t>How does prototyping in design thinking support digital transformation, and why is rapid iteration important for reducing risk and improving solution quality?</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685</Words>
  <Application>Microsoft Office PowerPoint</Application>
  <PresentationFormat>Widescreen</PresentationFormat>
  <Paragraphs>36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TH SarabunPSK</vt:lpstr>
      <vt:lpstr>Office Theme</vt:lpstr>
      <vt:lpstr>Chapter 7 Prototyping for design thinking in digital transformation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THACHA LAWANNA</cp:lastModifiedBy>
  <cp:revision>26</cp:revision>
  <dcterms:created xsi:type="dcterms:W3CDTF">2025-11-15T02:26:25Z</dcterms:created>
  <dcterms:modified xsi:type="dcterms:W3CDTF">2026-08-06T03:49:37Z</dcterms:modified>
</cp:coreProperties>
</file>