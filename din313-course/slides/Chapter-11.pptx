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9" r:id="rId5"/>
    <p:sldId id="300" r:id="rId6"/>
    <p:sldId id="289" r:id="rId7"/>
    <p:sldId id="259" r:id="rId8"/>
    <p:sldId id="301" r:id="rId9"/>
    <p:sldId id="290" r:id="rId10"/>
    <p:sldId id="260" r:id="rId11"/>
    <p:sldId id="302" r:id="rId12"/>
    <p:sldId id="303" r:id="rId13"/>
    <p:sldId id="304" r:id="rId14"/>
    <p:sldId id="291" r:id="rId15"/>
    <p:sldId id="261" r:id="rId16"/>
    <p:sldId id="305" r:id="rId17"/>
    <p:sldId id="306" r:id="rId18"/>
    <p:sldId id="292" r:id="rId19"/>
    <p:sldId id="262" r:id="rId20"/>
    <p:sldId id="307" r:id="rId21"/>
    <p:sldId id="308" r:id="rId22"/>
    <p:sldId id="309" r:id="rId23"/>
    <p:sldId id="293" r:id="rId24"/>
    <p:sldId id="288" r:id="rId25"/>
    <p:sldId id="263" r:id="rId26"/>
    <p:sldId id="310" r:id="rId27"/>
    <p:sldId id="316" r:id="rId28"/>
    <p:sldId id="317" r:id="rId29"/>
    <p:sldId id="318" r:id="rId30"/>
    <p:sldId id="319" r:id="rId31"/>
    <p:sldId id="294" r:id="rId32"/>
    <p:sldId id="321" r:id="rId33"/>
    <p:sldId id="320" r:id="rId34"/>
    <p:sldId id="264" r:id="rId35"/>
    <p:sldId id="311" r:id="rId36"/>
    <p:sldId id="312" r:id="rId37"/>
    <p:sldId id="322" r:id="rId38"/>
    <p:sldId id="323" r:id="rId39"/>
    <p:sldId id="295" r:id="rId40"/>
    <p:sldId id="265" r:id="rId41"/>
    <p:sldId id="324" r:id="rId42"/>
    <p:sldId id="313" r:id="rId43"/>
    <p:sldId id="296" r:id="rId44"/>
    <p:sldId id="266" r:id="rId45"/>
    <p:sldId id="314" r:id="rId46"/>
    <p:sldId id="297" r:id="rId47"/>
    <p:sldId id="267" r:id="rId48"/>
    <p:sldId id="325" r:id="rId49"/>
    <p:sldId id="315" r:id="rId50"/>
    <p:sldId id="298" r:id="rId51"/>
    <p:sldId id="268" r:id="rId52"/>
  </p:sldIdLst>
  <p:sldSz cx="12192000" cy="6858000"/>
  <p:notesSz cx="6858000" cy="9144000"/>
  <p:defaultText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87" autoAdjust="0"/>
    <p:restoredTop sz="94660"/>
  </p:normalViewPr>
  <p:slideViewPr>
    <p:cSldViewPr snapToGrid="0">
      <p:cViewPr varScale="1">
        <p:scale>
          <a:sx n="69" d="100"/>
          <a:sy n="69" d="100"/>
        </p:scale>
        <p:origin x="61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12D9-7043-43C9-9022-4CB927842C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h-TH"/>
          </a:p>
        </p:txBody>
      </p:sp>
      <p:sp>
        <p:nvSpPr>
          <p:cNvPr id="3" name="Subtitle 2">
            <a:extLst>
              <a:ext uri="{FF2B5EF4-FFF2-40B4-BE49-F238E27FC236}">
                <a16:creationId xmlns:a16="http://schemas.microsoft.com/office/drawing/2014/main" id="{3F682E85-08CB-4BAA-8425-BD2C2AE6E5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h-TH"/>
          </a:p>
        </p:txBody>
      </p:sp>
      <p:sp>
        <p:nvSpPr>
          <p:cNvPr id="4" name="Date Placeholder 3">
            <a:extLst>
              <a:ext uri="{FF2B5EF4-FFF2-40B4-BE49-F238E27FC236}">
                <a16:creationId xmlns:a16="http://schemas.microsoft.com/office/drawing/2014/main" id="{E6E5EFEC-3DF3-4A5F-8D72-0DA2D7752ED1}"/>
              </a:ext>
            </a:extLst>
          </p:cNvPr>
          <p:cNvSpPr>
            <a:spLocks noGrp="1"/>
          </p:cNvSpPr>
          <p:nvPr>
            <p:ph type="dt" sz="half" idx="10"/>
          </p:nvPr>
        </p:nvSpPr>
        <p:spPr/>
        <p:txBody>
          <a:bodyPr/>
          <a:lstStyle/>
          <a:p>
            <a:fld id="{41DB1237-82F3-41AB-8C61-F8D2C1E0FDCB}" type="datetimeFigureOut">
              <a:rPr lang="th-TH" smtClean="0"/>
              <a:t>24/09/69</a:t>
            </a:fld>
            <a:endParaRPr lang="th-TH"/>
          </a:p>
        </p:txBody>
      </p:sp>
      <p:sp>
        <p:nvSpPr>
          <p:cNvPr id="5" name="Footer Placeholder 4">
            <a:extLst>
              <a:ext uri="{FF2B5EF4-FFF2-40B4-BE49-F238E27FC236}">
                <a16:creationId xmlns:a16="http://schemas.microsoft.com/office/drawing/2014/main" id="{D653792A-4195-4E94-8B3D-4B76EB7891D4}"/>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D982B4D4-C42F-43E5-86FD-418F718E402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86092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B4F6D-239D-4BD9-B064-CD98F9DDF972}"/>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2E485487-E44F-4186-8EE5-A32F7D41A7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582C8408-8C53-4641-9692-6722C2637B3F}"/>
              </a:ext>
            </a:extLst>
          </p:cNvPr>
          <p:cNvSpPr>
            <a:spLocks noGrp="1"/>
          </p:cNvSpPr>
          <p:nvPr>
            <p:ph type="dt" sz="half" idx="10"/>
          </p:nvPr>
        </p:nvSpPr>
        <p:spPr/>
        <p:txBody>
          <a:bodyPr/>
          <a:lstStyle/>
          <a:p>
            <a:fld id="{41DB1237-82F3-41AB-8C61-F8D2C1E0FDCB}" type="datetimeFigureOut">
              <a:rPr lang="th-TH" smtClean="0"/>
              <a:t>24/09/69</a:t>
            </a:fld>
            <a:endParaRPr lang="th-TH"/>
          </a:p>
        </p:txBody>
      </p:sp>
      <p:sp>
        <p:nvSpPr>
          <p:cNvPr id="5" name="Footer Placeholder 4">
            <a:extLst>
              <a:ext uri="{FF2B5EF4-FFF2-40B4-BE49-F238E27FC236}">
                <a16:creationId xmlns:a16="http://schemas.microsoft.com/office/drawing/2014/main" id="{881843B3-AFB7-4CDD-A62B-8CEDE8923EB1}"/>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48ECFB9B-20A1-4E36-9F3B-33BCEC807A96}"/>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1074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13F78-3C05-4DE8-A76F-7950E8EBA8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h-TH"/>
          </a:p>
        </p:txBody>
      </p:sp>
      <p:sp>
        <p:nvSpPr>
          <p:cNvPr id="3" name="Text Placeholder 2">
            <a:extLst>
              <a:ext uri="{FF2B5EF4-FFF2-40B4-BE49-F238E27FC236}">
                <a16:creationId xmlns:a16="http://schemas.microsoft.com/office/drawing/2014/main" id="{13C2A966-59B1-4752-897D-BFC1C1384A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D5911F-6AC6-4181-B8B9-860FA094F2CB}"/>
              </a:ext>
            </a:extLst>
          </p:cNvPr>
          <p:cNvSpPr>
            <a:spLocks noGrp="1"/>
          </p:cNvSpPr>
          <p:nvPr>
            <p:ph type="dt" sz="half" idx="10"/>
          </p:nvPr>
        </p:nvSpPr>
        <p:spPr/>
        <p:txBody>
          <a:bodyPr/>
          <a:lstStyle/>
          <a:p>
            <a:fld id="{41DB1237-82F3-41AB-8C61-F8D2C1E0FDCB}" type="datetimeFigureOut">
              <a:rPr lang="th-TH" smtClean="0"/>
              <a:t>24/09/69</a:t>
            </a:fld>
            <a:endParaRPr lang="th-TH"/>
          </a:p>
        </p:txBody>
      </p:sp>
      <p:sp>
        <p:nvSpPr>
          <p:cNvPr id="5" name="Footer Placeholder 4">
            <a:extLst>
              <a:ext uri="{FF2B5EF4-FFF2-40B4-BE49-F238E27FC236}">
                <a16:creationId xmlns:a16="http://schemas.microsoft.com/office/drawing/2014/main" id="{E299DD4F-3D70-4194-B2FA-2945C9F6E53F}"/>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C3FCD0CF-490D-4001-A0C3-B07147970B4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1397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1721E-3BA0-4FCF-81B8-9EB48D87A99F}"/>
              </a:ext>
            </a:extLst>
          </p:cNvPr>
          <p:cNvSpPr>
            <a:spLocks noGrp="1"/>
          </p:cNvSpPr>
          <p:nvPr>
            <p:ph type="title"/>
          </p:nvPr>
        </p:nvSpPr>
        <p:spPr/>
        <p:txBody>
          <a:bodyPr/>
          <a:lstStyle/>
          <a:p>
            <a:r>
              <a:rPr lang="en-US"/>
              <a:t>Click to edit Master title style</a:t>
            </a:r>
            <a:endParaRPr lang="th-TH"/>
          </a:p>
        </p:txBody>
      </p:sp>
      <p:sp>
        <p:nvSpPr>
          <p:cNvPr id="3" name="Content Placeholder 2">
            <a:extLst>
              <a:ext uri="{FF2B5EF4-FFF2-40B4-BE49-F238E27FC236}">
                <a16:creationId xmlns:a16="http://schemas.microsoft.com/office/drawing/2014/main" id="{B69CCC5A-22A8-4B78-95F5-0F3D9FDF64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a:extLst>
              <a:ext uri="{FF2B5EF4-FFF2-40B4-BE49-F238E27FC236}">
                <a16:creationId xmlns:a16="http://schemas.microsoft.com/office/drawing/2014/main" id="{1E0C1BC9-62C7-4484-A5FD-12FC389F00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a:extLst>
              <a:ext uri="{FF2B5EF4-FFF2-40B4-BE49-F238E27FC236}">
                <a16:creationId xmlns:a16="http://schemas.microsoft.com/office/drawing/2014/main" id="{D2A4D17E-88DC-4B2B-9E7B-93C4228E2632}"/>
              </a:ext>
            </a:extLst>
          </p:cNvPr>
          <p:cNvSpPr>
            <a:spLocks noGrp="1"/>
          </p:cNvSpPr>
          <p:nvPr>
            <p:ph type="dt" sz="half" idx="10"/>
          </p:nvPr>
        </p:nvSpPr>
        <p:spPr/>
        <p:txBody>
          <a:bodyPr/>
          <a:lstStyle/>
          <a:p>
            <a:fld id="{41DB1237-82F3-41AB-8C61-F8D2C1E0FDCB}" type="datetimeFigureOut">
              <a:rPr lang="th-TH" smtClean="0"/>
              <a:t>24/09/69</a:t>
            </a:fld>
            <a:endParaRPr lang="th-TH"/>
          </a:p>
        </p:txBody>
      </p:sp>
      <p:sp>
        <p:nvSpPr>
          <p:cNvPr id="6" name="Footer Placeholder 5">
            <a:extLst>
              <a:ext uri="{FF2B5EF4-FFF2-40B4-BE49-F238E27FC236}">
                <a16:creationId xmlns:a16="http://schemas.microsoft.com/office/drawing/2014/main" id="{70C696E0-05F8-49EF-8B68-AB47385B605D}"/>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E69C8EF5-0E1F-49E6-93AC-1CE65BDAE62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069345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DFE25-C3C9-411A-91A2-6924B8B3A250}"/>
              </a:ext>
            </a:extLst>
          </p:cNvPr>
          <p:cNvSpPr>
            <a:spLocks noGrp="1"/>
          </p:cNvSpPr>
          <p:nvPr>
            <p:ph type="title"/>
          </p:nvPr>
        </p:nvSpPr>
        <p:spPr>
          <a:xfrm>
            <a:off x="839788" y="365125"/>
            <a:ext cx="10515600" cy="1325563"/>
          </a:xfrm>
        </p:spPr>
        <p:txBody>
          <a:bodyPr/>
          <a:lstStyle/>
          <a:p>
            <a:r>
              <a:rPr lang="en-US"/>
              <a:t>Click to edit Master title style</a:t>
            </a:r>
            <a:endParaRPr lang="th-TH"/>
          </a:p>
        </p:txBody>
      </p:sp>
      <p:sp>
        <p:nvSpPr>
          <p:cNvPr id="3" name="Text Placeholder 2">
            <a:extLst>
              <a:ext uri="{FF2B5EF4-FFF2-40B4-BE49-F238E27FC236}">
                <a16:creationId xmlns:a16="http://schemas.microsoft.com/office/drawing/2014/main" id="{D32D7EA1-4671-4046-8317-D7FFA86F64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61D1DA-003F-4B47-9FFC-A83D67362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Text Placeholder 4">
            <a:extLst>
              <a:ext uri="{FF2B5EF4-FFF2-40B4-BE49-F238E27FC236}">
                <a16:creationId xmlns:a16="http://schemas.microsoft.com/office/drawing/2014/main" id="{0FAE6C3B-15DC-431E-BE0A-785638804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E09B8C-AB0A-4D51-A3E3-4436405A1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7" name="Date Placeholder 6">
            <a:extLst>
              <a:ext uri="{FF2B5EF4-FFF2-40B4-BE49-F238E27FC236}">
                <a16:creationId xmlns:a16="http://schemas.microsoft.com/office/drawing/2014/main" id="{0291D225-5EBF-4105-BF12-A932C2A0E99E}"/>
              </a:ext>
            </a:extLst>
          </p:cNvPr>
          <p:cNvSpPr>
            <a:spLocks noGrp="1"/>
          </p:cNvSpPr>
          <p:nvPr>
            <p:ph type="dt" sz="half" idx="10"/>
          </p:nvPr>
        </p:nvSpPr>
        <p:spPr/>
        <p:txBody>
          <a:bodyPr/>
          <a:lstStyle/>
          <a:p>
            <a:fld id="{41DB1237-82F3-41AB-8C61-F8D2C1E0FDCB}" type="datetimeFigureOut">
              <a:rPr lang="th-TH" smtClean="0"/>
              <a:t>24/09/69</a:t>
            </a:fld>
            <a:endParaRPr lang="th-TH"/>
          </a:p>
        </p:txBody>
      </p:sp>
      <p:sp>
        <p:nvSpPr>
          <p:cNvPr id="8" name="Footer Placeholder 7">
            <a:extLst>
              <a:ext uri="{FF2B5EF4-FFF2-40B4-BE49-F238E27FC236}">
                <a16:creationId xmlns:a16="http://schemas.microsoft.com/office/drawing/2014/main" id="{592E3A21-B464-45C5-BD11-BAC2D5B89C5F}"/>
              </a:ext>
            </a:extLst>
          </p:cNvPr>
          <p:cNvSpPr>
            <a:spLocks noGrp="1"/>
          </p:cNvSpPr>
          <p:nvPr>
            <p:ph type="ftr" sz="quarter" idx="11"/>
          </p:nvPr>
        </p:nvSpPr>
        <p:spPr/>
        <p:txBody>
          <a:bodyPr/>
          <a:lstStyle/>
          <a:p>
            <a:endParaRPr lang="th-TH"/>
          </a:p>
        </p:txBody>
      </p:sp>
      <p:sp>
        <p:nvSpPr>
          <p:cNvPr id="9" name="Slide Number Placeholder 8">
            <a:extLst>
              <a:ext uri="{FF2B5EF4-FFF2-40B4-BE49-F238E27FC236}">
                <a16:creationId xmlns:a16="http://schemas.microsoft.com/office/drawing/2014/main" id="{273197E2-5EDC-44B6-A35C-5371ABAB1979}"/>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97017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FEAA-EC8D-4B86-ACB8-C11C6832B04B}"/>
              </a:ext>
            </a:extLst>
          </p:cNvPr>
          <p:cNvSpPr>
            <a:spLocks noGrp="1"/>
          </p:cNvSpPr>
          <p:nvPr>
            <p:ph type="title"/>
          </p:nvPr>
        </p:nvSpPr>
        <p:spPr/>
        <p:txBody>
          <a:bodyPr/>
          <a:lstStyle/>
          <a:p>
            <a:r>
              <a:rPr lang="en-US"/>
              <a:t>Click to edit Master title style</a:t>
            </a:r>
            <a:endParaRPr lang="th-TH"/>
          </a:p>
        </p:txBody>
      </p:sp>
      <p:sp>
        <p:nvSpPr>
          <p:cNvPr id="3" name="Date Placeholder 2">
            <a:extLst>
              <a:ext uri="{FF2B5EF4-FFF2-40B4-BE49-F238E27FC236}">
                <a16:creationId xmlns:a16="http://schemas.microsoft.com/office/drawing/2014/main" id="{ECD022C3-0BEF-4922-9834-2758C1EADD74}"/>
              </a:ext>
            </a:extLst>
          </p:cNvPr>
          <p:cNvSpPr>
            <a:spLocks noGrp="1"/>
          </p:cNvSpPr>
          <p:nvPr>
            <p:ph type="dt" sz="half" idx="10"/>
          </p:nvPr>
        </p:nvSpPr>
        <p:spPr/>
        <p:txBody>
          <a:bodyPr/>
          <a:lstStyle/>
          <a:p>
            <a:fld id="{41DB1237-82F3-41AB-8C61-F8D2C1E0FDCB}" type="datetimeFigureOut">
              <a:rPr lang="th-TH" smtClean="0"/>
              <a:t>24/09/69</a:t>
            </a:fld>
            <a:endParaRPr lang="th-TH"/>
          </a:p>
        </p:txBody>
      </p:sp>
      <p:sp>
        <p:nvSpPr>
          <p:cNvPr id="4" name="Footer Placeholder 3">
            <a:extLst>
              <a:ext uri="{FF2B5EF4-FFF2-40B4-BE49-F238E27FC236}">
                <a16:creationId xmlns:a16="http://schemas.microsoft.com/office/drawing/2014/main" id="{501210C7-7A59-452F-AF27-0232945F21EB}"/>
              </a:ext>
            </a:extLst>
          </p:cNvPr>
          <p:cNvSpPr>
            <a:spLocks noGrp="1"/>
          </p:cNvSpPr>
          <p:nvPr>
            <p:ph type="ftr" sz="quarter" idx="11"/>
          </p:nvPr>
        </p:nvSpPr>
        <p:spPr/>
        <p:txBody>
          <a:bodyPr/>
          <a:lstStyle/>
          <a:p>
            <a:endParaRPr lang="th-TH"/>
          </a:p>
        </p:txBody>
      </p:sp>
      <p:sp>
        <p:nvSpPr>
          <p:cNvPr id="5" name="Slide Number Placeholder 4">
            <a:extLst>
              <a:ext uri="{FF2B5EF4-FFF2-40B4-BE49-F238E27FC236}">
                <a16:creationId xmlns:a16="http://schemas.microsoft.com/office/drawing/2014/main" id="{1AF5589B-95E7-4B1F-AE5F-FDF1CB0B87C3}"/>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3069516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EEBC4-7CC5-4602-A977-7A087F09AB38}"/>
              </a:ext>
            </a:extLst>
          </p:cNvPr>
          <p:cNvSpPr>
            <a:spLocks noGrp="1"/>
          </p:cNvSpPr>
          <p:nvPr>
            <p:ph type="dt" sz="half" idx="10"/>
          </p:nvPr>
        </p:nvSpPr>
        <p:spPr/>
        <p:txBody>
          <a:bodyPr/>
          <a:lstStyle/>
          <a:p>
            <a:fld id="{41DB1237-82F3-41AB-8C61-F8D2C1E0FDCB}" type="datetimeFigureOut">
              <a:rPr lang="th-TH" smtClean="0"/>
              <a:t>24/09/69</a:t>
            </a:fld>
            <a:endParaRPr lang="th-TH"/>
          </a:p>
        </p:txBody>
      </p:sp>
      <p:sp>
        <p:nvSpPr>
          <p:cNvPr id="3" name="Footer Placeholder 2">
            <a:extLst>
              <a:ext uri="{FF2B5EF4-FFF2-40B4-BE49-F238E27FC236}">
                <a16:creationId xmlns:a16="http://schemas.microsoft.com/office/drawing/2014/main" id="{B41582B0-F68A-4C28-9904-DC6FDB6BF3A3}"/>
              </a:ext>
            </a:extLst>
          </p:cNvPr>
          <p:cNvSpPr>
            <a:spLocks noGrp="1"/>
          </p:cNvSpPr>
          <p:nvPr>
            <p:ph type="ftr" sz="quarter" idx="11"/>
          </p:nvPr>
        </p:nvSpPr>
        <p:spPr/>
        <p:txBody>
          <a:bodyPr/>
          <a:lstStyle/>
          <a:p>
            <a:endParaRPr lang="th-TH"/>
          </a:p>
        </p:txBody>
      </p:sp>
      <p:sp>
        <p:nvSpPr>
          <p:cNvPr id="4" name="Slide Number Placeholder 3">
            <a:extLst>
              <a:ext uri="{FF2B5EF4-FFF2-40B4-BE49-F238E27FC236}">
                <a16:creationId xmlns:a16="http://schemas.microsoft.com/office/drawing/2014/main" id="{D651C69F-57F6-428D-8ED8-8CDC792690ED}"/>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8085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7CC40-5AE9-4803-81CC-FACD1BABCC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Content Placeholder 2">
            <a:extLst>
              <a:ext uri="{FF2B5EF4-FFF2-40B4-BE49-F238E27FC236}">
                <a16:creationId xmlns:a16="http://schemas.microsoft.com/office/drawing/2014/main" id="{3DB824A6-6F48-43EE-B4E5-BD8BB335A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Text Placeholder 3">
            <a:extLst>
              <a:ext uri="{FF2B5EF4-FFF2-40B4-BE49-F238E27FC236}">
                <a16:creationId xmlns:a16="http://schemas.microsoft.com/office/drawing/2014/main" id="{A6EA45F2-2D35-450B-8D97-7A84AD8A1A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872ECC-F35F-4CE1-8B9D-54CF4F2523FA}"/>
              </a:ext>
            </a:extLst>
          </p:cNvPr>
          <p:cNvSpPr>
            <a:spLocks noGrp="1"/>
          </p:cNvSpPr>
          <p:nvPr>
            <p:ph type="dt" sz="half" idx="10"/>
          </p:nvPr>
        </p:nvSpPr>
        <p:spPr/>
        <p:txBody>
          <a:bodyPr/>
          <a:lstStyle/>
          <a:p>
            <a:fld id="{41DB1237-82F3-41AB-8C61-F8D2C1E0FDCB}" type="datetimeFigureOut">
              <a:rPr lang="th-TH" smtClean="0"/>
              <a:t>24/09/69</a:t>
            </a:fld>
            <a:endParaRPr lang="th-TH"/>
          </a:p>
        </p:txBody>
      </p:sp>
      <p:sp>
        <p:nvSpPr>
          <p:cNvPr id="6" name="Footer Placeholder 5">
            <a:extLst>
              <a:ext uri="{FF2B5EF4-FFF2-40B4-BE49-F238E27FC236}">
                <a16:creationId xmlns:a16="http://schemas.microsoft.com/office/drawing/2014/main" id="{AA00ABAD-9ED5-41F9-8D41-B8C0FB223B47}"/>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D2BC9AB-B71C-4A34-9AEC-2AF20C5488D7}"/>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636138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21D9-1C97-446C-A181-0F7637EC6F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h-TH"/>
          </a:p>
        </p:txBody>
      </p:sp>
      <p:sp>
        <p:nvSpPr>
          <p:cNvPr id="3" name="Picture Placeholder 2">
            <a:extLst>
              <a:ext uri="{FF2B5EF4-FFF2-40B4-BE49-F238E27FC236}">
                <a16:creationId xmlns:a16="http://schemas.microsoft.com/office/drawing/2014/main" id="{0A0E48F9-C6FB-4865-A21E-BE150C9320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Text Placeholder 3">
            <a:extLst>
              <a:ext uri="{FF2B5EF4-FFF2-40B4-BE49-F238E27FC236}">
                <a16:creationId xmlns:a16="http://schemas.microsoft.com/office/drawing/2014/main" id="{4ECA61A1-8C74-4B8B-841C-58FEBDBB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5FE4D-FC97-406A-9621-01BC1BCB24B5}"/>
              </a:ext>
            </a:extLst>
          </p:cNvPr>
          <p:cNvSpPr>
            <a:spLocks noGrp="1"/>
          </p:cNvSpPr>
          <p:nvPr>
            <p:ph type="dt" sz="half" idx="10"/>
          </p:nvPr>
        </p:nvSpPr>
        <p:spPr/>
        <p:txBody>
          <a:bodyPr/>
          <a:lstStyle/>
          <a:p>
            <a:fld id="{41DB1237-82F3-41AB-8C61-F8D2C1E0FDCB}" type="datetimeFigureOut">
              <a:rPr lang="th-TH" smtClean="0"/>
              <a:t>24/09/69</a:t>
            </a:fld>
            <a:endParaRPr lang="th-TH"/>
          </a:p>
        </p:txBody>
      </p:sp>
      <p:sp>
        <p:nvSpPr>
          <p:cNvPr id="6" name="Footer Placeholder 5">
            <a:extLst>
              <a:ext uri="{FF2B5EF4-FFF2-40B4-BE49-F238E27FC236}">
                <a16:creationId xmlns:a16="http://schemas.microsoft.com/office/drawing/2014/main" id="{AFDD33F6-EB11-4210-9D4E-F08A8FEFC0B4}"/>
              </a:ext>
            </a:extLst>
          </p:cNvPr>
          <p:cNvSpPr>
            <a:spLocks noGrp="1"/>
          </p:cNvSpPr>
          <p:nvPr>
            <p:ph type="ftr" sz="quarter" idx="11"/>
          </p:nvPr>
        </p:nvSpPr>
        <p:spPr/>
        <p:txBody>
          <a:bodyPr/>
          <a:lstStyle/>
          <a:p>
            <a:endParaRPr lang="th-TH"/>
          </a:p>
        </p:txBody>
      </p:sp>
      <p:sp>
        <p:nvSpPr>
          <p:cNvPr id="7" name="Slide Number Placeholder 6">
            <a:extLst>
              <a:ext uri="{FF2B5EF4-FFF2-40B4-BE49-F238E27FC236}">
                <a16:creationId xmlns:a16="http://schemas.microsoft.com/office/drawing/2014/main" id="{2CCB47D7-7733-435D-A359-D2A15363187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466036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EFA34-B39F-47BF-B2B0-D3DF5AB11313}"/>
              </a:ext>
            </a:extLst>
          </p:cNvPr>
          <p:cNvSpPr>
            <a:spLocks noGrp="1"/>
          </p:cNvSpPr>
          <p:nvPr>
            <p:ph type="title"/>
          </p:nvPr>
        </p:nvSpPr>
        <p:spPr/>
        <p:txBody>
          <a:bodyPr/>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C0EB2020-BB21-4CC6-A33C-2A0F8CE9D0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08570-F244-49A4-A301-6266F486BE67}"/>
              </a:ext>
            </a:extLst>
          </p:cNvPr>
          <p:cNvSpPr>
            <a:spLocks noGrp="1"/>
          </p:cNvSpPr>
          <p:nvPr>
            <p:ph type="dt" sz="half" idx="10"/>
          </p:nvPr>
        </p:nvSpPr>
        <p:spPr/>
        <p:txBody>
          <a:bodyPr/>
          <a:lstStyle/>
          <a:p>
            <a:fld id="{41DB1237-82F3-41AB-8C61-F8D2C1E0FDCB}" type="datetimeFigureOut">
              <a:rPr lang="th-TH" smtClean="0"/>
              <a:t>24/09/69</a:t>
            </a:fld>
            <a:endParaRPr lang="th-TH"/>
          </a:p>
        </p:txBody>
      </p:sp>
      <p:sp>
        <p:nvSpPr>
          <p:cNvPr id="5" name="Footer Placeholder 4">
            <a:extLst>
              <a:ext uri="{FF2B5EF4-FFF2-40B4-BE49-F238E27FC236}">
                <a16:creationId xmlns:a16="http://schemas.microsoft.com/office/drawing/2014/main" id="{ADAD847F-7F84-46ED-9F96-C4D1D506463D}"/>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958D4326-B282-4EF1-8C8C-F8ED40AF1F88}"/>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210213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8AEEC-EE8D-442E-BA35-3F32CF6811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h-TH"/>
          </a:p>
        </p:txBody>
      </p:sp>
      <p:sp>
        <p:nvSpPr>
          <p:cNvPr id="3" name="Vertical Text Placeholder 2">
            <a:extLst>
              <a:ext uri="{FF2B5EF4-FFF2-40B4-BE49-F238E27FC236}">
                <a16:creationId xmlns:a16="http://schemas.microsoft.com/office/drawing/2014/main" id="{040D9031-A15E-4A14-8D32-E436BEDC8C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03BDBA8D-0A99-4282-BC51-91B64DB229BD}"/>
              </a:ext>
            </a:extLst>
          </p:cNvPr>
          <p:cNvSpPr>
            <a:spLocks noGrp="1"/>
          </p:cNvSpPr>
          <p:nvPr>
            <p:ph type="dt" sz="half" idx="10"/>
          </p:nvPr>
        </p:nvSpPr>
        <p:spPr/>
        <p:txBody>
          <a:bodyPr/>
          <a:lstStyle/>
          <a:p>
            <a:fld id="{41DB1237-82F3-41AB-8C61-F8D2C1E0FDCB}" type="datetimeFigureOut">
              <a:rPr lang="th-TH" smtClean="0"/>
              <a:t>24/09/69</a:t>
            </a:fld>
            <a:endParaRPr lang="th-TH"/>
          </a:p>
        </p:txBody>
      </p:sp>
      <p:sp>
        <p:nvSpPr>
          <p:cNvPr id="5" name="Footer Placeholder 4">
            <a:extLst>
              <a:ext uri="{FF2B5EF4-FFF2-40B4-BE49-F238E27FC236}">
                <a16:creationId xmlns:a16="http://schemas.microsoft.com/office/drawing/2014/main" id="{EF46A43C-789C-4658-84D1-958E13EAB6AC}"/>
              </a:ext>
            </a:extLst>
          </p:cNvPr>
          <p:cNvSpPr>
            <a:spLocks noGrp="1"/>
          </p:cNvSpPr>
          <p:nvPr>
            <p:ph type="ftr" sz="quarter" idx="11"/>
          </p:nvPr>
        </p:nvSpPr>
        <p:spPr/>
        <p:txBody>
          <a:bodyPr/>
          <a:lstStyle/>
          <a:p>
            <a:endParaRPr lang="th-TH"/>
          </a:p>
        </p:txBody>
      </p:sp>
      <p:sp>
        <p:nvSpPr>
          <p:cNvPr id="6" name="Slide Number Placeholder 5">
            <a:extLst>
              <a:ext uri="{FF2B5EF4-FFF2-40B4-BE49-F238E27FC236}">
                <a16:creationId xmlns:a16="http://schemas.microsoft.com/office/drawing/2014/main" id="{B1D5667C-798D-4930-BF1F-B248F5D0C242}"/>
              </a:ext>
            </a:extLst>
          </p:cNvPr>
          <p:cNvSpPr>
            <a:spLocks noGrp="1"/>
          </p:cNvSpPr>
          <p:nvPr>
            <p:ph type="sldNum" sz="quarter" idx="12"/>
          </p:nvPr>
        </p:nvSpPr>
        <p:spPr/>
        <p:txBody>
          <a:bodyPr/>
          <a:lstStyle/>
          <a:p>
            <a:fld id="{4ABD73F4-EAC8-4467-9D3A-5C33D6B539A6}" type="slidenum">
              <a:rPr lang="th-TH" smtClean="0"/>
              <a:t>‹#›</a:t>
            </a:fld>
            <a:endParaRPr lang="th-TH"/>
          </a:p>
        </p:txBody>
      </p:sp>
    </p:spTree>
    <p:extLst>
      <p:ext uri="{BB962C8B-B14F-4D97-AF65-F5344CB8AC3E}">
        <p14:creationId xmlns:p14="http://schemas.microsoft.com/office/powerpoint/2010/main" val="1598510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B63944-606C-4649-9C9F-199983D0C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h-TH"/>
          </a:p>
        </p:txBody>
      </p:sp>
      <p:sp>
        <p:nvSpPr>
          <p:cNvPr id="3" name="Text Placeholder 2">
            <a:extLst>
              <a:ext uri="{FF2B5EF4-FFF2-40B4-BE49-F238E27FC236}">
                <a16:creationId xmlns:a16="http://schemas.microsoft.com/office/drawing/2014/main" id="{622CEC6E-3A78-4539-9E6E-FA74C019CD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Date Placeholder 3">
            <a:extLst>
              <a:ext uri="{FF2B5EF4-FFF2-40B4-BE49-F238E27FC236}">
                <a16:creationId xmlns:a16="http://schemas.microsoft.com/office/drawing/2014/main" id="{32ED7ED7-F0F1-4DAB-B4F8-561F940735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DB1237-82F3-41AB-8C61-F8D2C1E0FDCB}" type="datetimeFigureOut">
              <a:rPr lang="th-TH" smtClean="0"/>
              <a:t>24/09/69</a:t>
            </a:fld>
            <a:endParaRPr lang="th-TH"/>
          </a:p>
        </p:txBody>
      </p:sp>
      <p:sp>
        <p:nvSpPr>
          <p:cNvPr id="5" name="Footer Placeholder 4">
            <a:extLst>
              <a:ext uri="{FF2B5EF4-FFF2-40B4-BE49-F238E27FC236}">
                <a16:creationId xmlns:a16="http://schemas.microsoft.com/office/drawing/2014/main" id="{D30229C8-B108-462D-8E37-73D87D6A26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h-TH"/>
          </a:p>
        </p:txBody>
      </p:sp>
      <p:sp>
        <p:nvSpPr>
          <p:cNvPr id="6" name="Slide Number Placeholder 5">
            <a:extLst>
              <a:ext uri="{FF2B5EF4-FFF2-40B4-BE49-F238E27FC236}">
                <a16:creationId xmlns:a16="http://schemas.microsoft.com/office/drawing/2014/main" id="{36B7440F-0966-4EB5-8F81-01E9EE7B03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BD73F4-EAC8-4467-9D3A-5C33D6B539A6}" type="slidenum">
              <a:rPr lang="th-TH" smtClean="0"/>
              <a:t>‹#›</a:t>
            </a:fld>
            <a:endParaRPr lang="th-TH"/>
          </a:p>
        </p:txBody>
      </p:sp>
    </p:spTree>
    <p:extLst>
      <p:ext uri="{BB962C8B-B14F-4D97-AF65-F5344CB8AC3E}">
        <p14:creationId xmlns:p14="http://schemas.microsoft.com/office/powerpoint/2010/main" val="826633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FDF3-D6FD-4A66-8420-92342B1D8C69}"/>
              </a:ext>
            </a:extLst>
          </p:cNvPr>
          <p:cNvSpPr>
            <a:spLocks noGrp="1"/>
          </p:cNvSpPr>
          <p:nvPr>
            <p:ph type="ctrTitle"/>
          </p:nvPr>
        </p:nvSpPr>
        <p:spPr>
          <a:xfrm>
            <a:off x="1524000" y="842964"/>
            <a:ext cx="9144000" cy="3500436"/>
          </a:xfrm>
        </p:spPr>
        <p:txBody>
          <a:bodyPr>
            <a:noAutofit/>
          </a:bodyPr>
          <a:lstStyle/>
          <a:p>
            <a:r>
              <a:rPr lang="en-US" sz="8000" b="1" dirty="0">
                <a:effectLst/>
                <a:latin typeface="TH SarabunPSK" panose="020B0500040200020003" pitchFamily="34" charset="-34"/>
                <a:ea typeface="Angsana New" panose="02020603050405020304" pitchFamily="18" charset="-34"/>
              </a:rPr>
              <a:t>Chapter 11 </a:t>
            </a:r>
            <a:r>
              <a:rPr lang="en-US" sz="8000" b="1" dirty="0">
                <a:effectLst/>
                <a:latin typeface="TH SarabunPSK" panose="020B0500040200020003" pitchFamily="34" charset="-34"/>
                <a:ea typeface="Calibri" panose="020F0502020204030204" pitchFamily="34" charset="0"/>
              </a:rPr>
              <a:t>Implementation and deployment </a:t>
            </a:r>
            <a:endParaRPr lang="th-TH" sz="8000" b="1" dirty="0"/>
          </a:p>
        </p:txBody>
      </p:sp>
      <p:sp>
        <p:nvSpPr>
          <p:cNvPr id="3" name="Subtitle 2">
            <a:extLst>
              <a:ext uri="{FF2B5EF4-FFF2-40B4-BE49-F238E27FC236}">
                <a16:creationId xmlns:a16="http://schemas.microsoft.com/office/drawing/2014/main" id="{75A61AFC-F987-4AC9-8968-1FD93A1E1DC0}"/>
              </a:ext>
            </a:extLst>
          </p:cNvPr>
          <p:cNvSpPr>
            <a:spLocks noGrp="1"/>
          </p:cNvSpPr>
          <p:nvPr>
            <p:ph type="subTitle" idx="1"/>
          </p:nvPr>
        </p:nvSpPr>
        <p:spPr>
          <a:xfrm>
            <a:off x="1524000" y="4473576"/>
            <a:ext cx="9144000" cy="1655762"/>
          </a:xfrm>
        </p:spPr>
        <p:txBody>
          <a:bodyPr/>
          <a:lstStyle/>
          <a:p>
            <a:r>
              <a:rPr lang="en-US" dirty="0"/>
              <a:t>Assoc. Prof. Dr. </a:t>
            </a:r>
            <a:r>
              <a:rPr lang="en-US" dirty="0" err="1"/>
              <a:t>Thacha</a:t>
            </a:r>
            <a:r>
              <a:rPr lang="en-US" dirty="0"/>
              <a:t> Lawanna</a:t>
            </a:r>
            <a:endParaRPr lang="th-TH" dirty="0"/>
          </a:p>
        </p:txBody>
      </p:sp>
    </p:spTree>
    <p:extLst>
      <p:ext uri="{BB962C8B-B14F-4D97-AF65-F5344CB8AC3E}">
        <p14:creationId xmlns:p14="http://schemas.microsoft.com/office/powerpoint/2010/main" val="2937291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AD0B0-6419-4728-B809-B8A070E9030D}"/>
              </a:ext>
            </a:extLst>
          </p:cNvPr>
          <p:cNvSpPr txBox="1"/>
          <p:nvPr/>
        </p:nvSpPr>
        <p:spPr>
          <a:xfrm>
            <a:off x="617934" y="429429"/>
            <a:ext cx="11154965" cy="2246769"/>
          </a:xfrm>
          <a:prstGeom prst="rect">
            <a:avLst/>
          </a:prstGeom>
          <a:solidFill>
            <a:schemeClr val="bg1">
              <a:lumMod val="95000"/>
            </a:schemeClr>
          </a:solidFill>
        </p:spPr>
        <p:txBody>
          <a:bodyPr wrap="square">
            <a:spAutoFit/>
          </a:bodyPr>
          <a:lstStyle/>
          <a:p>
            <a:pPr algn="just"/>
            <a:r>
              <a:rPr lang="en-US" b="1" dirty="0"/>
              <a:t>Objective of the Study:</a:t>
            </a:r>
          </a:p>
          <a:p>
            <a:r>
              <a:rPr lang="en-US" dirty="0"/>
              <a:t>To examine the practical processes, tools, and methodologies required to transform a designed system or model into an operational, fully deployed solution, ensuring reliability, scalability, usability, and real-world performance.</a:t>
            </a:r>
          </a:p>
        </p:txBody>
      </p:sp>
    </p:spTree>
    <p:extLst>
      <p:ext uri="{BB962C8B-B14F-4D97-AF65-F5344CB8AC3E}">
        <p14:creationId xmlns:p14="http://schemas.microsoft.com/office/powerpoint/2010/main" val="17310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6C71140-58FD-4F9E-AC73-BDC37919DABA}"/>
              </a:ext>
            </a:extLst>
          </p:cNvPr>
          <p:cNvSpPr txBox="1"/>
          <p:nvPr/>
        </p:nvSpPr>
        <p:spPr>
          <a:xfrm>
            <a:off x="460773" y="324892"/>
            <a:ext cx="6093618" cy="4832092"/>
          </a:xfrm>
          <a:prstGeom prst="rect">
            <a:avLst/>
          </a:prstGeom>
          <a:noFill/>
        </p:spPr>
        <p:txBody>
          <a:bodyPr wrap="square">
            <a:spAutoFit/>
          </a:bodyPr>
          <a:lstStyle/>
          <a:p>
            <a:r>
              <a:rPr lang="en-US" b="1" dirty="0"/>
              <a:t>1. System Architecture Preparation</a:t>
            </a:r>
          </a:p>
          <a:p>
            <a:r>
              <a:rPr lang="en-US" dirty="0">
                <a:solidFill>
                  <a:srgbClr val="FF0000"/>
                </a:solidFill>
              </a:rPr>
              <a:t>Before deployment</a:t>
            </a:r>
            <a:r>
              <a:rPr lang="en-US" dirty="0"/>
              <a:t>, the system architecture must be finalized, including </a:t>
            </a:r>
            <a:r>
              <a:rPr lang="en-US" dirty="0">
                <a:solidFill>
                  <a:srgbClr val="FF0000"/>
                </a:solidFill>
              </a:rPr>
              <a:t>hardware, software components, network configuration, and database structures</a:t>
            </a:r>
            <a:r>
              <a:rPr lang="en-US" dirty="0"/>
              <a:t>. This ensures the solution is scalable, efficient, and robust. Proper architectural planning reduces integration challenges and supports smooth deployment in production environments.</a:t>
            </a:r>
          </a:p>
        </p:txBody>
      </p:sp>
      <p:sp>
        <p:nvSpPr>
          <p:cNvPr id="4" name="TextBox 3">
            <a:extLst>
              <a:ext uri="{FF2B5EF4-FFF2-40B4-BE49-F238E27FC236}">
                <a16:creationId xmlns:a16="http://schemas.microsoft.com/office/drawing/2014/main" id="{C33AEE8E-0761-4FD5-913F-F92334957A91}"/>
              </a:ext>
            </a:extLst>
          </p:cNvPr>
          <p:cNvSpPr txBox="1"/>
          <p:nvPr/>
        </p:nvSpPr>
        <p:spPr>
          <a:xfrm>
            <a:off x="7715250" y="324892"/>
            <a:ext cx="3768328" cy="2923877"/>
          </a:xfrm>
          <a:prstGeom prst="rect">
            <a:avLst/>
          </a:prstGeom>
          <a:noFill/>
        </p:spPr>
        <p:txBody>
          <a:bodyPr wrap="square">
            <a:spAutoFit/>
          </a:bodyPr>
          <a:lstStyle/>
          <a:p>
            <a:r>
              <a:rPr lang="en-US" sz="2300" dirty="0">
                <a:solidFill>
                  <a:srgbClr val="FF0000"/>
                </a:solidFill>
              </a:rPr>
              <a:t>planning the overall structure of a digital system before full development begins, including how its components, databases, applications, networks, and external services will work together.</a:t>
            </a:r>
            <a:endParaRPr lang="th-TH" sz="2300" dirty="0">
              <a:solidFill>
                <a:srgbClr val="FF0000"/>
              </a:solidFill>
            </a:endParaRPr>
          </a:p>
        </p:txBody>
      </p:sp>
    </p:spTree>
    <p:extLst>
      <p:ext uri="{BB962C8B-B14F-4D97-AF65-F5344CB8AC3E}">
        <p14:creationId xmlns:p14="http://schemas.microsoft.com/office/powerpoint/2010/main" val="3712602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1305ACD-16DF-487A-A8B4-CF155728C626}"/>
              </a:ext>
            </a:extLst>
          </p:cNvPr>
          <p:cNvPicPr>
            <a:picLocks noChangeAspect="1"/>
          </p:cNvPicPr>
          <p:nvPr/>
        </p:nvPicPr>
        <p:blipFill>
          <a:blip r:embed="rId2"/>
          <a:stretch>
            <a:fillRect/>
          </a:stretch>
        </p:blipFill>
        <p:spPr>
          <a:xfrm>
            <a:off x="2032000" y="0"/>
            <a:ext cx="8128000" cy="6858000"/>
          </a:xfrm>
          <a:prstGeom prst="rect">
            <a:avLst/>
          </a:prstGeom>
        </p:spPr>
      </p:pic>
    </p:spTree>
    <p:extLst>
      <p:ext uri="{BB962C8B-B14F-4D97-AF65-F5344CB8AC3E}">
        <p14:creationId xmlns:p14="http://schemas.microsoft.com/office/powerpoint/2010/main" val="3380624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8FA041-33EA-4103-8314-4DB62A7AFE2A}"/>
              </a:ext>
            </a:extLst>
          </p:cNvPr>
          <p:cNvPicPr>
            <a:picLocks noChangeAspect="1"/>
          </p:cNvPicPr>
          <p:nvPr/>
        </p:nvPicPr>
        <p:blipFill>
          <a:blip r:embed="rId2"/>
          <a:stretch>
            <a:fillRect/>
          </a:stretch>
        </p:blipFill>
        <p:spPr>
          <a:xfrm>
            <a:off x="2571750" y="1557337"/>
            <a:ext cx="7048500" cy="3743325"/>
          </a:xfrm>
          <a:prstGeom prst="rect">
            <a:avLst/>
          </a:prstGeom>
        </p:spPr>
      </p:pic>
    </p:spTree>
    <p:extLst>
      <p:ext uri="{BB962C8B-B14F-4D97-AF65-F5344CB8AC3E}">
        <p14:creationId xmlns:p14="http://schemas.microsoft.com/office/powerpoint/2010/main" val="3517691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866821-3690-491E-BA72-0294091A1C91}"/>
              </a:ext>
            </a:extLst>
          </p:cNvPr>
          <p:cNvSpPr txBox="1"/>
          <p:nvPr/>
        </p:nvSpPr>
        <p:spPr>
          <a:xfrm>
            <a:off x="246460" y="172552"/>
            <a:ext cx="11697890" cy="5755422"/>
          </a:xfrm>
          <a:prstGeom prst="rect">
            <a:avLst/>
          </a:prstGeom>
          <a:noFill/>
        </p:spPr>
        <p:txBody>
          <a:bodyPr wrap="square">
            <a:spAutoFit/>
          </a:bodyPr>
          <a:lstStyle/>
          <a:p>
            <a:r>
              <a:rPr lang="en-US" sz="2300" b="1" dirty="0"/>
              <a:t>Example:</a:t>
            </a:r>
            <a:endParaRPr lang="en-US" sz="2300" dirty="0"/>
          </a:p>
          <a:p>
            <a:r>
              <a:rPr lang="en-US" sz="2300" dirty="0"/>
              <a:t>A company plans to develop a </a:t>
            </a:r>
            <a:r>
              <a:rPr lang="en-US" sz="2300" b="1" dirty="0"/>
              <a:t>mobile banking application</a:t>
            </a:r>
            <a:r>
              <a:rPr lang="en-US" sz="2300" dirty="0"/>
              <a:t>. Before programmers begin building all features, the technical team prepares the system architecture.</a:t>
            </a:r>
          </a:p>
          <a:p>
            <a:r>
              <a:rPr lang="en-US" sz="2300" dirty="0"/>
              <a:t>They decide that the system will include a </a:t>
            </a:r>
            <a:r>
              <a:rPr lang="en-US" sz="2300" b="1" dirty="0"/>
              <a:t>mobile application, API layer, authentication service, transaction-processing module, customer database, security controls, and cloud infrastructure</a:t>
            </a:r>
            <a:r>
              <a:rPr lang="en-US" sz="2300" dirty="0"/>
              <a:t>.</a:t>
            </a:r>
          </a:p>
          <a:p>
            <a:r>
              <a:rPr lang="en-US" sz="2300" dirty="0"/>
              <a:t>For example, when a customer transfers money, the mobile application sends the request to the API, the authentication service verifies the user, the transaction module processes the payment, and the database records the transaction.</a:t>
            </a:r>
          </a:p>
          <a:p>
            <a:r>
              <a:rPr lang="en-US" sz="2300" dirty="0"/>
              <a:t>System architecture preparation typically includes:</a:t>
            </a:r>
          </a:p>
          <a:p>
            <a:pPr>
              <a:buFont typeface="Arial" panose="020B0604020202020204" pitchFamily="34" charset="0"/>
              <a:buChar char="•"/>
            </a:pPr>
            <a:r>
              <a:rPr lang="en-US" sz="2300" b="1" dirty="0"/>
              <a:t>System components</a:t>
            </a:r>
            <a:r>
              <a:rPr lang="en-US" sz="2300" dirty="0"/>
              <a:t> — identifying the major modules and services. </a:t>
            </a:r>
          </a:p>
          <a:p>
            <a:pPr>
              <a:buFont typeface="Arial" panose="020B0604020202020204" pitchFamily="34" charset="0"/>
              <a:buChar char="•"/>
            </a:pPr>
            <a:r>
              <a:rPr lang="en-US" sz="2300" b="1" dirty="0"/>
              <a:t>Data architecture</a:t>
            </a:r>
            <a:r>
              <a:rPr lang="en-US" sz="2300" dirty="0"/>
              <a:t> — deciding how information will be stored and accessed. </a:t>
            </a:r>
          </a:p>
          <a:p>
            <a:pPr>
              <a:buFont typeface="Arial" panose="020B0604020202020204" pitchFamily="34" charset="0"/>
              <a:buChar char="•"/>
            </a:pPr>
            <a:r>
              <a:rPr lang="en-US" sz="2300" b="1" dirty="0"/>
              <a:t>Integration design</a:t>
            </a:r>
            <a:r>
              <a:rPr lang="en-US" sz="2300" dirty="0"/>
              <a:t> — defining how different systems communicate. </a:t>
            </a:r>
          </a:p>
          <a:p>
            <a:pPr>
              <a:buFont typeface="Arial" panose="020B0604020202020204" pitchFamily="34" charset="0"/>
              <a:buChar char="•"/>
            </a:pPr>
            <a:r>
              <a:rPr lang="en-US" sz="2300" b="1" dirty="0"/>
              <a:t>Security architecture</a:t>
            </a:r>
            <a:r>
              <a:rPr lang="en-US" sz="2300" dirty="0"/>
              <a:t> — planning authentication, access control, and data protection. </a:t>
            </a:r>
          </a:p>
          <a:p>
            <a:pPr>
              <a:buFont typeface="Arial" panose="020B0604020202020204" pitchFamily="34" charset="0"/>
              <a:buChar char="•"/>
            </a:pPr>
            <a:r>
              <a:rPr lang="en-US" sz="2300" b="1" dirty="0"/>
              <a:t>Scalability planning</a:t>
            </a:r>
            <a:r>
              <a:rPr lang="en-US" sz="2300" dirty="0"/>
              <a:t> — ensuring the system can handle future growth. </a:t>
            </a:r>
          </a:p>
          <a:p>
            <a:pPr>
              <a:buFont typeface="Arial" panose="020B0604020202020204" pitchFamily="34" charset="0"/>
              <a:buChar char="•"/>
            </a:pPr>
            <a:r>
              <a:rPr lang="en-US" sz="2300" b="1" dirty="0"/>
              <a:t>Technology selection</a:t>
            </a:r>
            <a:r>
              <a:rPr lang="en-US" sz="2300" dirty="0"/>
              <a:t> — choosing suitable platforms, databases, cloud services, and frameworks.</a:t>
            </a:r>
          </a:p>
        </p:txBody>
      </p:sp>
    </p:spTree>
    <p:extLst>
      <p:ext uri="{BB962C8B-B14F-4D97-AF65-F5344CB8AC3E}">
        <p14:creationId xmlns:p14="http://schemas.microsoft.com/office/powerpoint/2010/main" val="1898573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EC9D55-3AA8-404D-8813-64E5BA290207}"/>
              </a:ext>
            </a:extLst>
          </p:cNvPr>
          <p:cNvSpPr txBox="1"/>
          <p:nvPr/>
        </p:nvSpPr>
        <p:spPr>
          <a:xfrm>
            <a:off x="477441" y="313997"/>
            <a:ext cx="6093618" cy="5262979"/>
          </a:xfrm>
          <a:prstGeom prst="rect">
            <a:avLst/>
          </a:prstGeom>
          <a:noFill/>
        </p:spPr>
        <p:txBody>
          <a:bodyPr wrap="square">
            <a:spAutoFit/>
          </a:bodyPr>
          <a:lstStyle/>
          <a:p>
            <a:r>
              <a:rPr lang="en-US" b="1" dirty="0"/>
              <a:t>2. Environment Setup and Configuration</a:t>
            </a:r>
          </a:p>
          <a:p>
            <a:r>
              <a:rPr lang="en-US" dirty="0">
                <a:solidFill>
                  <a:srgbClr val="FF0000"/>
                </a:solidFill>
              </a:rPr>
              <a:t>Deployment requires preparing development, testing, staging, and production environments</a:t>
            </a:r>
            <a:r>
              <a:rPr lang="en-US" dirty="0"/>
              <a:t>. Each environment must be configured with consistent settings, security controls, and version management. Proper setup ensures reliable testing, minimizes configuration drift, and supports seamless transitions from development to live systems.</a:t>
            </a:r>
          </a:p>
        </p:txBody>
      </p:sp>
      <p:sp>
        <p:nvSpPr>
          <p:cNvPr id="4" name="TextBox 3">
            <a:extLst>
              <a:ext uri="{FF2B5EF4-FFF2-40B4-BE49-F238E27FC236}">
                <a16:creationId xmlns:a16="http://schemas.microsoft.com/office/drawing/2014/main" id="{CFC2EBB2-161E-43CF-AA63-B0F2DCF90495}"/>
              </a:ext>
            </a:extLst>
          </p:cNvPr>
          <p:cNvSpPr txBox="1"/>
          <p:nvPr/>
        </p:nvSpPr>
        <p:spPr>
          <a:xfrm>
            <a:off x="8567737" y="433953"/>
            <a:ext cx="3044428" cy="4401205"/>
          </a:xfrm>
          <a:prstGeom prst="rect">
            <a:avLst/>
          </a:prstGeom>
          <a:noFill/>
        </p:spPr>
        <p:txBody>
          <a:bodyPr wrap="square">
            <a:spAutoFit/>
          </a:bodyPr>
          <a:lstStyle/>
          <a:p>
            <a:r>
              <a:rPr lang="en-US" dirty="0">
                <a:solidFill>
                  <a:srgbClr val="FF0000"/>
                </a:solidFill>
              </a:rPr>
              <a:t>preparing the software, hardware, tools, databases, networks, and settings required for a development team to build, test, and run a digital system correctly.</a:t>
            </a:r>
            <a:endParaRPr lang="th-TH" dirty="0">
              <a:solidFill>
                <a:srgbClr val="FF0000"/>
              </a:solidFill>
            </a:endParaRPr>
          </a:p>
        </p:txBody>
      </p:sp>
    </p:spTree>
    <p:extLst>
      <p:ext uri="{BB962C8B-B14F-4D97-AF65-F5344CB8AC3E}">
        <p14:creationId xmlns:p14="http://schemas.microsoft.com/office/powerpoint/2010/main" val="545943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AF5EDF-D459-47D9-AADC-FA2868E63EB6}"/>
              </a:ext>
            </a:extLst>
          </p:cNvPr>
          <p:cNvPicPr>
            <a:picLocks noChangeAspect="1"/>
          </p:cNvPicPr>
          <p:nvPr/>
        </p:nvPicPr>
        <p:blipFill>
          <a:blip r:embed="rId2"/>
          <a:stretch>
            <a:fillRect/>
          </a:stretch>
        </p:blipFill>
        <p:spPr>
          <a:xfrm>
            <a:off x="2381250" y="1514475"/>
            <a:ext cx="7429500" cy="3829050"/>
          </a:xfrm>
          <a:prstGeom prst="rect">
            <a:avLst/>
          </a:prstGeom>
        </p:spPr>
      </p:pic>
    </p:spTree>
    <p:extLst>
      <p:ext uri="{BB962C8B-B14F-4D97-AF65-F5344CB8AC3E}">
        <p14:creationId xmlns:p14="http://schemas.microsoft.com/office/powerpoint/2010/main" val="382140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03D85A-35BE-48BF-9EB4-CB2AC233B4DF}"/>
              </a:ext>
            </a:extLst>
          </p:cNvPr>
          <p:cNvSpPr txBox="1"/>
          <p:nvPr/>
        </p:nvSpPr>
        <p:spPr>
          <a:xfrm>
            <a:off x="417910" y="246252"/>
            <a:ext cx="11540728" cy="5755422"/>
          </a:xfrm>
          <a:prstGeom prst="rect">
            <a:avLst/>
          </a:prstGeom>
          <a:noFill/>
        </p:spPr>
        <p:txBody>
          <a:bodyPr wrap="square">
            <a:spAutoFit/>
          </a:bodyPr>
          <a:lstStyle/>
          <a:p>
            <a:r>
              <a:rPr lang="en-US" sz="2300" b="1" dirty="0"/>
              <a:t>Example:</a:t>
            </a:r>
            <a:endParaRPr lang="en-US" sz="2300" dirty="0"/>
          </a:p>
          <a:p>
            <a:r>
              <a:rPr lang="en-US" sz="2300" dirty="0"/>
              <a:t>A team is developing a </a:t>
            </a:r>
            <a:r>
              <a:rPr lang="en-US" sz="2300" b="1" dirty="0"/>
              <a:t>mobile banking application</a:t>
            </a:r>
            <a:r>
              <a:rPr lang="en-US" sz="2300" dirty="0"/>
              <a:t>. Before developers start programming, they prepare a development environment by installing the required </a:t>
            </a:r>
            <a:r>
              <a:rPr lang="en-US" sz="2300" b="1" dirty="0"/>
              <a:t>programming tools, databases, APIs, security settings, and cloud services</a:t>
            </a:r>
            <a:r>
              <a:rPr lang="en-US" sz="2300" dirty="0"/>
              <a:t>.</a:t>
            </a:r>
          </a:p>
          <a:p>
            <a:r>
              <a:rPr lang="en-US" sz="2300" dirty="0"/>
              <a:t>For example, the team creates separate environments for </a:t>
            </a:r>
            <a:r>
              <a:rPr lang="en-US" sz="2300" b="1" dirty="0"/>
              <a:t>development, testing, and production</a:t>
            </a:r>
            <a:r>
              <a:rPr lang="en-US" sz="2300" dirty="0"/>
              <a:t>. Developers first build the money-transfer feature in the development environment. It is then moved to the testing environment, where security and functionality are checked. After successful testing, the feature is deployed to the production environment for customers.</a:t>
            </a:r>
          </a:p>
          <a:p>
            <a:endParaRPr lang="en-US" sz="2300" dirty="0"/>
          </a:p>
          <a:p>
            <a:r>
              <a:rPr lang="en-US" sz="2300" dirty="0">
                <a:solidFill>
                  <a:srgbClr val="FF0000"/>
                </a:solidFill>
              </a:rPr>
              <a:t>Environment setup and configuration includes:</a:t>
            </a:r>
          </a:p>
          <a:p>
            <a:pPr>
              <a:buFont typeface="Arial" panose="020B0604020202020204" pitchFamily="34" charset="0"/>
              <a:buChar char="•"/>
            </a:pPr>
            <a:r>
              <a:rPr lang="en-US" sz="2300" b="1" dirty="0"/>
              <a:t>Development tools</a:t>
            </a:r>
            <a:r>
              <a:rPr lang="en-US" sz="2300" dirty="0"/>
              <a:t> — installing programming and collaboration tools. </a:t>
            </a:r>
          </a:p>
          <a:p>
            <a:pPr>
              <a:buFont typeface="Arial" panose="020B0604020202020204" pitchFamily="34" charset="0"/>
              <a:buChar char="•"/>
            </a:pPr>
            <a:r>
              <a:rPr lang="en-US" sz="2300" b="1" dirty="0"/>
              <a:t>Database configuration</a:t>
            </a:r>
            <a:r>
              <a:rPr lang="en-US" sz="2300" dirty="0"/>
              <a:t> — preparing databases and data connections. </a:t>
            </a:r>
          </a:p>
          <a:p>
            <a:pPr>
              <a:buFont typeface="Arial" panose="020B0604020202020204" pitchFamily="34" charset="0"/>
              <a:buChar char="•"/>
            </a:pPr>
            <a:r>
              <a:rPr lang="en-US" sz="2300" b="1" dirty="0"/>
              <a:t>Server or cloud setup</a:t>
            </a:r>
            <a:r>
              <a:rPr lang="en-US" sz="2300" dirty="0"/>
              <a:t> — configuring computing infrastructure. </a:t>
            </a:r>
          </a:p>
          <a:p>
            <a:pPr>
              <a:buFont typeface="Arial" panose="020B0604020202020204" pitchFamily="34" charset="0"/>
              <a:buChar char="•"/>
            </a:pPr>
            <a:r>
              <a:rPr lang="en-US" sz="2300" b="1" dirty="0"/>
              <a:t>Security configuration</a:t>
            </a:r>
            <a:r>
              <a:rPr lang="en-US" sz="2300" dirty="0"/>
              <a:t> — setting permissions and access controls. </a:t>
            </a:r>
          </a:p>
          <a:p>
            <a:pPr>
              <a:buFont typeface="Arial" panose="020B0604020202020204" pitchFamily="34" charset="0"/>
              <a:buChar char="•"/>
            </a:pPr>
            <a:r>
              <a:rPr lang="en-US" sz="2300" b="1" dirty="0"/>
              <a:t>Testing environment</a:t>
            </a:r>
            <a:r>
              <a:rPr lang="en-US" sz="2300" dirty="0"/>
              <a:t> — creating a safe environment for testing new features. </a:t>
            </a:r>
          </a:p>
          <a:p>
            <a:pPr>
              <a:buFont typeface="Arial" panose="020B0604020202020204" pitchFamily="34" charset="0"/>
              <a:buChar char="•"/>
            </a:pPr>
            <a:r>
              <a:rPr lang="en-US" sz="2300" b="1" dirty="0"/>
              <a:t>Production environment</a:t>
            </a:r>
            <a:r>
              <a:rPr lang="en-US" sz="2300" dirty="0"/>
              <a:t> — preparing the live system for actual users.</a:t>
            </a:r>
          </a:p>
        </p:txBody>
      </p:sp>
    </p:spTree>
    <p:extLst>
      <p:ext uri="{BB962C8B-B14F-4D97-AF65-F5344CB8AC3E}">
        <p14:creationId xmlns:p14="http://schemas.microsoft.com/office/powerpoint/2010/main" val="2980371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BBA756-B518-46D6-9789-034E11DDEE6B}"/>
              </a:ext>
            </a:extLst>
          </p:cNvPr>
          <p:cNvSpPr txBox="1"/>
          <p:nvPr/>
        </p:nvSpPr>
        <p:spPr>
          <a:xfrm>
            <a:off x="503635" y="370016"/>
            <a:ext cx="6093618" cy="4401205"/>
          </a:xfrm>
          <a:prstGeom prst="rect">
            <a:avLst/>
          </a:prstGeom>
          <a:noFill/>
        </p:spPr>
        <p:txBody>
          <a:bodyPr wrap="square">
            <a:spAutoFit/>
          </a:bodyPr>
          <a:lstStyle/>
          <a:p>
            <a:r>
              <a:rPr lang="en-US" b="1" dirty="0"/>
              <a:t>3. Data Migration and Integration</a:t>
            </a:r>
          </a:p>
          <a:p>
            <a:r>
              <a:rPr lang="en-US" dirty="0"/>
              <a:t>Data migration involves transferring existing data from legacy systems into the new platform. This includes cleaning, validating, mapping, and integrating data sources. A successful migration ensures continuity, accuracy, and compatibility with new features, enabling the system to perform effectively from day one.</a:t>
            </a:r>
          </a:p>
        </p:txBody>
      </p:sp>
      <p:sp>
        <p:nvSpPr>
          <p:cNvPr id="4" name="TextBox 3">
            <a:extLst>
              <a:ext uri="{FF2B5EF4-FFF2-40B4-BE49-F238E27FC236}">
                <a16:creationId xmlns:a16="http://schemas.microsoft.com/office/drawing/2014/main" id="{8F99A908-E1D7-400A-AD86-263899FFDB58}"/>
              </a:ext>
            </a:extLst>
          </p:cNvPr>
          <p:cNvSpPr txBox="1"/>
          <p:nvPr/>
        </p:nvSpPr>
        <p:spPr>
          <a:xfrm>
            <a:off x="8629650" y="492234"/>
            <a:ext cx="2796778" cy="3539430"/>
          </a:xfrm>
          <a:prstGeom prst="rect">
            <a:avLst/>
          </a:prstGeom>
          <a:noFill/>
        </p:spPr>
        <p:txBody>
          <a:bodyPr wrap="square">
            <a:spAutoFit/>
          </a:bodyPr>
          <a:lstStyle/>
          <a:p>
            <a:r>
              <a:rPr lang="en-US" dirty="0">
                <a:solidFill>
                  <a:srgbClr val="FF0000"/>
                </a:solidFill>
                <a:highlight>
                  <a:srgbClr val="FFFF00"/>
                </a:highlight>
              </a:rPr>
              <a:t>moving data from an old system to a new system </a:t>
            </a:r>
            <a:r>
              <a:rPr lang="en-US" dirty="0">
                <a:solidFill>
                  <a:srgbClr val="FF0000"/>
                </a:solidFill>
              </a:rPr>
              <a:t>and connecting different systems so they can exchange and use data correctly.</a:t>
            </a:r>
            <a:endParaRPr lang="th-TH" dirty="0">
              <a:solidFill>
                <a:srgbClr val="FF0000"/>
              </a:solidFill>
            </a:endParaRPr>
          </a:p>
        </p:txBody>
      </p:sp>
    </p:spTree>
    <p:extLst>
      <p:ext uri="{BB962C8B-B14F-4D97-AF65-F5344CB8AC3E}">
        <p14:creationId xmlns:p14="http://schemas.microsoft.com/office/powerpoint/2010/main" val="2342095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A9EDD1-6168-47E9-AA91-0B894F9B2D3F}"/>
              </a:ext>
            </a:extLst>
          </p:cNvPr>
          <p:cNvPicPr>
            <a:picLocks noChangeAspect="1"/>
          </p:cNvPicPr>
          <p:nvPr/>
        </p:nvPicPr>
        <p:blipFill>
          <a:blip r:embed="rId2"/>
          <a:stretch>
            <a:fillRect/>
          </a:stretch>
        </p:blipFill>
        <p:spPr>
          <a:xfrm>
            <a:off x="723900" y="653540"/>
            <a:ext cx="10744200" cy="5068019"/>
          </a:xfrm>
          <a:prstGeom prst="rect">
            <a:avLst/>
          </a:prstGeom>
        </p:spPr>
      </p:pic>
    </p:spTree>
    <p:extLst>
      <p:ext uri="{BB962C8B-B14F-4D97-AF65-F5344CB8AC3E}">
        <p14:creationId xmlns:p14="http://schemas.microsoft.com/office/powerpoint/2010/main" val="633169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5CEA782-9FCB-4D0F-8931-FF4F4DEB6DF3}"/>
              </a:ext>
            </a:extLst>
          </p:cNvPr>
          <p:cNvPicPr>
            <a:picLocks noChangeAspect="1"/>
          </p:cNvPicPr>
          <p:nvPr/>
        </p:nvPicPr>
        <p:blipFill>
          <a:blip r:embed="rId2"/>
          <a:stretch>
            <a:fillRect/>
          </a:stretch>
        </p:blipFill>
        <p:spPr>
          <a:xfrm>
            <a:off x="0" y="1191816"/>
            <a:ext cx="12192000" cy="4997588"/>
          </a:xfrm>
          <a:prstGeom prst="rect">
            <a:avLst/>
          </a:prstGeom>
        </p:spPr>
      </p:pic>
      <p:sp>
        <p:nvSpPr>
          <p:cNvPr id="4" name="TextBox 3">
            <a:extLst>
              <a:ext uri="{FF2B5EF4-FFF2-40B4-BE49-F238E27FC236}">
                <a16:creationId xmlns:a16="http://schemas.microsoft.com/office/drawing/2014/main" id="{433A7E79-BF42-4302-B0BF-9D7DE48A77AA}"/>
              </a:ext>
            </a:extLst>
          </p:cNvPr>
          <p:cNvSpPr txBox="1"/>
          <p:nvPr/>
        </p:nvSpPr>
        <p:spPr>
          <a:xfrm>
            <a:off x="789385" y="406986"/>
            <a:ext cx="6093618" cy="523220"/>
          </a:xfrm>
          <a:prstGeom prst="rect">
            <a:avLst/>
          </a:prstGeom>
          <a:noFill/>
        </p:spPr>
        <p:txBody>
          <a:bodyPr wrap="square">
            <a:spAutoFit/>
          </a:bodyPr>
          <a:lstStyle/>
          <a:p>
            <a:r>
              <a:rPr lang="en-GB" dirty="0"/>
              <a:t>Data Integration</a:t>
            </a:r>
            <a:endParaRPr lang="th-TH" dirty="0"/>
          </a:p>
        </p:txBody>
      </p:sp>
    </p:spTree>
    <p:extLst>
      <p:ext uri="{BB962C8B-B14F-4D97-AF65-F5344CB8AC3E}">
        <p14:creationId xmlns:p14="http://schemas.microsoft.com/office/powerpoint/2010/main" val="2656608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658FEB3-5185-4D1C-B998-A795998E285D}"/>
              </a:ext>
            </a:extLst>
          </p:cNvPr>
          <p:cNvPicPr>
            <a:picLocks noChangeAspect="1"/>
          </p:cNvPicPr>
          <p:nvPr/>
        </p:nvPicPr>
        <p:blipFill>
          <a:blip r:embed="rId2"/>
          <a:stretch>
            <a:fillRect/>
          </a:stretch>
        </p:blipFill>
        <p:spPr>
          <a:xfrm>
            <a:off x="2819400" y="866775"/>
            <a:ext cx="6553200" cy="5124450"/>
          </a:xfrm>
          <a:prstGeom prst="rect">
            <a:avLst/>
          </a:prstGeom>
        </p:spPr>
      </p:pic>
    </p:spTree>
    <p:extLst>
      <p:ext uri="{BB962C8B-B14F-4D97-AF65-F5344CB8AC3E}">
        <p14:creationId xmlns:p14="http://schemas.microsoft.com/office/powerpoint/2010/main" val="3363833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915A25-E61C-4B51-8F29-20C546A23496}"/>
              </a:ext>
            </a:extLst>
          </p:cNvPr>
          <p:cNvSpPr txBox="1"/>
          <p:nvPr/>
        </p:nvSpPr>
        <p:spPr>
          <a:xfrm>
            <a:off x="375046" y="241727"/>
            <a:ext cx="11526441" cy="6109365"/>
          </a:xfrm>
          <a:prstGeom prst="rect">
            <a:avLst/>
          </a:prstGeom>
          <a:noFill/>
        </p:spPr>
        <p:txBody>
          <a:bodyPr wrap="square">
            <a:spAutoFit/>
          </a:bodyPr>
          <a:lstStyle/>
          <a:p>
            <a:r>
              <a:rPr lang="en-US" sz="2300" b="1" dirty="0"/>
              <a:t>Example:</a:t>
            </a:r>
            <a:endParaRPr lang="en-US" sz="2300" dirty="0"/>
          </a:p>
          <a:p>
            <a:r>
              <a:rPr lang="en-US" sz="2300" dirty="0"/>
              <a:t>A bank is replacing its </a:t>
            </a:r>
            <a:r>
              <a:rPr lang="en-US" sz="2300" b="1" dirty="0"/>
              <a:t>old banking system with a new digital banking platform</a:t>
            </a:r>
            <a:r>
              <a:rPr lang="en-US" sz="2300" dirty="0"/>
              <a:t>. The bank needs to transfer existing customer information, including </a:t>
            </a:r>
            <a:r>
              <a:rPr lang="en-US" sz="2300" b="1" dirty="0"/>
              <a:t>customer profiles, account balances, transaction histories, and payment records</a:t>
            </a:r>
            <a:r>
              <a:rPr lang="en-US" sz="2300" dirty="0"/>
              <a:t>, from the old database to the new system.</a:t>
            </a:r>
          </a:p>
          <a:p>
            <a:r>
              <a:rPr lang="en-US" sz="2300" dirty="0"/>
              <a:t>For example, before launching the new mobile banking application, the technical team </a:t>
            </a:r>
            <a:r>
              <a:rPr lang="en-US" sz="2300" b="1" dirty="0"/>
              <a:t>extracts customer data from the old system, cleans and validates it, transforms it into the required format, and loads it into the new database</a:t>
            </a:r>
            <a:r>
              <a:rPr lang="en-US" sz="2300" dirty="0"/>
              <a:t>. The new platform is also integrated with payment gateways and other banking services through APIs.</a:t>
            </a:r>
          </a:p>
          <a:p>
            <a:r>
              <a:rPr lang="en-US" sz="2300" dirty="0"/>
              <a:t>Data migration and integration involve:</a:t>
            </a:r>
          </a:p>
          <a:p>
            <a:pPr>
              <a:buFont typeface="Arial" panose="020B0604020202020204" pitchFamily="34" charset="0"/>
              <a:buChar char="•"/>
            </a:pPr>
            <a:r>
              <a:rPr lang="en-US" sz="2300" b="1" dirty="0"/>
              <a:t>Data extraction</a:t>
            </a:r>
            <a:r>
              <a:rPr lang="en-US" sz="2300" dirty="0"/>
              <a:t> — collecting data from existing systems. </a:t>
            </a:r>
          </a:p>
          <a:p>
            <a:pPr>
              <a:buFont typeface="Arial" panose="020B0604020202020204" pitchFamily="34" charset="0"/>
              <a:buChar char="•"/>
            </a:pPr>
            <a:r>
              <a:rPr lang="en-US" sz="2300" b="1" dirty="0"/>
              <a:t>Data cleaning</a:t>
            </a:r>
            <a:r>
              <a:rPr lang="en-US" sz="2300" dirty="0"/>
              <a:t> — correcting incomplete, duplicated, or incorrect information. </a:t>
            </a:r>
          </a:p>
          <a:p>
            <a:pPr>
              <a:buFont typeface="Arial" panose="020B0604020202020204" pitchFamily="34" charset="0"/>
              <a:buChar char="•"/>
            </a:pPr>
            <a:r>
              <a:rPr lang="en-US" sz="2300" b="1" dirty="0"/>
              <a:t>Data transformation</a:t>
            </a:r>
            <a:r>
              <a:rPr lang="en-US" sz="2300" dirty="0"/>
              <a:t> — converting data into the format required by the new system. </a:t>
            </a:r>
          </a:p>
          <a:p>
            <a:pPr>
              <a:buFont typeface="Arial" panose="020B0604020202020204" pitchFamily="34" charset="0"/>
              <a:buChar char="•"/>
            </a:pPr>
            <a:r>
              <a:rPr lang="en-US" sz="2300" b="1" dirty="0"/>
              <a:t>Data loading</a:t>
            </a:r>
            <a:r>
              <a:rPr lang="en-US" sz="2300" dirty="0"/>
              <a:t> — transferring the prepared data into the new system. </a:t>
            </a:r>
          </a:p>
          <a:p>
            <a:pPr>
              <a:buFont typeface="Arial" panose="020B0604020202020204" pitchFamily="34" charset="0"/>
              <a:buChar char="•"/>
            </a:pPr>
            <a:r>
              <a:rPr lang="en-US" sz="2300" b="1" dirty="0"/>
              <a:t>System integration</a:t>
            </a:r>
            <a:r>
              <a:rPr lang="en-US" sz="2300" dirty="0"/>
              <a:t> — connecting applications, databases, APIs, and external services. </a:t>
            </a:r>
          </a:p>
          <a:p>
            <a:pPr>
              <a:buFont typeface="Arial" panose="020B0604020202020204" pitchFamily="34" charset="0"/>
              <a:buChar char="•"/>
            </a:pPr>
            <a:r>
              <a:rPr lang="en-US" sz="2300" b="1" dirty="0"/>
              <a:t>Data validation</a:t>
            </a:r>
            <a:r>
              <a:rPr lang="en-US" sz="2300" dirty="0"/>
              <a:t> — checking that transferred data is accurate and complete. </a:t>
            </a:r>
          </a:p>
          <a:p>
            <a:pPr>
              <a:buFont typeface="Arial" panose="020B0604020202020204" pitchFamily="34" charset="0"/>
              <a:buChar char="•"/>
            </a:pPr>
            <a:r>
              <a:rPr lang="en-US" sz="2300" b="1" dirty="0"/>
              <a:t>Security and privacy</a:t>
            </a:r>
            <a:r>
              <a:rPr lang="en-US" sz="2300" dirty="0"/>
              <a:t> — protecting sensitive information during migration.</a:t>
            </a:r>
          </a:p>
        </p:txBody>
      </p:sp>
    </p:spTree>
    <p:extLst>
      <p:ext uri="{BB962C8B-B14F-4D97-AF65-F5344CB8AC3E}">
        <p14:creationId xmlns:p14="http://schemas.microsoft.com/office/powerpoint/2010/main" val="631632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C2F0F8-27BF-4B01-9C36-99D0415FE4D7}"/>
              </a:ext>
            </a:extLst>
          </p:cNvPr>
          <p:cNvSpPr txBox="1"/>
          <p:nvPr/>
        </p:nvSpPr>
        <p:spPr>
          <a:xfrm>
            <a:off x="489348" y="384304"/>
            <a:ext cx="6093618" cy="4401205"/>
          </a:xfrm>
          <a:prstGeom prst="rect">
            <a:avLst/>
          </a:prstGeom>
          <a:noFill/>
        </p:spPr>
        <p:txBody>
          <a:bodyPr wrap="square">
            <a:spAutoFit/>
          </a:bodyPr>
          <a:lstStyle/>
          <a:p>
            <a:r>
              <a:rPr lang="en-US" b="1" dirty="0"/>
              <a:t>4. </a:t>
            </a:r>
            <a:r>
              <a:rPr lang="en-US" b="1" dirty="0">
                <a:highlight>
                  <a:srgbClr val="FFFF00"/>
                </a:highlight>
              </a:rPr>
              <a:t>API</a:t>
            </a:r>
            <a:r>
              <a:rPr lang="en-US" b="1" dirty="0"/>
              <a:t> Integration and Connectivity</a:t>
            </a:r>
          </a:p>
          <a:p>
            <a:r>
              <a:rPr lang="en-US" dirty="0"/>
              <a:t>Modern deployments depend on APIs to communicate between services. Ensuring stable API integration, secure endpoints, authentication, and error handling is essential. Proper connectivity testing ensures smooth data exchange and prevents system downtime caused by broken integrations or incompatible API versions.</a:t>
            </a:r>
          </a:p>
        </p:txBody>
      </p:sp>
      <p:sp>
        <p:nvSpPr>
          <p:cNvPr id="4" name="TextBox 3">
            <a:extLst>
              <a:ext uri="{FF2B5EF4-FFF2-40B4-BE49-F238E27FC236}">
                <a16:creationId xmlns:a16="http://schemas.microsoft.com/office/drawing/2014/main" id="{1082F697-9B61-4120-9A3D-FF0DDC6CBA3E}"/>
              </a:ext>
            </a:extLst>
          </p:cNvPr>
          <p:cNvSpPr txBox="1"/>
          <p:nvPr/>
        </p:nvSpPr>
        <p:spPr>
          <a:xfrm>
            <a:off x="8472488" y="591116"/>
            <a:ext cx="3411140" cy="4401205"/>
          </a:xfrm>
          <a:prstGeom prst="rect">
            <a:avLst/>
          </a:prstGeom>
          <a:noFill/>
        </p:spPr>
        <p:txBody>
          <a:bodyPr wrap="square">
            <a:spAutoFit/>
          </a:bodyPr>
          <a:lstStyle/>
          <a:p>
            <a:r>
              <a:rPr lang="en-US" dirty="0">
                <a:solidFill>
                  <a:srgbClr val="FF0000"/>
                </a:solidFill>
              </a:rPr>
              <a:t>connecting different software systems through </a:t>
            </a:r>
            <a:r>
              <a:rPr lang="en-US" dirty="0">
                <a:solidFill>
                  <a:srgbClr val="FF0000"/>
                </a:solidFill>
                <a:highlight>
                  <a:srgbClr val="FFFF00"/>
                </a:highlight>
              </a:rPr>
              <a:t>Application Programming Interfaces </a:t>
            </a:r>
            <a:r>
              <a:rPr lang="en-US" dirty="0">
                <a:solidFill>
                  <a:srgbClr val="FF0000"/>
                </a:solidFill>
              </a:rPr>
              <a:t>(APIs) so they can communicate, exchange data, and perform functions automatically.</a:t>
            </a:r>
            <a:endParaRPr lang="th-TH" dirty="0">
              <a:solidFill>
                <a:srgbClr val="FF0000"/>
              </a:solidFill>
            </a:endParaRPr>
          </a:p>
        </p:txBody>
      </p:sp>
    </p:spTree>
    <p:extLst>
      <p:ext uri="{BB962C8B-B14F-4D97-AF65-F5344CB8AC3E}">
        <p14:creationId xmlns:p14="http://schemas.microsoft.com/office/powerpoint/2010/main" val="1079645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BF6314-E7B7-466C-A958-8F0636C54FC3}"/>
              </a:ext>
            </a:extLst>
          </p:cNvPr>
          <p:cNvPicPr>
            <a:picLocks noChangeAspect="1"/>
          </p:cNvPicPr>
          <p:nvPr/>
        </p:nvPicPr>
        <p:blipFill rotWithShape="1">
          <a:blip r:embed="rId2"/>
          <a:srcRect t="8542" b="19792"/>
          <a:stretch/>
        </p:blipFill>
        <p:spPr>
          <a:xfrm>
            <a:off x="209549" y="885825"/>
            <a:ext cx="11273835" cy="5386388"/>
          </a:xfrm>
          <a:prstGeom prst="rect">
            <a:avLst/>
          </a:prstGeom>
        </p:spPr>
      </p:pic>
      <p:pic>
        <p:nvPicPr>
          <p:cNvPr id="5" name="Picture 2" descr="API คืออะไร? API ย่อมาจาก Application Programming Interface ทำ ...">
            <a:extLst>
              <a:ext uri="{FF2B5EF4-FFF2-40B4-BE49-F238E27FC236}">
                <a16:creationId xmlns:a16="http://schemas.microsoft.com/office/drawing/2014/main" id="{1D1BB1E2-2F76-489D-ACA1-B5C7245C27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 y="114301"/>
            <a:ext cx="3433763" cy="3433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549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3646E4-72B4-4E8D-81EB-C1003F08B32C}"/>
              </a:ext>
            </a:extLst>
          </p:cNvPr>
          <p:cNvPicPr>
            <a:picLocks noChangeAspect="1"/>
          </p:cNvPicPr>
          <p:nvPr/>
        </p:nvPicPr>
        <p:blipFill>
          <a:blip r:embed="rId2"/>
          <a:stretch>
            <a:fillRect/>
          </a:stretch>
        </p:blipFill>
        <p:spPr>
          <a:xfrm>
            <a:off x="1577921" y="2544865"/>
            <a:ext cx="8444502" cy="4046324"/>
          </a:xfrm>
          <a:prstGeom prst="rect">
            <a:avLst/>
          </a:prstGeom>
        </p:spPr>
      </p:pic>
      <p:pic>
        <p:nvPicPr>
          <p:cNvPr id="3" name="Picture 2">
            <a:extLst>
              <a:ext uri="{FF2B5EF4-FFF2-40B4-BE49-F238E27FC236}">
                <a16:creationId xmlns:a16="http://schemas.microsoft.com/office/drawing/2014/main" id="{05257DBA-98B4-49E8-9E30-591C50989351}"/>
              </a:ext>
            </a:extLst>
          </p:cNvPr>
          <p:cNvPicPr>
            <a:picLocks noChangeAspect="1"/>
          </p:cNvPicPr>
          <p:nvPr/>
        </p:nvPicPr>
        <p:blipFill rotWithShape="1">
          <a:blip r:embed="rId3"/>
          <a:srcRect t="21937" b="19792"/>
          <a:stretch/>
        </p:blipFill>
        <p:spPr>
          <a:xfrm>
            <a:off x="3583173" y="362504"/>
            <a:ext cx="4433998" cy="1722503"/>
          </a:xfrm>
          <a:prstGeom prst="rect">
            <a:avLst/>
          </a:prstGeom>
        </p:spPr>
      </p:pic>
    </p:spTree>
    <p:extLst>
      <p:ext uri="{BB962C8B-B14F-4D97-AF65-F5344CB8AC3E}">
        <p14:creationId xmlns:p14="http://schemas.microsoft.com/office/powerpoint/2010/main" val="3301789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4638EB-FD08-4814-B06A-1CD9758FF390}"/>
              </a:ext>
            </a:extLst>
          </p:cNvPr>
          <p:cNvSpPr txBox="1"/>
          <p:nvPr/>
        </p:nvSpPr>
        <p:spPr>
          <a:xfrm>
            <a:off x="617935" y="401153"/>
            <a:ext cx="11240690" cy="5755422"/>
          </a:xfrm>
          <a:prstGeom prst="rect">
            <a:avLst/>
          </a:prstGeom>
          <a:noFill/>
        </p:spPr>
        <p:txBody>
          <a:bodyPr wrap="square">
            <a:spAutoFit/>
          </a:bodyPr>
          <a:lstStyle/>
          <a:p>
            <a:r>
              <a:rPr lang="en-US" sz="2300" b="1" dirty="0"/>
              <a:t>Example:</a:t>
            </a:r>
            <a:endParaRPr lang="en-US" sz="2300" dirty="0"/>
          </a:p>
          <a:p>
            <a:r>
              <a:rPr lang="en-US" sz="2300" dirty="0"/>
              <a:t>A company is developing a </a:t>
            </a:r>
            <a:r>
              <a:rPr lang="en-US" sz="2300" b="1" dirty="0"/>
              <a:t>mobile banking application</a:t>
            </a:r>
            <a:r>
              <a:rPr lang="en-US" sz="2300" dirty="0"/>
              <a:t>. The application needs to connect with external services such as </a:t>
            </a:r>
            <a:r>
              <a:rPr lang="en-US" sz="2300" b="1" dirty="0"/>
              <a:t>payment gateways, identity verification systems, currency exchange services, and notification platforms</a:t>
            </a:r>
            <a:r>
              <a:rPr lang="en-US" sz="2300" dirty="0"/>
              <a:t>.</a:t>
            </a:r>
          </a:p>
          <a:p>
            <a:r>
              <a:rPr lang="en-US" sz="2300" dirty="0"/>
              <a:t>For example, when a customer transfers money, the mobile banking application sends transaction information through an </a:t>
            </a:r>
            <a:r>
              <a:rPr lang="en-US" sz="2300" b="1" dirty="0"/>
              <a:t>API</a:t>
            </a:r>
            <a:r>
              <a:rPr lang="en-US" sz="2300" dirty="0"/>
              <a:t> to the payment system. The payment system processes the transaction and sends the result back to the application. The customer then receives a confirmation message.</a:t>
            </a:r>
          </a:p>
          <a:p>
            <a:r>
              <a:rPr lang="en-US" sz="2300" dirty="0"/>
              <a:t>API integration and connectivity support:</a:t>
            </a:r>
          </a:p>
          <a:p>
            <a:pPr>
              <a:buFont typeface="Arial" panose="020B0604020202020204" pitchFamily="34" charset="0"/>
              <a:buChar char="•"/>
            </a:pPr>
            <a:r>
              <a:rPr lang="en-US" sz="2300" b="1" dirty="0"/>
              <a:t>Data exchange</a:t>
            </a:r>
            <a:r>
              <a:rPr lang="en-US" sz="2300" dirty="0"/>
              <a:t> — applications can send and receive information. </a:t>
            </a:r>
          </a:p>
          <a:p>
            <a:pPr>
              <a:buFont typeface="Arial" panose="020B0604020202020204" pitchFamily="34" charset="0"/>
              <a:buChar char="•"/>
            </a:pPr>
            <a:r>
              <a:rPr lang="en-US" sz="2300" b="1" dirty="0"/>
              <a:t>System connectivity</a:t>
            </a:r>
            <a:r>
              <a:rPr lang="en-US" sz="2300" dirty="0"/>
              <a:t> — different platforms can work together. </a:t>
            </a:r>
          </a:p>
          <a:p>
            <a:pPr>
              <a:buFont typeface="Arial" panose="020B0604020202020204" pitchFamily="34" charset="0"/>
              <a:buChar char="•"/>
            </a:pPr>
            <a:r>
              <a:rPr lang="en-US" sz="2300" b="1" dirty="0"/>
              <a:t>Automation</a:t>
            </a:r>
            <a:r>
              <a:rPr lang="en-US" sz="2300" dirty="0"/>
              <a:t> — information can move between systems without manual work. </a:t>
            </a:r>
          </a:p>
          <a:p>
            <a:pPr>
              <a:buFont typeface="Arial" panose="020B0604020202020204" pitchFamily="34" charset="0"/>
              <a:buChar char="•"/>
            </a:pPr>
            <a:r>
              <a:rPr lang="en-US" sz="2300" b="1" dirty="0"/>
              <a:t>Real-time services</a:t>
            </a:r>
            <a:r>
              <a:rPr lang="en-US" sz="2300" dirty="0"/>
              <a:t> — systems can provide updated information immediately. </a:t>
            </a:r>
          </a:p>
          <a:p>
            <a:pPr>
              <a:buFont typeface="Arial" panose="020B0604020202020204" pitchFamily="34" charset="0"/>
              <a:buChar char="•"/>
            </a:pPr>
            <a:r>
              <a:rPr lang="en-US" sz="2300" b="1" dirty="0"/>
              <a:t>Third-party integration</a:t>
            </a:r>
            <a:r>
              <a:rPr lang="en-US" sz="2300" dirty="0"/>
              <a:t> — applications can use external services and capabilities. </a:t>
            </a:r>
          </a:p>
          <a:p>
            <a:pPr>
              <a:buFont typeface="Arial" panose="020B0604020202020204" pitchFamily="34" charset="0"/>
              <a:buChar char="•"/>
            </a:pPr>
            <a:r>
              <a:rPr lang="en-US" sz="2300" b="1" dirty="0"/>
              <a:t>Scalability</a:t>
            </a:r>
            <a:r>
              <a:rPr lang="en-US" sz="2300" dirty="0"/>
              <a:t> — new services can be connected as the system grows. </a:t>
            </a:r>
          </a:p>
          <a:p>
            <a:pPr>
              <a:buFont typeface="Arial" panose="020B0604020202020204" pitchFamily="34" charset="0"/>
              <a:buChar char="•"/>
            </a:pPr>
            <a:r>
              <a:rPr lang="en-US" sz="2300" b="1" dirty="0"/>
              <a:t>Security</a:t>
            </a:r>
            <a:r>
              <a:rPr lang="en-US" sz="2300" dirty="0"/>
              <a:t> — authentication and authorization help protect API communication.</a:t>
            </a:r>
          </a:p>
        </p:txBody>
      </p:sp>
    </p:spTree>
    <p:extLst>
      <p:ext uri="{BB962C8B-B14F-4D97-AF65-F5344CB8AC3E}">
        <p14:creationId xmlns:p14="http://schemas.microsoft.com/office/powerpoint/2010/main" val="2540752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E182BA-9AD6-459A-B99C-8195E7611C40}"/>
              </a:ext>
            </a:extLst>
          </p:cNvPr>
          <p:cNvSpPr txBox="1"/>
          <p:nvPr/>
        </p:nvSpPr>
        <p:spPr>
          <a:xfrm>
            <a:off x="832248" y="584329"/>
            <a:ext cx="6093618" cy="4401205"/>
          </a:xfrm>
          <a:prstGeom prst="rect">
            <a:avLst/>
          </a:prstGeom>
          <a:noFill/>
        </p:spPr>
        <p:txBody>
          <a:bodyPr wrap="square">
            <a:spAutoFit/>
          </a:bodyPr>
          <a:lstStyle/>
          <a:p>
            <a:r>
              <a:rPr lang="en-US" b="1" dirty="0"/>
              <a:t>5. Security Implementation</a:t>
            </a:r>
          </a:p>
          <a:p>
            <a:r>
              <a:rPr lang="en-US" dirty="0"/>
              <a:t>Security measures—such as </a:t>
            </a:r>
            <a:r>
              <a:rPr lang="en-US" dirty="0">
                <a:solidFill>
                  <a:srgbClr val="FF0000"/>
                </a:solidFill>
              </a:rPr>
              <a:t>encryption, authentication, authorization, and vulnerability testing</a:t>
            </a:r>
            <a:r>
              <a:rPr lang="en-US" dirty="0"/>
              <a:t>—must be integrated before deployment. Implementing security at every layer protects data, prevents attacks, and ensures compliance with standards. A secure system builds user trust and reduces long-term operational risks.</a:t>
            </a:r>
          </a:p>
        </p:txBody>
      </p:sp>
      <p:sp>
        <p:nvSpPr>
          <p:cNvPr id="4" name="TextBox 3">
            <a:extLst>
              <a:ext uri="{FF2B5EF4-FFF2-40B4-BE49-F238E27FC236}">
                <a16:creationId xmlns:a16="http://schemas.microsoft.com/office/drawing/2014/main" id="{909FB930-D0F1-4D2E-BC18-93ED1E1FED73}"/>
              </a:ext>
            </a:extLst>
          </p:cNvPr>
          <p:cNvSpPr txBox="1"/>
          <p:nvPr/>
        </p:nvSpPr>
        <p:spPr>
          <a:xfrm>
            <a:off x="9029701" y="584329"/>
            <a:ext cx="2725340" cy="3985706"/>
          </a:xfrm>
          <a:prstGeom prst="rect">
            <a:avLst/>
          </a:prstGeom>
          <a:noFill/>
        </p:spPr>
        <p:txBody>
          <a:bodyPr wrap="square">
            <a:spAutoFit/>
          </a:bodyPr>
          <a:lstStyle/>
          <a:p>
            <a:r>
              <a:rPr lang="en-US" sz="2300" dirty="0">
                <a:solidFill>
                  <a:srgbClr val="FF0000"/>
                </a:solidFill>
              </a:rPr>
              <a:t>applying security measures, technologies, and procedures to protect a digital system, its data, and its users from unauthorized access, cyberattacks, and other security threats.</a:t>
            </a:r>
            <a:endParaRPr lang="th-TH" sz="2300" dirty="0">
              <a:solidFill>
                <a:srgbClr val="FF0000"/>
              </a:solidFill>
            </a:endParaRPr>
          </a:p>
        </p:txBody>
      </p:sp>
    </p:spTree>
    <p:extLst>
      <p:ext uri="{BB962C8B-B14F-4D97-AF65-F5344CB8AC3E}">
        <p14:creationId xmlns:p14="http://schemas.microsoft.com/office/powerpoint/2010/main" val="2901413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Encryption, Hashing, and Salting?">
            <a:extLst>
              <a:ext uri="{FF2B5EF4-FFF2-40B4-BE49-F238E27FC236}">
                <a16:creationId xmlns:a16="http://schemas.microsoft.com/office/drawing/2014/main" id="{0F682C66-09BE-4A38-B6E2-FEC605D9A9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050" y="661988"/>
            <a:ext cx="5276850" cy="52768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F8879BC9-223D-4694-B985-0E1494680612}"/>
              </a:ext>
            </a:extLst>
          </p:cNvPr>
          <p:cNvPicPr>
            <a:picLocks noChangeAspect="1"/>
          </p:cNvPicPr>
          <p:nvPr/>
        </p:nvPicPr>
        <p:blipFill>
          <a:blip r:embed="rId3"/>
          <a:stretch>
            <a:fillRect/>
          </a:stretch>
        </p:blipFill>
        <p:spPr>
          <a:xfrm>
            <a:off x="6581048" y="814163"/>
            <a:ext cx="5210902" cy="3200847"/>
          </a:xfrm>
          <a:prstGeom prst="rect">
            <a:avLst/>
          </a:prstGeom>
        </p:spPr>
      </p:pic>
    </p:spTree>
    <p:extLst>
      <p:ext uri="{BB962C8B-B14F-4D97-AF65-F5344CB8AC3E}">
        <p14:creationId xmlns:p14="http://schemas.microsoft.com/office/powerpoint/2010/main" val="3838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uthentication vs Authorization">
            <a:extLst>
              <a:ext uri="{FF2B5EF4-FFF2-40B4-BE49-F238E27FC236}">
                <a16:creationId xmlns:a16="http://schemas.microsoft.com/office/drawing/2014/main" id="{AD72231A-2714-463F-B3EE-1ED171A7EB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958" b="14792"/>
          <a:stretch/>
        </p:blipFill>
        <p:spPr bwMode="auto">
          <a:xfrm>
            <a:off x="609600" y="957263"/>
            <a:ext cx="10972800" cy="4886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25496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A0D654-008E-439F-815D-B06AE1244DA0}"/>
              </a:ext>
            </a:extLst>
          </p:cNvPr>
          <p:cNvPicPr>
            <a:picLocks noChangeAspect="1"/>
          </p:cNvPicPr>
          <p:nvPr/>
        </p:nvPicPr>
        <p:blipFill>
          <a:blip r:embed="rId2"/>
          <a:stretch>
            <a:fillRect/>
          </a:stretch>
        </p:blipFill>
        <p:spPr>
          <a:xfrm>
            <a:off x="1828800" y="576262"/>
            <a:ext cx="8534400" cy="5705475"/>
          </a:xfrm>
          <a:prstGeom prst="rect">
            <a:avLst/>
          </a:prstGeom>
        </p:spPr>
      </p:pic>
    </p:spTree>
    <p:extLst>
      <p:ext uri="{BB962C8B-B14F-4D97-AF65-F5344CB8AC3E}">
        <p14:creationId xmlns:p14="http://schemas.microsoft.com/office/powerpoint/2010/main" val="526576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DBBB6F-B2BF-451B-BDAE-BB85CBD0EDB2}"/>
              </a:ext>
            </a:extLst>
          </p:cNvPr>
          <p:cNvSpPr txBox="1"/>
          <p:nvPr/>
        </p:nvSpPr>
        <p:spPr>
          <a:xfrm>
            <a:off x="417909" y="387995"/>
            <a:ext cx="11340703" cy="5755422"/>
          </a:xfrm>
          <a:prstGeom prst="rect">
            <a:avLst/>
          </a:prstGeom>
          <a:noFill/>
        </p:spPr>
        <p:txBody>
          <a:bodyPr wrap="square">
            <a:spAutoFit/>
          </a:bodyPr>
          <a:lstStyle/>
          <a:p>
            <a:r>
              <a:rPr lang="en-US" sz="2300" b="1" dirty="0"/>
              <a:t>Example:</a:t>
            </a:r>
            <a:endParaRPr lang="en-US" sz="2300" dirty="0"/>
          </a:p>
          <a:p>
            <a:r>
              <a:rPr lang="en-US" sz="2300" dirty="0"/>
              <a:t>A bank is developing a </a:t>
            </a:r>
            <a:r>
              <a:rPr lang="en-US" sz="2300" b="1" dirty="0"/>
              <a:t>mobile banking application</a:t>
            </a:r>
            <a:r>
              <a:rPr lang="en-US" sz="2300" dirty="0"/>
              <a:t>. Because the application handles sensitive customer and financial information, the development team implements several security controls before releasing it.</a:t>
            </a:r>
          </a:p>
          <a:p>
            <a:r>
              <a:rPr lang="en-US" sz="2300" dirty="0"/>
              <a:t>For example, when a customer logs in, the system requires </a:t>
            </a:r>
            <a:r>
              <a:rPr lang="en-US" sz="2300" b="1" dirty="0"/>
              <a:t>multi-factor authentication (MFA)</a:t>
            </a:r>
            <a:r>
              <a:rPr lang="en-US" sz="2300" dirty="0"/>
              <a:t>. Customer information is </a:t>
            </a:r>
            <a:r>
              <a:rPr lang="en-US" sz="2300" b="1" dirty="0"/>
              <a:t>encrypted</a:t>
            </a:r>
            <a:r>
              <a:rPr lang="en-US" sz="2300" dirty="0"/>
              <a:t>, and access controls ensure that users can only access authorized information. The system also monitors unusual activities, such as repeated failed login attempts.</a:t>
            </a:r>
          </a:p>
          <a:p>
            <a:r>
              <a:rPr lang="en-US" sz="2300" dirty="0"/>
              <a:t>Security implementation includes:</a:t>
            </a:r>
          </a:p>
          <a:p>
            <a:pPr>
              <a:buFont typeface="Arial" panose="020B0604020202020204" pitchFamily="34" charset="0"/>
              <a:buChar char="•"/>
            </a:pPr>
            <a:r>
              <a:rPr lang="en-US" sz="2300" b="1" dirty="0"/>
              <a:t>Authentication</a:t>
            </a:r>
            <a:r>
              <a:rPr lang="en-US" sz="2300" dirty="0"/>
              <a:t> — verifying that users are who they claim to be. </a:t>
            </a:r>
          </a:p>
          <a:p>
            <a:pPr>
              <a:buFont typeface="Arial" panose="020B0604020202020204" pitchFamily="34" charset="0"/>
              <a:buChar char="•"/>
            </a:pPr>
            <a:r>
              <a:rPr lang="en-US" sz="2300" b="1" dirty="0"/>
              <a:t>Authorization</a:t>
            </a:r>
            <a:r>
              <a:rPr lang="en-US" sz="2300" dirty="0"/>
              <a:t> — controlling what each user is allowed to access. </a:t>
            </a:r>
          </a:p>
          <a:p>
            <a:pPr>
              <a:buFont typeface="Arial" panose="020B0604020202020204" pitchFamily="34" charset="0"/>
              <a:buChar char="•"/>
            </a:pPr>
            <a:r>
              <a:rPr lang="en-US" sz="2300" b="1" dirty="0"/>
              <a:t>Data encryption</a:t>
            </a:r>
            <a:r>
              <a:rPr lang="en-US" sz="2300" dirty="0"/>
              <a:t> — protecting sensitive information during storage and transmission. </a:t>
            </a:r>
          </a:p>
          <a:p>
            <a:pPr>
              <a:buFont typeface="Arial" panose="020B0604020202020204" pitchFamily="34" charset="0"/>
              <a:buChar char="•"/>
            </a:pPr>
            <a:r>
              <a:rPr lang="en-US" sz="2300" b="1" dirty="0"/>
              <a:t>Access control</a:t>
            </a:r>
            <a:r>
              <a:rPr lang="en-US" sz="2300" dirty="0"/>
              <a:t> — restricting access to systems and data. </a:t>
            </a:r>
          </a:p>
          <a:p>
            <a:pPr>
              <a:buFont typeface="Arial" panose="020B0604020202020204" pitchFamily="34" charset="0"/>
              <a:buChar char="•"/>
            </a:pPr>
            <a:r>
              <a:rPr lang="en-US" sz="2300" b="1" dirty="0"/>
              <a:t>Security testing</a:t>
            </a:r>
            <a:r>
              <a:rPr lang="en-US" sz="2300" dirty="0"/>
              <a:t> — identifying vulnerabilities before deployment. </a:t>
            </a:r>
          </a:p>
          <a:p>
            <a:pPr>
              <a:buFont typeface="Arial" panose="020B0604020202020204" pitchFamily="34" charset="0"/>
              <a:buChar char="•"/>
            </a:pPr>
            <a:r>
              <a:rPr lang="en-US" sz="2300" b="1" dirty="0"/>
              <a:t>Threat monitoring</a:t>
            </a:r>
            <a:r>
              <a:rPr lang="en-US" sz="2300" dirty="0"/>
              <a:t> — detecting suspicious activities and potential attacks. </a:t>
            </a:r>
          </a:p>
          <a:p>
            <a:pPr>
              <a:buFont typeface="Arial" panose="020B0604020202020204" pitchFamily="34" charset="0"/>
              <a:buChar char="•"/>
            </a:pPr>
            <a:r>
              <a:rPr lang="en-US" sz="2300" b="1" dirty="0"/>
              <a:t>Backup and recovery</a:t>
            </a:r>
            <a:r>
              <a:rPr lang="en-US" sz="2300" dirty="0"/>
              <a:t> — protecting information against loss or system failure.</a:t>
            </a:r>
          </a:p>
        </p:txBody>
      </p:sp>
    </p:spTree>
    <p:extLst>
      <p:ext uri="{BB962C8B-B14F-4D97-AF65-F5344CB8AC3E}">
        <p14:creationId xmlns:p14="http://schemas.microsoft.com/office/powerpoint/2010/main" val="4314295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A62D0B-9061-45D0-AA18-7BF12966D86B}"/>
              </a:ext>
            </a:extLst>
          </p:cNvPr>
          <p:cNvSpPr txBox="1"/>
          <p:nvPr/>
        </p:nvSpPr>
        <p:spPr>
          <a:xfrm>
            <a:off x="3046810" y="3167390"/>
            <a:ext cx="6093618" cy="523220"/>
          </a:xfrm>
          <a:prstGeom prst="rect">
            <a:avLst/>
          </a:prstGeom>
          <a:noFill/>
        </p:spPr>
        <p:txBody>
          <a:bodyPr wrap="square">
            <a:spAutoFit/>
          </a:bodyPr>
          <a:lstStyle/>
          <a:p>
            <a:pPr algn="ctr"/>
            <a:r>
              <a:rPr lang="en-US" sz="2800" dirty="0"/>
              <a:t>Thanks</a:t>
            </a:r>
          </a:p>
        </p:txBody>
      </p:sp>
    </p:spTree>
    <p:extLst>
      <p:ext uri="{BB962C8B-B14F-4D97-AF65-F5344CB8AC3E}">
        <p14:creationId xmlns:p14="http://schemas.microsoft.com/office/powerpoint/2010/main" val="3504098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429F58-E6C4-465C-8BD4-906BE64AC4FA}"/>
              </a:ext>
            </a:extLst>
          </p:cNvPr>
          <p:cNvSpPr txBox="1"/>
          <p:nvPr/>
        </p:nvSpPr>
        <p:spPr>
          <a:xfrm>
            <a:off x="732235" y="455741"/>
            <a:ext cx="6093618" cy="4401205"/>
          </a:xfrm>
          <a:prstGeom prst="rect">
            <a:avLst/>
          </a:prstGeom>
          <a:noFill/>
        </p:spPr>
        <p:txBody>
          <a:bodyPr wrap="square">
            <a:spAutoFit/>
          </a:bodyPr>
          <a:lstStyle/>
          <a:p>
            <a:r>
              <a:rPr lang="en-US" b="1" dirty="0"/>
              <a:t>6. Performance Optimization</a:t>
            </a:r>
          </a:p>
          <a:p>
            <a:r>
              <a:rPr lang="en-US" dirty="0">
                <a:solidFill>
                  <a:srgbClr val="FF0000"/>
                </a:solidFill>
              </a:rPr>
              <a:t>Optimization</a:t>
            </a:r>
            <a:r>
              <a:rPr lang="en-US" dirty="0"/>
              <a:t> ensures the deployed system runs efficiently under real-world workloads. Techniques include load balancing, caching, query optimization, and resource tuning. </a:t>
            </a:r>
          </a:p>
          <a:p>
            <a:r>
              <a:rPr lang="en-US" dirty="0"/>
              <a:t>Performance tuning improves speed, responsiveness, and stability, ensuring high user satisfaction and effective system operation at scale.</a:t>
            </a:r>
          </a:p>
        </p:txBody>
      </p:sp>
      <p:sp>
        <p:nvSpPr>
          <p:cNvPr id="4" name="TextBox 3">
            <a:extLst>
              <a:ext uri="{FF2B5EF4-FFF2-40B4-BE49-F238E27FC236}">
                <a16:creationId xmlns:a16="http://schemas.microsoft.com/office/drawing/2014/main" id="{2F11A0C5-4C61-4F32-B3DD-2C655201FFCF}"/>
              </a:ext>
            </a:extLst>
          </p:cNvPr>
          <p:cNvSpPr txBox="1"/>
          <p:nvPr/>
        </p:nvSpPr>
        <p:spPr>
          <a:xfrm>
            <a:off x="8372475" y="527178"/>
            <a:ext cx="3425428" cy="2215991"/>
          </a:xfrm>
          <a:prstGeom prst="rect">
            <a:avLst/>
          </a:prstGeom>
          <a:noFill/>
        </p:spPr>
        <p:txBody>
          <a:bodyPr wrap="square">
            <a:spAutoFit/>
          </a:bodyPr>
          <a:lstStyle/>
          <a:p>
            <a:r>
              <a:rPr lang="en-US" sz="2300" b="1" dirty="0">
                <a:solidFill>
                  <a:srgbClr val="FF0000"/>
                </a:solidFill>
              </a:rPr>
              <a:t>improving a digital system so that it operates faster, uses resources efficiently, handles more users, and provides a better user experience</a:t>
            </a:r>
            <a:r>
              <a:rPr lang="en-US" sz="2300" dirty="0">
                <a:solidFill>
                  <a:srgbClr val="FF0000"/>
                </a:solidFill>
              </a:rPr>
              <a:t>.</a:t>
            </a:r>
            <a:endParaRPr lang="th-TH" sz="2300" dirty="0">
              <a:solidFill>
                <a:srgbClr val="FF0000"/>
              </a:solidFill>
            </a:endParaRPr>
          </a:p>
        </p:txBody>
      </p:sp>
      <p:sp>
        <p:nvSpPr>
          <p:cNvPr id="5" name="TextBox 4">
            <a:extLst>
              <a:ext uri="{FF2B5EF4-FFF2-40B4-BE49-F238E27FC236}">
                <a16:creationId xmlns:a16="http://schemas.microsoft.com/office/drawing/2014/main" id="{791C2532-A6A3-109C-EF82-3020F5C002E7}"/>
              </a:ext>
            </a:extLst>
          </p:cNvPr>
          <p:cNvSpPr txBox="1"/>
          <p:nvPr/>
        </p:nvSpPr>
        <p:spPr>
          <a:xfrm>
            <a:off x="8204886" y="3324248"/>
            <a:ext cx="3719384" cy="2246769"/>
          </a:xfrm>
          <a:prstGeom prst="rect">
            <a:avLst/>
          </a:prstGeom>
          <a:noFill/>
        </p:spPr>
        <p:txBody>
          <a:bodyPr wrap="square">
            <a:spAutoFit/>
          </a:bodyPr>
          <a:lstStyle/>
          <a:p>
            <a:r>
              <a:rPr lang="en-US" dirty="0">
                <a:highlight>
                  <a:srgbClr val="FFFF00"/>
                </a:highlight>
              </a:rPr>
              <a:t>Optimization is the process or methodology of making something as functional, perfect, or effective as possible.</a:t>
            </a:r>
          </a:p>
        </p:txBody>
      </p:sp>
    </p:spTree>
    <p:extLst>
      <p:ext uri="{BB962C8B-B14F-4D97-AF65-F5344CB8AC3E}">
        <p14:creationId xmlns:p14="http://schemas.microsoft.com/office/powerpoint/2010/main" val="3687954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ntroduction to Optimization: Concepts, Techniques, and Applications | by Deep Shekhar Acharya | Medium">
            <a:extLst>
              <a:ext uri="{FF2B5EF4-FFF2-40B4-BE49-F238E27FC236}">
                <a16:creationId xmlns:a16="http://schemas.microsoft.com/office/drawing/2014/main" id="{6FC6FC20-D05C-ADFC-EC2D-7B6F89D024F7}"/>
              </a:ext>
            </a:extLst>
          </p:cNvPr>
          <p:cNvPicPr>
            <a:picLocks noChangeAspect="1"/>
          </p:cNvPicPr>
          <p:nvPr/>
        </p:nvPicPr>
        <p:blipFill>
          <a:blip r:embed="rId2"/>
          <a:stretch>
            <a:fillRect/>
          </a:stretch>
        </p:blipFill>
        <p:spPr>
          <a:xfrm>
            <a:off x="357261" y="152914"/>
            <a:ext cx="3263270" cy="3526536"/>
          </a:xfrm>
          <a:prstGeom prst="rect">
            <a:avLst/>
          </a:prstGeom>
        </p:spPr>
      </p:pic>
      <p:pic>
        <p:nvPicPr>
          <p:cNvPr id="4" name="Picture 3" descr="12 ways to apply process optimization to your business">
            <a:extLst>
              <a:ext uri="{FF2B5EF4-FFF2-40B4-BE49-F238E27FC236}">
                <a16:creationId xmlns:a16="http://schemas.microsoft.com/office/drawing/2014/main" id="{AF580953-2956-D58B-405A-83996D6C0DEF}"/>
              </a:ext>
            </a:extLst>
          </p:cNvPr>
          <p:cNvPicPr>
            <a:picLocks noChangeAspect="1"/>
          </p:cNvPicPr>
          <p:nvPr/>
        </p:nvPicPr>
        <p:blipFill>
          <a:blip r:embed="rId3"/>
          <a:stretch>
            <a:fillRect/>
          </a:stretch>
        </p:blipFill>
        <p:spPr>
          <a:xfrm>
            <a:off x="4159722" y="152914"/>
            <a:ext cx="6070128" cy="6347937"/>
          </a:xfrm>
          <a:prstGeom prst="rect">
            <a:avLst/>
          </a:prstGeom>
        </p:spPr>
      </p:pic>
    </p:spTree>
    <p:extLst>
      <p:ext uri="{BB962C8B-B14F-4D97-AF65-F5344CB8AC3E}">
        <p14:creationId xmlns:p14="http://schemas.microsoft.com/office/powerpoint/2010/main" val="13482079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ptimization | Definition, Techniques, &amp; Facts | Britannica">
            <a:extLst>
              <a:ext uri="{FF2B5EF4-FFF2-40B4-BE49-F238E27FC236}">
                <a16:creationId xmlns:a16="http://schemas.microsoft.com/office/drawing/2014/main" id="{1DAA21E7-AA0F-992A-0F58-DD6981EE8162}"/>
              </a:ext>
            </a:extLst>
          </p:cNvPr>
          <p:cNvPicPr>
            <a:picLocks noChangeAspect="1"/>
          </p:cNvPicPr>
          <p:nvPr/>
        </p:nvPicPr>
        <p:blipFill>
          <a:blip r:embed="rId2"/>
          <a:stretch>
            <a:fillRect/>
          </a:stretch>
        </p:blipFill>
        <p:spPr>
          <a:xfrm>
            <a:off x="764381" y="481013"/>
            <a:ext cx="6633946" cy="6060642"/>
          </a:xfrm>
          <a:prstGeom prst="rect">
            <a:avLst/>
          </a:prstGeom>
        </p:spPr>
      </p:pic>
    </p:spTree>
    <p:extLst>
      <p:ext uri="{BB962C8B-B14F-4D97-AF65-F5344CB8AC3E}">
        <p14:creationId xmlns:p14="http://schemas.microsoft.com/office/powerpoint/2010/main" val="17861697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3129E7-76D4-331D-6B3C-A13E7BB711F1}"/>
              </a:ext>
            </a:extLst>
          </p:cNvPr>
          <p:cNvSpPr txBox="1"/>
          <p:nvPr/>
        </p:nvSpPr>
        <p:spPr>
          <a:xfrm>
            <a:off x="464248" y="333913"/>
            <a:ext cx="3786476" cy="3108543"/>
          </a:xfrm>
          <a:prstGeom prst="rect">
            <a:avLst/>
          </a:prstGeom>
          <a:noFill/>
        </p:spPr>
        <p:txBody>
          <a:bodyPr wrap="square">
            <a:spAutoFit/>
          </a:bodyPr>
          <a:lstStyle/>
          <a:p>
            <a:r>
              <a:rPr lang="en-US" sz="2800" b="0" u="none" strike="noStrike" dirty="0">
                <a:solidFill>
                  <a:srgbClr val="FF0000"/>
                </a:solidFill>
                <a:effectLst/>
                <a:latin typeface="+mn-lt"/>
              </a:rPr>
              <a:t>Performance tuning </a:t>
            </a:r>
            <a:r>
              <a:rPr lang="en-US" sz="2800" b="0" u="none" strike="noStrike" dirty="0">
                <a:effectLst/>
                <a:latin typeface="+mn-lt"/>
              </a:rPr>
              <a:t>is </a:t>
            </a:r>
            <a:r>
              <a:rPr lang="en-US" dirty="0"/>
              <a:t>the systematic process of improving system, software, or engine efficiency by identifying and removing bottlenecks.</a:t>
            </a:r>
          </a:p>
        </p:txBody>
      </p:sp>
      <p:sp>
        <p:nvSpPr>
          <p:cNvPr id="5" name="TextBox 4">
            <a:extLst>
              <a:ext uri="{FF2B5EF4-FFF2-40B4-BE49-F238E27FC236}">
                <a16:creationId xmlns:a16="http://schemas.microsoft.com/office/drawing/2014/main" id="{9355F3BD-F0BF-38E8-D378-2D32687FB72E}"/>
              </a:ext>
            </a:extLst>
          </p:cNvPr>
          <p:cNvSpPr txBox="1"/>
          <p:nvPr/>
        </p:nvSpPr>
        <p:spPr>
          <a:xfrm>
            <a:off x="4519484" y="333913"/>
            <a:ext cx="7367716" cy="4893647"/>
          </a:xfrm>
          <a:prstGeom prst="rect">
            <a:avLst/>
          </a:prstGeom>
          <a:noFill/>
        </p:spPr>
        <p:txBody>
          <a:bodyPr wrap="square">
            <a:spAutoFit/>
          </a:bodyPr>
          <a:lstStyle/>
          <a:p>
            <a:pPr marL="0" marR="0">
              <a:spcBef>
                <a:spcPts val="1800"/>
              </a:spcBef>
              <a:spcAft>
                <a:spcPts val="900"/>
              </a:spcAft>
              <a:buNone/>
            </a:pPr>
            <a:r>
              <a:rPr lang="en-US" sz="2800" b="1" u="none" strike="noStrike" dirty="0">
                <a:effectLst/>
                <a:latin typeface="+mn-lt"/>
              </a:rPr>
              <a:t>Key Steps in Performance Tuning</a:t>
            </a:r>
          </a:p>
          <a:p>
            <a:pPr marL="342900" marR="0" lvl="0" indent="-342900">
              <a:spcBef>
                <a:spcPts val="900"/>
              </a:spcBef>
              <a:spcAft>
                <a:spcPts val="900"/>
              </a:spcAft>
              <a:buFont typeface="Arial" panose="020B0604020202020204" pitchFamily="34" charset="0"/>
              <a:buChar char="•"/>
            </a:pPr>
            <a:r>
              <a:rPr lang="en-US" sz="2800" b="1" u="none" strike="noStrike" dirty="0">
                <a:effectLst/>
                <a:latin typeface="+mn-lt"/>
              </a:rPr>
              <a:t>Measure:</a:t>
            </a:r>
            <a:r>
              <a:rPr lang="en-US" sz="2800" b="0" u="none" strike="noStrike" dirty="0">
                <a:effectLst/>
                <a:latin typeface="+mn-lt"/>
              </a:rPr>
              <a:t> Record baseline metrics to understand current behavior. </a:t>
            </a:r>
          </a:p>
          <a:p>
            <a:pPr marL="342900" marR="0" lvl="0" indent="-342900">
              <a:spcBef>
                <a:spcPts val="900"/>
              </a:spcBef>
              <a:spcAft>
                <a:spcPts val="900"/>
              </a:spcAft>
              <a:buFont typeface="Arial" panose="020B0604020202020204" pitchFamily="34" charset="0"/>
              <a:buChar char="•"/>
            </a:pPr>
            <a:r>
              <a:rPr lang="en-US" sz="2800" b="1" u="none" strike="noStrike" dirty="0">
                <a:effectLst/>
                <a:latin typeface="+mn-lt"/>
              </a:rPr>
              <a:t>Identify:</a:t>
            </a:r>
            <a:r>
              <a:rPr lang="en-US" sz="2800" b="0" u="none" strike="noStrike" dirty="0">
                <a:effectLst/>
                <a:latin typeface="+mn-lt"/>
              </a:rPr>
              <a:t> Find the specific constraint or bottleneck slowing down the system. </a:t>
            </a:r>
          </a:p>
          <a:p>
            <a:pPr marL="342900" marR="0" lvl="0" indent="-342900">
              <a:spcBef>
                <a:spcPts val="900"/>
              </a:spcBef>
              <a:spcAft>
                <a:spcPts val="900"/>
              </a:spcAft>
              <a:buFont typeface="Arial" panose="020B0604020202020204" pitchFamily="34" charset="0"/>
              <a:buChar char="•"/>
            </a:pPr>
            <a:r>
              <a:rPr lang="en-US" sz="2800" b="1" u="none" strike="noStrike" dirty="0">
                <a:effectLst/>
                <a:latin typeface="+mn-lt"/>
              </a:rPr>
              <a:t>Modify:</a:t>
            </a:r>
            <a:r>
              <a:rPr lang="en-US" sz="2800" b="0" u="none" strike="noStrike" dirty="0">
                <a:effectLst/>
                <a:latin typeface="+mn-lt"/>
              </a:rPr>
              <a:t> Adjust code, configuration, or hardware parameters to fix the issue. </a:t>
            </a:r>
          </a:p>
          <a:p>
            <a:pPr marL="342900" marR="0" lvl="0" indent="-342900">
              <a:spcBef>
                <a:spcPts val="900"/>
              </a:spcBef>
              <a:spcAft>
                <a:spcPts val="900"/>
              </a:spcAft>
              <a:buFont typeface="Arial" panose="020B0604020202020204" pitchFamily="34" charset="0"/>
              <a:buChar char="•"/>
            </a:pPr>
            <a:r>
              <a:rPr lang="en-US" sz="2800" b="1" u="none" strike="noStrike" dirty="0">
                <a:effectLst/>
                <a:latin typeface="+mn-lt"/>
              </a:rPr>
              <a:t>Verify:</a:t>
            </a:r>
            <a:r>
              <a:rPr lang="en-US" sz="2800" b="0" u="none" strike="noStrike" dirty="0">
                <a:effectLst/>
                <a:latin typeface="+mn-lt"/>
              </a:rPr>
              <a:t> Test again to confirm the change improved performance. </a:t>
            </a:r>
            <a:endParaRPr lang="en-US" sz="1200" b="0" u="none" strike="noStrike" dirty="0">
              <a:effectLst/>
              <a:latin typeface="Google Sans"/>
            </a:endParaRPr>
          </a:p>
        </p:txBody>
      </p:sp>
    </p:spTree>
    <p:extLst>
      <p:ext uri="{BB962C8B-B14F-4D97-AF65-F5344CB8AC3E}">
        <p14:creationId xmlns:p14="http://schemas.microsoft.com/office/powerpoint/2010/main" val="30597679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C684FF-EB31-39C7-91E5-A02906553270}"/>
              </a:ext>
            </a:extLst>
          </p:cNvPr>
          <p:cNvSpPr txBox="1"/>
          <p:nvPr/>
        </p:nvSpPr>
        <p:spPr>
          <a:xfrm>
            <a:off x="454110" y="357028"/>
            <a:ext cx="11396019" cy="523220"/>
          </a:xfrm>
          <a:prstGeom prst="rect">
            <a:avLst/>
          </a:prstGeom>
          <a:noFill/>
        </p:spPr>
        <p:txBody>
          <a:bodyPr wrap="square">
            <a:spAutoFit/>
          </a:bodyPr>
          <a:lstStyle/>
          <a:p>
            <a:r>
              <a:rPr lang="en-US" dirty="0"/>
              <a:t>SQL Performance Tuning: How to Optimize Your Database Performance</a:t>
            </a:r>
          </a:p>
        </p:txBody>
      </p:sp>
      <p:pic>
        <p:nvPicPr>
          <p:cNvPr id="4" name="Picture 3">
            <a:extLst>
              <a:ext uri="{FF2B5EF4-FFF2-40B4-BE49-F238E27FC236}">
                <a16:creationId xmlns:a16="http://schemas.microsoft.com/office/drawing/2014/main" id="{FDF8FBC7-967B-3980-439C-5D66B5763527}"/>
              </a:ext>
            </a:extLst>
          </p:cNvPr>
          <p:cNvPicPr>
            <a:picLocks noChangeAspect="1"/>
          </p:cNvPicPr>
          <p:nvPr/>
        </p:nvPicPr>
        <p:blipFill>
          <a:blip r:embed="rId2"/>
          <a:stretch>
            <a:fillRect/>
          </a:stretch>
        </p:blipFill>
        <p:spPr>
          <a:xfrm>
            <a:off x="3438449" y="1337128"/>
            <a:ext cx="5319221" cy="4183743"/>
          </a:xfrm>
          <a:prstGeom prst="rect">
            <a:avLst/>
          </a:prstGeom>
        </p:spPr>
      </p:pic>
    </p:spTree>
    <p:extLst>
      <p:ext uri="{BB962C8B-B14F-4D97-AF65-F5344CB8AC3E}">
        <p14:creationId xmlns:p14="http://schemas.microsoft.com/office/powerpoint/2010/main" val="40950144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yteByteGo | Visualizing a SQL Query">
            <a:extLst>
              <a:ext uri="{FF2B5EF4-FFF2-40B4-BE49-F238E27FC236}">
                <a16:creationId xmlns:a16="http://schemas.microsoft.com/office/drawing/2014/main" id="{7F46ED5A-EF90-387E-408E-21237FECA5AD}"/>
              </a:ext>
            </a:extLst>
          </p:cNvPr>
          <p:cNvPicPr>
            <a:picLocks noChangeAspect="1"/>
          </p:cNvPicPr>
          <p:nvPr/>
        </p:nvPicPr>
        <p:blipFill>
          <a:blip r:embed="rId2"/>
          <a:stretch>
            <a:fillRect/>
          </a:stretch>
        </p:blipFill>
        <p:spPr>
          <a:xfrm>
            <a:off x="3732448" y="353970"/>
            <a:ext cx="4727104" cy="6150059"/>
          </a:xfrm>
          <a:prstGeom prst="rect">
            <a:avLst/>
          </a:prstGeom>
        </p:spPr>
      </p:pic>
    </p:spTree>
    <p:extLst>
      <p:ext uri="{BB962C8B-B14F-4D97-AF65-F5344CB8AC3E}">
        <p14:creationId xmlns:p14="http://schemas.microsoft.com/office/powerpoint/2010/main" val="24825932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C7DCA4-99E6-452F-921B-16FAF1525246}"/>
              </a:ext>
            </a:extLst>
          </p:cNvPr>
          <p:cNvSpPr txBox="1"/>
          <p:nvPr/>
        </p:nvSpPr>
        <p:spPr>
          <a:xfrm>
            <a:off x="317896" y="271433"/>
            <a:ext cx="11512153" cy="5755422"/>
          </a:xfrm>
          <a:prstGeom prst="rect">
            <a:avLst/>
          </a:prstGeom>
          <a:noFill/>
        </p:spPr>
        <p:txBody>
          <a:bodyPr wrap="square">
            <a:spAutoFit/>
          </a:bodyPr>
          <a:lstStyle/>
          <a:p>
            <a:r>
              <a:rPr lang="en-US" sz="2300" b="1" dirty="0"/>
              <a:t>Example:</a:t>
            </a:r>
            <a:endParaRPr lang="en-US" sz="2300" dirty="0"/>
          </a:p>
          <a:p>
            <a:r>
              <a:rPr lang="en-US" sz="2300" dirty="0"/>
              <a:t>A bank operates a </a:t>
            </a:r>
            <a:r>
              <a:rPr lang="en-US" sz="2300" b="1" dirty="0"/>
              <a:t>mobile banking application</a:t>
            </a:r>
            <a:r>
              <a:rPr lang="en-US" sz="2300" dirty="0"/>
              <a:t>. During busy periods, such as payday, thousands of customers may log in simultaneously. Users begin experiencing </a:t>
            </a:r>
            <a:r>
              <a:rPr lang="en-US" sz="2300" b="1" dirty="0"/>
              <a:t>slow loading times when checking balances or transferring money</a:t>
            </a:r>
            <a:r>
              <a:rPr lang="en-US" sz="2300" dirty="0"/>
              <a:t>.</a:t>
            </a:r>
          </a:p>
          <a:p>
            <a:r>
              <a:rPr lang="en-US" sz="2300" dirty="0"/>
              <a:t>The development team analyzes the system and discovers that database queries are taking too long. They </a:t>
            </a:r>
            <a:r>
              <a:rPr lang="en-US" sz="2300" b="1" dirty="0"/>
              <a:t>optimize the database, introduce caching, improve the application code, and adjust cloud resources</a:t>
            </a:r>
            <a:r>
              <a:rPr lang="en-US" sz="2300" dirty="0"/>
              <a:t>. After these changes, transaction processing becomes faster and the system can support more simultaneous users.</a:t>
            </a:r>
          </a:p>
          <a:p>
            <a:r>
              <a:rPr lang="en-US" sz="2300" dirty="0"/>
              <a:t>Performance optimization includes:</a:t>
            </a:r>
          </a:p>
          <a:p>
            <a:pPr>
              <a:buFont typeface="Arial" panose="020B0604020202020204" pitchFamily="34" charset="0"/>
              <a:buChar char="•"/>
            </a:pPr>
            <a:r>
              <a:rPr lang="en-US" sz="2300" b="1" dirty="0"/>
              <a:t>Code optimization</a:t>
            </a:r>
            <a:r>
              <a:rPr lang="en-US" sz="2300" dirty="0"/>
              <a:t> — improving software efficiency (faster). </a:t>
            </a:r>
          </a:p>
          <a:p>
            <a:pPr>
              <a:buFont typeface="Arial" panose="020B0604020202020204" pitchFamily="34" charset="0"/>
              <a:buChar char="•"/>
            </a:pPr>
            <a:r>
              <a:rPr lang="en-US" sz="2300" b="1" dirty="0"/>
              <a:t>Database optimization</a:t>
            </a:r>
            <a:r>
              <a:rPr lang="en-US" sz="2300" dirty="0"/>
              <a:t> — making data retrieval faster. </a:t>
            </a:r>
          </a:p>
          <a:p>
            <a:pPr>
              <a:buFont typeface="Arial" panose="020B0604020202020204" pitchFamily="34" charset="0"/>
              <a:buChar char="•"/>
            </a:pPr>
            <a:r>
              <a:rPr lang="en-US" sz="2300" b="1" dirty="0"/>
              <a:t>Caching</a:t>
            </a:r>
            <a:r>
              <a:rPr lang="en-US" sz="2300" dirty="0"/>
              <a:t> — temporarily storing frequently requested information. </a:t>
            </a:r>
          </a:p>
          <a:p>
            <a:pPr>
              <a:buFont typeface="Arial" panose="020B0604020202020204" pitchFamily="34" charset="0"/>
              <a:buChar char="•"/>
            </a:pPr>
            <a:r>
              <a:rPr lang="en-US" sz="2300" b="1" dirty="0"/>
              <a:t>Load balancing</a:t>
            </a:r>
            <a:r>
              <a:rPr lang="en-US" sz="2300" dirty="0"/>
              <a:t> — distributing workloads across multiple servers. </a:t>
            </a:r>
          </a:p>
          <a:p>
            <a:pPr>
              <a:buFont typeface="Arial" panose="020B0604020202020204" pitchFamily="34" charset="0"/>
              <a:buChar char="•"/>
            </a:pPr>
            <a:r>
              <a:rPr lang="en-US" sz="2300" b="1" dirty="0"/>
              <a:t>Resource optimization</a:t>
            </a:r>
            <a:r>
              <a:rPr lang="en-US" sz="2300" dirty="0"/>
              <a:t> — efficiently managing CPU, memory, storage, and network resources. </a:t>
            </a:r>
          </a:p>
          <a:p>
            <a:pPr>
              <a:buFont typeface="Arial" panose="020B0604020202020204" pitchFamily="34" charset="0"/>
              <a:buChar char="•"/>
            </a:pPr>
            <a:r>
              <a:rPr lang="en-US" sz="2300" b="1" dirty="0"/>
              <a:t>Scalability improvement</a:t>
            </a:r>
            <a:r>
              <a:rPr lang="en-US" sz="2300" dirty="0"/>
              <a:t> — preparing the system for increasing </a:t>
            </a:r>
            <a:r>
              <a:rPr lang="en-US" sz="2300" u="sng" dirty="0"/>
              <a:t>numbers of users</a:t>
            </a:r>
            <a:r>
              <a:rPr lang="en-US" sz="2300" dirty="0"/>
              <a:t>. </a:t>
            </a:r>
          </a:p>
          <a:p>
            <a:pPr>
              <a:buFont typeface="Arial" panose="020B0604020202020204" pitchFamily="34" charset="0"/>
              <a:buChar char="•"/>
            </a:pPr>
            <a:r>
              <a:rPr lang="en-US" sz="2300" b="1" dirty="0"/>
              <a:t>Performance monitoring</a:t>
            </a:r>
            <a:r>
              <a:rPr lang="en-US" sz="2300" dirty="0"/>
              <a:t> — continuously measuring </a:t>
            </a:r>
            <a:r>
              <a:rPr lang="en-US" sz="2300" u="sng" dirty="0"/>
              <a:t>speed</a:t>
            </a:r>
            <a:r>
              <a:rPr lang="en-US" sz="2300" dirty="0"/>
              <a:t> and system behavior.</a:t>
            </a:r>
          </a:p>
        </p:txBody>
      </p:sp>
    </p:spTree>
    <p:extLst>
      <p:ext uri="{BB962C8B-B14F-4D97-AF65-F5344CB8AC3E}">
        <p14:creationId xmlns:p14="http://schemas.microsoft.com/office/powerpoint/2010/main" val="18605161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D913CB-B61E-F08D-3721-6CDEE4A06FA3}"/>
              </a:ext>
            </a:extLst>
          </p:cNvPr>
          <p:cNvPicPr>
            <a:picLocks noChangeAspect="1"/>
          </p:cNvPicPr>
          <p:nvPr/>
        </p:nvPicPr>
        <p:blipFill>
          <a:blip r:embed="rId2"/>
          <a:stretch>
            <a:fillRect/>
          </a:stretch>
        </p:blipFill>
        <p:spPr>
          <a:xfrm>
            <a:off x="2286000" y="1524000"/>
            <a:ext cx="7620000" cy="3810000"/>
          </a:xfrm>
          <a:prstGeom prst="rect">
            <a:avLst/>
          </a:prstGeom>
        </p:spPr>
      </p:pic>
    </p:spTree>
    <p:extLst>
      <p:ext uri="{BB962C8B-B14F-4D97-AF65-F5344CB8AC3E}">
        <p14:creationId xmlns:p14="http://schemas.microsoft.com/office/powerpoint/2010/main" val="15227689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11DFD75-D75E-DD4B-6107-9BE53B10C093}"/>
              </a:ext>
            </a:extLst>
          </p:cNvPr>
          <p:cNvSpPr txBox="1"/>
          <p:nvPr/>
        </p:nvSpPr>
        <p:spPr>
          <a:xfrm>
            <a:off x="8903913" y="6299779"/>
            <a:ext cx="3131568" cy="323165"/>
          </a:xfrm>
          <a:prstGeom prst="rect">
            <a:avLst/>
          </a:prstGeom>
          <a:noFill/>
        </p:spPr>
        <p:txBody>
          <a:bodyPr wrap="square">
            <a:spAutoFit/>
          </a:bodyPr>
          <a:lstStyle/>
          <a:p>
            <a:r>
              <a:rPr lang="en-US" sz="1500" b="1" i="0" dirty="0" err="1">
                <a:solidFill>
                  <a:schemeClr val="tx1"/>
                </a:solidFill>
                <a:effectLst/>
                <a:latin typeface="+mn-lt"/>
              </a:rPr>
              <a:t>ตู้เย็นก็คือ</a:t>
            </a:r>
            <a:r>
              <a:rPr lang="en-US" sz="1500" b="1" i="0" dirty="0">
                <a:solidFill>
                  <a:schemeClr val="tx1"/>
                </a:solidFill>
                <a:effectLst/>
                <a:latin typeface="+mn-lt"/>
              </a:rPr>
              <a:t> Caching </a:t>
            </a:r>
            <a:r>
              <a:rPr lang="en-US" sz="1500" b="1" i="0" dirty="0" err="1">
                <a:solidFill>
                  <a:schemeClr val="tx1"/>
                </a:solidFill>
                <a:effectLst/>
                <a:latin typeface="+mn-lt"/>
              </a:rPr>
              <a:t>หรือเป็น</a:t>
            </a:r>
            <a:r>
              <a:rPr lang="en-US" sz="1500" b="1" i="0" dirty="0">
                <a:solidFill>
                  <a:schemeClr val="tx1"/>
                </a:solidFill>
                <a:effectLst/>
                <a:latin typeface="+mn-lt"/>
              </a:rPr>
              <a:t> local storage</a:t>
            </a:r>
            <a:endParaRPr lang="en-US" sz="1500" dirty="0"/>
          </a:p>
        </p:txBody>
      </p:sp>
      <p:pic>
        <p:nvPicPr>
          <p:cNvPr id="9" name="Picture 8">
            <a:extLst>
              <a:ext uri="{FF2B5EF4-FFF2-40B4-BE49-F238E27FC236}">
                <a16:creationId xmlns:a16="http://schemas.microsoft.com/office/drawing/2014/main" id="{23D7477C-4816-4888-95D3-9FAACC7D6175}"/>
              </a:ext>
            </a:extLst>
          </p:cNvPr>
          <p:cNvPicPr>
            <a:picLocks noChangeAspect="1"/>
          </p:cNvPicPr>
          <p:nvPr/>
        </p:nvPicPr>
        <p:blipFill>
          <a:blip r:embed="rId2"/>
          <a:stretch>
            <a:fillRect/>
          </a:stretch>
        </p:blipFill>
        <p:spPr>
          <a:xfrm>
            <a:off x="363401" y="225990"/>
            <a:ext cx="6868484" cy="2353003"/>
          </a:xfrm>
          <a:prstGeom prst="rect">
            <a:avLst/>
          </a:prstGeom>
        </p:spPr>
      </p:pic>
      <p:pic>
        <p:nvPicPr>
          <p:cNvPr id="10" name="Picture 9">
            <a:extLst>
              <a:ext uri="{FF2B5EF4-FFF2-40B4-BE49-F238E27FC236}">
                <a16:creationId xmlns:a16="http://schemas.microsoft.com/office/drawing/2014/main" id="{E7467039-AA61-FFBE-A8C1-100B1373D3AA}"/>
              </a:ext>
            </a:extLst>
          </p:cNvPr>
          <p:cNvPicPr>
            <a:picLocks noChangeAspect="1"/>
          </p:cNvPicPr>
          <p:nvPr/>
        </p:nvPicPr>
        <p:blipFill>
          <a:blip r:embed="rId3"/>
          <a:stretch>
            <a:fillRect/>
          </a:stretch>
        </p:blipFill>
        <p:spPr>
          <a:xfrm>
            <a:off x="734928" y="3252424"/>
            <a:ext cx="6496957" cy="1514686"/>
          </a:xfrm>
          <a:prstGeom prst="rect">
            <a:avLst/>
          </a:prstGeom>
        </p:spPr>
      </p:pic>
      <p:sp>
        <p:nvSpPr>
          <p:cNvPr id="12" name="TextBox 11">
            <a:extLst>
              <a:ext uri="{FF2B5EF4-FFF2-40B4-BE49-F238E27FC236}">
                <a16:creationId xmlns:a16="http://schemas.microsoft.com/office/drawing/2014/main" id="{B8A60EF5-248E-A67E-8A20-5E7D530580CF}"/>
              </a:ext>
            </a:extLst>
          </p:cNvPr>
          <p:cNvSpPr txBox="1"/>
          <p:nvPr/>
        </p:nvSpPr>
        <p:spPr>
          <a:xfrm>
            <a:off x="1887495" y="4767110"/>
            <a:ext cx="1003986" cy="323165"/>
          </a:xfrm>
          <a:prstGeom prst="rect">
            <a:avLst/>
          </a:prstGeom>
          <a:noFill/>
        </p:spPr>
        <p:txBody>
          <a:bodyPr wrap="square">
            <a:spAutoFit/>
          </a:bodyPr>
          <a:lstStyle/>
          <a:p>
            <a:r>
              <a:rPr lang="en-US" sz="1500" b="1" i="0" dirty="0">
                <a:solidFill>
                  <a:schemeClr val="tx1"/>
                </a:solidFill>
                <a:effectLst/>
                <a:latin typeface="+mn-lt"/>
              </a:rPr>
              <a:t>Caching</a:t>
            </a:r>
            <a:endParaRPr lang="en-US" dirty="0"/>
          </a:p>
        </p:txBody>
      </p:sp>
      <p:sp>
        <p:nvSpPr>
          <p:cNvPr id="13" name="TextBox 12">
            <a:extLst>
              <a:ext uri="{FF2B5EF4-FFF2-40B4-BE49-F238E27FC236}">
                <a16:creationId xmlns:a16="http://schemas.microsoft.com/office/drawing/2014/main" id="{E7AF3F0F-D9E4-40DD-2CD3-8BEFB61458D1}"/>
              </a:ext>
            </a:extLst>
          </p:cNvPr>
          <p:cNvSpPr txBox="1"/>
          <p:nvPr/>
        </p:nvSpPr>
        <p:spPr>
          <a:xfrm>
            <a:off x="2793657" y="2606094"/>
            <a:ext cx="1003986" cy="323165"/>
          </a:xfrm>
          <a:prstGeom prst="rect">
            <a:avLst/>
          </a:prstGeom>
          <a:noFill/>
        </p:spPr>
        <p:txBody>
          <a:bodyPr wrap="square">
            <a:spAutoFit/>
          </a:bodyPr>
          <a:lstStyle/>
          <a:p>
            <a:r>
              <a:rPr lang="en-US" sz="1500" b="1" i="0" dirty="0">
                <a:solidFill>
                  <a:schemeClr val="tx1"/>
                </a:solidFill>
                <a:effectLst/>
                <a:latin typeface="+mn-lt"/>
              </a:rPr>
              <a:t>Caching</a:t>
            </a:r>
            <a:endParaRPr lang="en-US" dirty="0"/>
          </a:p>
        </p:txBody>
      </p:sp>
    </p:spTree>
    <p:extLst>
      <p:ext uri="{BB962C8B-B14F-4D97-AF65-F5344CB8AC3E}">
        <p14:creationId xmlns:p14="http://schemas.microsoft.com/office/powerpoint/2010/main" val="40948805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FDDFAB-BCD1-48AE-B4EB-5C562CA462C3}"/>
              </a:ext>
            </a:extLst>
          </p:cNvPr>
          <p:cNvSpPr txBox="1"/>
          <p:nvPr/>
        </p:nvSpPr>
        <p:spPr>
          <a:xfrm>
            <a:off x="360759" y="241429"/>
            <a:ext cx="6093618" cy="3970318"/>
          </a:xfrm>
          <a:prstGeom prst="rect">
            <a:avLst/>
          </a:prstGeom>
          <a:noFill/>
        </p:spPr>
        <p:txBody>
          <a:bodyPr wrap="square">
            <a:spAutoFit/>
          </a:bodyPr>
          <a:lstStyle/>
          <a:p>
            <a:r>
              <a:rPr lang="en-US" b="1" dirty="0"/>
              <a:t>7. Testing and Quality Assurance</a:t>
            </a:r>
          </a:p>
          <a:p>
            <a:r>
              <a:rPr lang="en-US" dirty="0"/>
              <a:t>Thorough </a:t>
            </a:r>
            <a:r>
              <a:rPr lang="en-US" dirty="0">
                <a:highlight>
                  <a:srgbClr val="FFFF00"/>
                </a:highlight>
              </a:rPr>
              <a:t>testing</a:t>
            </a:r>
            <a:r>
              <a:rPr lang="en-US" dirty="0"/>
              <a:t>—unit, integration, system, and user acceptance testing—validates the system’s functionality and performance. QA ensures all components work reliably before release. Effective testing reduces bugs, prevents failures, and increases the overall quality of the deployed solution.</a:t>
            </a:r>
          </a:p>
        </p:txBody>
      </p:sp>
      <p:sp>
        <p:nvSpPr>
          <p:cNvPr id="4" name="TextBox 3">
            <a:extLst>
              <a:ext uri="{FF2B5EF4-FFF2-40B4-BE49-F238E27FC236}">
                <a16:creationId xmlns:a16="http://schemas.microsoft.com/office/drawing/2014/main" id="{B64A6E3F-601C-456D-A303-84FB2834E842}"/>
              </a:ext>
            </a:extLst>
          </p:cNvPr>
          <p:cNvSpPr txBox="1"/>
          <p:nvPr/>
        </p:nvSpPr>
        <p:spPr>
          <a:xfrm>
            <a:off x="8786813" y="476816"/>
            <a:ext cx="3044428" cy="4401205"/>
          </a:xfrm>
          <a:prstGeom prst="rect">
            <a:avLst/>
          </a:prstGeom>
          <a:noFill/>
        </p:spPr>
        <p:txBody>
          <a:bodyPr wrap="square">
            <a:spAutoFit/>
          </a:bodyPr>
          <a:lstStyle/>
          <a:p>
            <a:r>
              <a:rPr lang="en-US" b="1" dirty="0">
                <a:solidFill>
                  <a:srgbClr val="FF0000"/>
                </a:solidFill>
              </a:rPr>
              <a:t>checking a digital system to ensure that it works correctly, meets user requirements, performs reliably, and is free from critical errors before being released</a:t>
            </a:r>
            <a:r>
              <a:rPr lang="en-US" dirty="0">
                <a:solidFill>
                  <a:srgbClr val="FF0000"/>
                </a:solidFill>
              </a:rPr>
              <a:t>.</a:t>
            </a:r>
            <a:endParaRPr lang="th-TH" dirty="0">
              <a:solidFill>
                <a:srgbClr val="FF0000"/>
              </a:solidFill>
            </a:endParaRPr>
          </a:p>
        </p:txBody>
      </p:sp>
    </p:spTree>
    <p:extLst>
      <p:ext uri="{BB962C8B-B14F-4D97-AF65-F5344CB8AC3E}">
        <p14:creationId xmlns:p14="http://schemas.microsoft.com/office/powerpoint/2010/main" val="1857555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E7094AA-EE5E-44A2-BD3D-D1F24EC4156C}"/>
              </a:ext>
            </a:extLst>
          </p:cNvPr>
          <p:cNvPicPr>
            <a:picLocks noChangeAspect="1"/>
          </p:cNvPicPr>
          <p:nvPr/>
        </p:nvPicPr>
        <p:blipFill>
          <a:blip r:embed="rId2"/>
          <a:stretch>
            <a:fillRect/>
          </a:stretch>
        </p:blipFill>
        <p:spPr>
          <a:xfrm>
            <a:off x="400050" y="719137"/>
            <a:ext cx="11391900" cy="5419725"/>
          </a:xfrm>
          <a:prstGeom prst="rect">
            <a:avLst/>
          </a:prstGeom>
        </p:spPr>
      </p:pic>
    </p:spTree>
    <p:extLst>
      <p:ext uri="{BB962C8B-B14F-4D97-AF65-F5344CB8AC3E}">
        <p14:creationId xmlns:p14="http://schemas.microsoft.com/office/powerpoint/2010/main" val="38029296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DBC4A00-020B-4C95-A2DB-8214404DE543}"/>
              </a:ext>
            </a:extLst>
          </p:cNvPr>
          <p:cNvPicPr>
            <a:picLocks noChangeAspect="1"/>
          </p:cNvPicPr>
          <p:nvPr/>
        </p:nvPicPr>
        <p:blipFill>
          <a:blip r:embed="rId2"/>
          <a:stretch>
            <a:fillRect/>
          </a:stretch>
        </p:blipFill>
        <p:spPr>
          <a:xfrm>
            <a:off x="1524000" y="857250"/>
            <a:ext cx="9144000" cy="5143500"/>
          </a:xfrm>
          <a:prstGeom prst="rect">
            <a:avLst/>
          </a:prstGeom>
        </p:spPr>
      </p:pic>
    </p:spTree>
    <p:extLst>
      <p:ext uri="{BB962C8B-B14F-4D97-AF65-F5344CB8AC3E}">
        <p14:creationId xmlns:p14="http://schemas.microsoft.com/office/powerpoint/2010/main" val="17957484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ypes Of Testing">
            <a:extLst>
              <a:ext uri="{FF2B5EF4-FFF2-40B4-BE49-F238E27FC236}">
                <a16:creationId xmlns:a16="http://schemas.microsoft.com/office/drawing/2014/main" id="{DE8EAC4A-8D51-9F47-F3BB-FA6F8269EFA5}"/>
              </a:ext>
            </a:extLst>
          </p:cNvPr>
          <p:cNvPicPr>
            <a:picLocks noChangeAspect="1"/>
          </p:cNvPicPr>
          <p:nvPr/>
        </p:nvPicPr>
        <p:blipFill>
          <a:blip r:embed="rId2"/>
          <a:stretch>
            <a:fillRect/>
          </a:stretch>
        </p:blipFill>
        <p:spPr>
          <a:xfrm>
            <a:off x="2478559" y="1333500"/>
            <a:ext cx="7239000" cy="4191000"/>
          </a:xfrm>
          <a:prstGeom prst="rect">
            <a:avLst/>
          </a:prstGeom>
        </p:spPr>
      </p:pic>
    </p:spTree>
    <p:extLst>
      <p:ext uri="{BB962C8B-B14F-4D97-AF65-F5344CB8AC3E}">
        <p14:creationId xmlns:p14="http://schemas.microsoft.com/office/powerpoint/2010/main" val="36295770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B6B5C1-E7F9-63EE-46B0-93FB5E3A9046}"/>
              </a:ext>
            </a:extLst>
          </p:cNvPr>
          <p:cNvSpPr txBox="1"/>
          <p:nvPr/>
        </p:nvSpPr>
        <p:spPr>
          <a:xfrm>
            <a:off x="637242" y="333456"/>
            <a:ext cx="7703568" cy="523220"/>
          </a:xfrm>
          <a:prstGeom prst="rect">
            <a:avLst/>
          </a:prstGeom>
          <a:noFill/>
        </p:spPr>
        <p:txBody>
          <a:bodyPr wrap="square">
            <a:spAutoFit/>
          </a:bodyPr>
          <a:lstStyle/>
          <a:p>
            <a:r>
              <a:rPr lang="en-US" sz="2800" b="0" i="0" dirty="0">
                <a:solidFill>
                  <a:schemeClr val="tx1"/>
                </a:solidFill>
                <a:effectLst/>
                <a:latin typeface="+mn-lt"/>
              </a:rPr>
              <a:t>Software Quality Assurance</a:t>
            </a:r>
            <a:endParaRPr lang="en-US" dirty="0"/>
          </a:p>
        </p:txBody>
      </p:sp>
      <p:pic>
        <p:nvPicPr>
          <p:cNvPr id="4" name="Picture 3">
            <a:extLst>
              <a:ext uri="{FF2B5EF4-FFF2-40B4-BE49-F238E27FC236}">
                <a16:creationId xmlns:a16="http://schemas.microsoft.com/office/drawing/2014/main" id="{7A091D91-3E3B-6E2B-8703-3A39F9D7194A}"/>
              </a:ext>
            </a:extLst>
          </p:cNvPr>
          <p:cNvPicPr>
            <a:picLocks noChangeAspect="1"/>
          </p:cNvPicPr>
          <p:nvPr/>
        </p:nvPicPr>
        <p:blipFill>
          <a:blip r:embed="rId2"/>
          <a:stretch>
            <a:fillRect/>
          </a:stretch>
        </p:blipFill>
        <p:spPr>
          <a:xfrm>
            <a:off x="1892204" y="1143000"/>
            <a:ext cx="8040237" cy="5143500"/>
          </a:xfrm>
          <a:prstGeom prst="rect">
            <a:avLst/>
          </a:prstGeom>
        </p:spPr>
      </p:pic>
    </p:spTree>
    <p:extLst>
      <p:ext uri="{BB962C8B-B14F-4D97-AF65-F5344CB8AC3E}">
        <p14:creationId xmlns:p14="http://schemas.microsoft.com/office/powerpoint/2010/main" val="28360157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70892A-C769-4067-92C3-502C0E30ED81}"/>
              </a:ext>
            </a:extLst>
          </p:cNvPr>
          <p:cNvSpPr txBox="1"/>
          <p:nvPr/>
        </p:nvSpPr>
        <p:spPr>
          <a:xfrm>
            <a:off x="417909" y="258278"/>
            <a:ext cx="11226403" cy="6463308"/>
          </a:xfrm>
          <a:prstGeom prst="rect">
            <a:avLst/>
          </a:prstGeom>
          <a:noFill/>
        </p:spPr>
        <p:txBody>
          <a:bodyPr wrap="square">
            <a:spAutoFit/>
          </a:bodyPr>
          <a:lstStyle/>
          <a:p>
            <a:r>
              <a:rPr lang="en-US" sz="2300" b="1" dirty="0"/>
              <a:t>Example:</a:t>
            </a:r>
            <a:endParaRPr lang="en-US" sz="2300" dirty="0"/>
          </a:p>
          <a:p>
            <a:r>
              <a:rPr lang="en-US" sz="2300" dirty="0"/>
              <a:t>A bank is preparing to launch a new </a:t>
            </a:r>
            <a:r>
              <a:rPr lang="en-US" sz="2300" b="1" dirty="0"/>
              <a:t>mobile banking application</a:t>
            </a:r>
            <a:r>
              <a:rPr lang="en-US" sz="2300" dirty="0"/>
              <a:t>. Before release, the QA team tests important functions such as </a:t>
            </a:r>
            <a:r>
              <a:rPr lang="en-US" sz="2300" b="1" dirty="0"/>
              <a:t>user login, balance checking, money transfers, bill payments, and transaction notifications</a:t>
            </a:r>
            <a:r>
              <a:rPr lang="en-US" sz="2300" dirty="0"/>
              <a:t>.</a:t>
            </a:r>
          </a:p>
          <a:p>
            <a:r>
              <a:rPr lang="en-US" sz="2300" dirty="0"/>
              <a:t>For example, testers check whether a customer can transfer </a:t>
            </a:r>
            <a:r>
              <a:rPr lang="en-US" sz="2300" b="1" dirty="0"/>
              <a:t>5,000 baht</a:t>
            </a:r>
            <a:r>
              <a:rPr lang="en-US" sz="2300" dirty="0"/>
              <a:t> from one account to another. They verify that the correct amount is deducted, the receiving account gets the money, and both users receive accurate transaction information. If an error occurs, it is reported to the development team for correction and then tested again.</a:t>
            </a:r>
          </a:p>
          <a:p>
            <a:r>
              <a:rPr lang="en-US" sz="2300" dirty="0"/>
              <a:t>Testing and Quality Assurance include:</a:t>
            </a:r>
          </a:p>
          <a:p>
            <a:pPr>
              <a:buFont typeface="Arial" panose="020B0604020202020204" pitchFamily="34" charset="0"/>
              <a:buChar char="•"/>
            </a:pPr>
            <a:r>
              <a:rPr lang="en-US" sz="2300" b="1" dirty="0"/>
              <a:t>Functional testing</a:t>
            </a:r>
            <a:r>
              <a:rPr lang="en-US" sz="2300" dirty="0"/>
              <a:t> — verifies that features work correctly. </a:t>
            </a:r>
          </a:p>
          <a:p>
            <a:pPr>
              <a:buFont typeface="Arial" panose="020B0604020202020204" pitchFamily="34" charset="0"/>
              <a:buChar char="•"/>
            </a:pPr>
            <a:r>
              <a:rPr lang="en-US" sz="2300" b="1" dirty="0"/>
              <a:t>Usability testing</a:t>
            </a:r>
            <a:r>
              <a:rPr lang="en-US" sz="2300" dirty="0"/>
              <a:t> — checks whether the system is easy to use. </a:t>
            </a:r>
          </a:p>
          <a:p>
            <a:pPr>
              <a:buFont typeface="Arial" panose="020B0604020202020204" pitchFamily="34" charset="0"/>
              <a:buChar char="•"/>
            </a:pPr>
            <a:r>
              <a:rPr lang="en-US" sz="2300" b="1" dirty="0"/>
              <a:t>Performance testing</a:t>
            </a:r>
            <a:r>
              <a:rPr lang="en-US" sz="2300" dirty="0"/>
              <a:t> — determines whether the system performs well under different workloads. </a:t>
            </a:r>
          </a:p>
          <a:p>
            <a:pPr>
              <a:buFont typeface="Arial" panose="020B0604020202020204" pitchFamily="34" charset="0"/>
              <a:buChar char="•"/>
            </a:pPr>
            <a:r>
              <a:rPr lang="en-US" sz="2300" b="1" dirty="0"/>
              <a:t>Security testing</a:t>
            </a:r>
            <a:r>
              <a:rPr lang="en-US" sz="2300" dirty="0"/>
              <a:t> — identifies vulnerabilities and security problems. </a:t>
            </a:r>
          </a:p>
          <a:p>
            <a:pPr>
              <a:buFont typeface="Arial" panose="020B0604020202020204" pitchFamily="34" charset="0"/>
              <a:buChar char="•"/>
            </a:pPr>
            <a:r>
              <a:rPr lang="en-US" sz="2300" b="1" dirty="0"/>
              <a:t>Integration testing</a:t>
            </a:r>
            <a:r>
              <a:rPr lang="en-US" sz="2300" dirty="0"/>
              <a:t> — ensures different systems and APIs work together. </a:t>
            </a:r>
          </a:p>
          <a:p>
            <a:pPr>
              <a:buFont typeface="Arial" panose="020B0604020202020204" pitchFamily="34" charset="0"/>
              <a:buChar char="•"/>
            </a:pPr>
            <a:r>
              <a:rPr lang="en-US" sz="2300" b="1" dirty="0"/>
              <a:t>User Acceptance Testing (UAT)</a:t>
            </a:r>
            <a:r>
              <a:rPr lang="en-US" sz="2300" dirty="0"/>
              <a:t> — confirms that the system meets users' and business requirements. </a:t>
            </a:r>
          </a:p>
          <a:p>
            <a:pPr>
              <a:buFont typeface="Arial" panose="020B0604020202020204" pitchFamily="34" charset="0"/>
              <a:buChar char="•"/>
            </a:pPr>
            <a:r>
              <a:rPr lang="en-US" sz="2300" b="1" dirty="0"/>
              <a:t>Regression testing</a:t>
            </a:r>
            <a:r>
              <a:rPr lang="en-US" sz="2300" dirty="0"/>
              <a:t> — ensures new changes do not break existing functions.</a:t>
            </a:r>
          </a:p>
        </p:txBody>
      </p:sp>
    </p:spTree>
    <p:extLst>
      <p:ext uri="{BB962C8B-B14F-4D97-AF65-F5344CB8AC3E}">
        <p14:creationId xmlns:p14="http://schemas.microsoft.com/office/powerpoint/2010/main" val="10884542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BA0F8A-4478-48E0-94C5-CA6249682BE5}"/>
              </a:ext>
            </a:extLst>
          </p:cNvPr>
          <p:cNvSpPr txBox="1"/>
          <p:nvPr/>
        </p:nvSpPr>
        <p:spPr>
          <a:xfrm>
            <a:off x="534591" y="297448"/>
            <a:ext cx="6093618" cy="5693866"/>
          </a:xfrm>
          <a:prstGeom prst="rect">
            <a:avLst/>
          </a:prstGeom>
          <a:noFill/>
        </p:spPr>
        <p:txBody>
          <a:bodyPr wrap="square">
            <a:spAutoFit/>
          </a:bodyPr>
          <a:lstStyle/>
          <a:p>
            <a:r>
              <a:rPr lang="en-GB" b="1" dirty="0"/>
              <a:t>8. Deployment Strategy and Automation</a:t>
            </a:r>
          </a:p>
          <a:p>
            <a:r>
              <a:rPr lang="en-GB" dirty="0"/>
              <a:t>Deployment strategies </a:t>
            </a:r>
            <a:r>
              <a:rPr lang="en-GB" dirty="0">
                <a:solidFill>
                  <a:srgbClr val="FF0000"/>
                </a:solidFill>
              </a:rPr>
              <a:t>like rolling updates, blue-green deployment, and continuous integration/continuous deployment (CI/CD) </a:t>
            </a:r>
            <a:r>
              <a:rPr lang="en-GB" dirty="0"/>
              <a:t>ensure smooth releases. </a:t>
            </a:r>
          </a:p>
          <a:p>
            <a:endParaRPr lang="en-GB" dirty="0"/>
          </a:p>
          <a:p>
            <a:r>
              <a:rPr lang="en-GB" u="sng" dirty="0"/>
              <a:t>Automation reduces human error</a:t>
            </a:r>
            <a:r>
              <a:rPr lang="en-GB" dirty="0"/>
              <a:t>, speeds up deployment, and enhances consistency across environments. A strong strategy ensures predictable and safe system rollout.</a:t>
            </a:r>
          </a:p>
        </p:txBody>
      </p:sp>
      <p:sp>
        <p:nvSpPr>
          <p:cNvPr id="4" name="TextBox 3">
            <a:extLst>
              <a:ext uri="{FF2B5EF4-FFF2-40B4-BE49-F238E27FC236}">
                <a16:creationId xmlns:a16="http://schemas.microsoft.com/office/drawing/2014/main" id="{599CF884-9185-4B9B-AFD3-9EC8BE83A5D6}"/>
              </a:ext>
            </a:extLst>
          </p:cNvPr>
          <p:cNvSpPr txBox="1"/>
          <p:nvPr/>
        </p:nvSpPr>
        <p:spPr>
          <a:xfrm>
            <a:off x="8558211" y="297448"/>
            <a:ext cx="3225403" cy="2569934"/>
          </a:xfrm>
          <a:prstGeom prst="rect">
            <a:avLst/>
          </a:prstGeom>
          <a:noFill/>
        </p:spPr>
        <p:txBody>
          <a:bodyPr wrap="square">
            <a:spAutoFit/>
          </a:bodyPr>
          <a:lstStyle/>
          <a:p>
            <a:r>
              <a:rPr lang="en-US" sz="2300" b="1" dirty="0">
                <a:solidFill>
                  <a:srgbClr val="FF0000"/>
                </a:solidFill>
              </a:rPr>
              <a:t>planning how new software or system updates will be released and using automated tools to make the deployment faster, safer, and more consistent</a:t>
            </a:r>
            <a:r>
              <a:rPr lang="en-US" sz="2300" dirty="0">
                <a:solidFill>
                  <a:srgbClr val="FF0000"/>
                </a:solidFill>
              </a:rPr>
              <a:t>.</a:t>
            </a:r>
            <a:endParaRPr lang="th-TH" sz="2300" dirty="0">
              <a:solidFill>
                <a:srgbClr val="FF0000"/>
              </a:solidFill>
            </a:endParaRPr>
          </a:p>
        </p:txBody>
      </p:sp>
    </p:spTree>
    <p:extLst>
      <p:ext uri="{BB962C8B-B14F-4D97-AF65-F5344CB8AC3E}">
        <p14:creationId xmlns:p14="http://schemas.microsoft.com/office/powerpoint/2010/main" val="41268134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4F16B4-0A64-F8A1-4DB9-841CB98DA515}"/>
              </a:ext>
            </a:extLst>
          </p:cNvPr>
          <p:cNvPicPr>
            <a:picLocks noChangeAspect="1"/>
          </p:cNvPicPr>
          <p:nvPr/>
        </p:nvPicPr>
        <p:blipFill>
          <a:blip r:embed="rId2"/>
          <a:stretch>
            <a:fillRect/>
          </a:stretch>
        </p:blipFill>
        <p:spPr>
          <a:xfrm>
            <a:off x="781049" y="642937"/>
            <a:ext cx="2976563" cy="4945674"/>
          </a:xfrm>
          <a:prstGeom prst="rect">
            <a:avLst/>
          </a:prstGeom>
        </p:spPr>
      </p:pic>
      <p:pic>
        <p:nvPicPr>
          <p:cNvPr id="5" name="Picture 4">
            <a:extLst>
              <a:ext uri="{FF2B5EF4-FFF2-40B4-BE49-F238E27FC236}">
                <a16:creationId xmlns:a16="http://schemas.microsoft.com/office/drawing/2014/main" id="{34E0FB81-A9E8-1FF9-B680-ECA0A10DF73A}"/>
              </a:ext>
            </a:extLst>
          </p:cNvPr>
          <p:cNvPicPr>
            <a:picLocks noChangeAspect="1"/>
          </p:cNvPicPr>
          <p:nvPr/>
        </p:nvPicPr>
        <p:blipFill>
          <a:blip r:embed="rId3"/>
          <a:stretch>
            <a:fillRect/>
          </a:stretch>
        </p:blipFill>
        <p:spPr>
          <a:xfrm>
            <a:off x="5912537" y="1123142"/>
            <a:ext cx="4296375" cy="4191585"/>
          </a:xfrm>
          <a:prstGeom prst="rect">
            <a:avLst/>
          </a:prstGeom>
        </p:spPr>
      </p:pic>
    </p:spTree>
    <p:extLst>
      <p:ext uri="{BB962C8B-B14F-4D97-AF65-F5344CB8AC3E}">
        <p14:creationId xmlns:p14="http://schemas.microsoft.com/office/powerpoint/2010/main" val="1219935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8C03B64-1159-48D0-AB63-2F59815FD2B7}"/>
              </a:ext>
            </a:extLst>
          </p:cNvPr>
          <p:cNvPicPr>
            <a:picLocks noChangeAspect="1"/>
          </p:cNvPicPr>
          <p:nvPr/>
        </p:nvPicPr>
        <p:blipFill>
          <a:blip r:embed="rId2"/>
          <a:stretch>
            <a:fillRect/>
          </a:stretch>
        </p:blipFill>
        <p:spPr>
          <a:xfrm>
            <a:off x="2690337" y="1071233"/>
            <a:ext cx="6811326" cy="4715533"/>
          </a:xfrm>
          <a:prstGeom prst="rect">
            <a:avLst/>
          </a:prstGeom>
        </p:spPr>
      </p:pic>
    </p:spTree>
    <p:extLst>
      <p:ext uri="{BB962C8B-B14F-4D97-AF65-F5344CB8AC3E}">
        <p14:creationId xmlns:p14="http://schemas.microsoft.com/office/powerpoint/2010/main" val="26168341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56FB96-6738-414E-B2CE-89EC3764F36B}"/>
              </a:ext>
            </a:extLst>
          </p:cNvPr>
          <p:cNvSpPr txBox="1"/>
          <p:nvPr/>
        </p:nvSpPr>
        <p:spPr>
          <a:xfrm>
            <a:off x="575073" y="371446"/>
            <a:ext cx="11112102" cy="6109365"/>
          </a:xfrm>
          <a:prstGeom prst="rect">
            <a:avLst/>
          </a:prstGeom>
          <a:noFill/>
        </p:spPr>
        <p:txBody>
          <a:bodyPr wrap="square">
            <a:spAutoFit/>
          </a:bodyPr>
          <a:lstStyle/>
          <a:p>
            <a:r>
              <a:rPr lang="en-US" sz="2300" b="1" dirty="0"/>
              <a:t>Example:</a:t>
            </a:r>
            <a:endParaRPr lang="en-US" sz="2300" dirty="0"/>
          </a:p>
          <a:p>
            <a:r>
              <a:rPr lang="en-US" sz="2300" dirty="0"/>
              <a:t>A bank is preparing to release a </a:t>
            </a:r>
            <a:r>
              <a:rPr lang="en-US" sz="2300" b="1" dirty="0"/>
              <a:t>new version of its mobile banking application</a:t>
            </a:r>
            <a:r>
              <a:rPr lang="en-US" sz="2300" dirty="0"/>
              <a:t>. Instead of releasing the update manually to all users at once, the development team uses a </a:t>
            </a:r>
            <a:r>
              <a:rPr lang="en-US" sz="2300" b="1" dirty="0"/>
              <a:t>gradual deployment strategy</a:t>
            </a:r>
            <a:r>
              <a:rPr lang="en-US" sz="2300" dirty="0"/>
              <a:t>.</a:t>
            </a:r>
          </a:p>
          <a:p>
            <a:r>
              <a:rPr lang="en-US" sz="2300" dirty="0"/>
              <a:t>For example, the new version is first released to </a:t>
            </a:r>
            <a:r>
              <a:rPr lang="en-US" sz="2300" b="1" dirty="0"/>
              <a:t>10% of users</a:t>
            </a:r>
            <a:r>
              <a:rPr lang="en-US" sz="2300" dirty="0"/>
              <a:t>. Automated monitoring checks system performance, transaction errors, and application crashes. If the system operates correctly, the update is gradually released to more users. If serious problems appear, the deployment can be stopped or rolled back to the previous stable version.</a:t>
            </a:r>
          </a:p>
          <a:p>
            <a:r>
              <a:rPr lang="en-US" sz="2300" dirty="0"/>
              <a:t>Deployment strategy and automation include:</a:t>
            </a:r>
          </a:p>
          <a:p>
            <a:pPr>
              <a:buFont typeface="Arial" panose="020B0604020202020204" pitchFamily="34" charset="0"/>
              <a:buChar char="•"/>
            </a:pPr>
            <a:r>
              <a:rPr lang="en-US" sz="2300" b="1" dirty="0"/>
              <a:t>Continuous Deployment/Delivery (CI/CD)</a:t>
            </a:r>
            <a:r>
              <a:rPr lang="en-US" sz="2300" dirty="0"/>
              <a:t> — automates software building, testing, and release. </a:t>
            </a:r>
          </a:p>
          <a:p>
            <a:pPr>
              <a:buFont typeface="Arial" panose="020B0604020202020204" pitchFamily="34" charset="0"/>
              <a:buChar char="•"/>
            </a:pPr>
            <a:r>
              <a:rPr lang="en-US" sz="2300" b="1" dirty="0"/>
              <a:t>Phased deployment</a:t>
            </a:r>
            <a:r>
              <a:rPr lang="en-US" sz="2300" dirty="0"/>
              <a:t> — releases updates gradually to reduce risk. </a:t>
            </a:r>
          </a:p>
          <a:p>
            <a:pPr>
              <a:buFont typeface="Arial" panose="020B0604020202020204" pitchFamily="34" charset="0"/>
              <a:buChar char="•"/>
            </a:pPr>
            <a:r>
              <a:rPr lang="en-US" sz="2300" b="1" dirty="0"/>
              <a:t>Automated configuration</a:t>
            </a:r>
            <a:r>
              <a:rPr lang="en-US" sz="2300" dirty="0"/>
              <a:t> — ensures environments are configured consistently. </a:t>
            </a:r>
          </a:p>
          <a:p>
            <a:pPr>
              <a:buFont typeface="Arial" panose="020B0604020202020204" pitchFamily="34" charset="0"/>
              <a:buChar char="•"/>
            </a:pPr>
            <a:r>
              <a:rPr lang="en-US" sz="2300" b="1" dirty="0"/>
              <a:t>Automated testing</a:t>
            </a:r>
            <a:r>
              <a:rPr lang="en-US" sz="2300" dirty="0"/>
              <a:t> — checks software before deployment. </a:t>
            </a:r>
          </a:p>
          <a:p>
            <a:pPr>
              <a:buFont typeface="Arial" panose="020B0604020202020204" pitchFamily="34" charset="0"/>
              <a:buChar char="•"/>
            </a:pPr>
            <a:r>
              <a:rPr lang="en-US" sz="2300" b="1" dirty="0"/>
              <a:t>Monitoring</a:t>
            </a:r>
            <a:r>
              <a:rPr lang="en-US" sz="2300" dirty="0"/>
              <a:t> — tracks system performance after release. </a:t>
            </a:r>
          </a:p>
          <a:p>
            <a:pPr>
              <a:buFont typeface="Arial" panose="020B0604020202020204" pitchFamily="34" charset="0"/>
              <a:buChar char="•"/>
            </a:pPr>
            <a:r>
              <a:rPr lang="en-US" sz="2300" b="1" dirty="0"/>
              <a:t>Rollback mechanisms</a:t>
            </a:r>
            <a:r>
              <a:rPr lang="en-US" sz="2300" dirty="0"/>
              <a:t> — restores the previous version when serious problems occur. </a:t>
            </a:r>
          </a:p>
          <a:p>
            <a:pPr>
              <a:buFont typeface="Arial" panose="020B0604020202020204" pitchFamily="34" charset="0"/>
              <a:buChar char="•"/>
            </a:pPr>
            <a:r>
              <a:rPr lang="en-US" sz="2300" b="1" dirty="0"/>
              <a:t>Version control</a:t>
            </a:r>
            <a:r>
              <a:rPr lang="en-US" sz="2300" dirty="0"/>
              <a:t> — manages different versions of software.</a:t>
            </a:r>
          </a:p>
        </p:txBody>
      </p:sp>
    </p:spTree>
    <p:extLst>
      <p:ext uri="{BB962C8B-B14F-4D97-AF65-F5344CB8AC3E}">
        <p14:creationId xmlns:p14="http://schemas.microsoft.com/office/powerpoint/2010/main" val="28382458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26D539-B42C-42D7-8C4E-19C6C9B5CD60}"/>
              </a:ext>
            </a:extLst>
          </p:cNvPr>
          <p:cNvSpPr txBox="1"/>
          <p:nvPr/>
        </p:nvSpPr>
        <p:spPr>
          <a:xfrm>
            <a:off x="506016" y="386566"/>
            <a:ext cx="6093618" cy="3970318"/>
          </a:xfrm>
          <a:prstGeom prst="rect">
            <a:avLst/>
          </a:prstGeom>
          <a:noFill/>
        </p:spPr>
        <p:txBody>
          <a:bodyPr wrap="square">
            <a:spAutoFit/>
          </a:bodyPr>
          <a:lstStyle/>
          <a:p>
            <a:r>
              <a:rPr lang="en-US" b="1" dirty="0"/>
              <a:t>9. Monitoring and Logging Setup</a:t>
            </a:r>
          </a:p>
          <a:p>
            <a:r>
              <a:rPr lang="en-US" dirty="0"/>
              <a:t>Deployments require monitoring tools and logging systems to track performance, errors, and user activities. These tools help detect issues early, support troubleshooting, and improve system stability. Effective monitoring ensures the system remains healthy and reliable after launch.</a:t>
            </a:r>
          </a:p>
        </p:txBody>
      </p:sp>
      <p:sp>
        <p:nvSpPr>
          <p:cNvPr id="4" name="TextBox 3">
            <a:extLst>
              <a:ext uri="{FF2B5EF4-FFF2-40B4-BE49-F238E27FC236}">
                <a16:creationId xmlns:a16="http://schemas.microsoft.com/office/drawing/2014/main" id="{E01FE375-E929-4F8F-A4B2-FC8B837E0419}"/>
              </a:ext>
            </a:extLst>
          </p:cNvPr>
          <p:cNvSpPr txBox="1"/>
          <p:nvPr/>
        </p:nvSpPr>
        <p:spPr>
          <a:xfrm>
            <a:off x="8539162" y="590848"/>
            <a:ext cx="3044428" cy="2923877"/>
          </a:xfrm>
          <a:prstGeom prst="rect">
            <a:avLst/>
          </a:prstGeom>
          <a:noFill/>
        </p:spPr>
        <p:txBody>
          <a:bodyPr wrap="square">
            <a:spAutoFit/>
          </a:bodyPr>
          <a:lstStyle/>
          <a:p>
            <a:r>
              <a:rPr lang="en-US" sz="2300" dirty="0">
                <a:solidFill>
                  <a:srgbClr val="FF0000"/>
                </a:solidFill>
              </a:rPr>
              <a:t>configuring tools and processes to continuously observe a digital system’s performance, record important activities, and detect problems after deployment.</a:t>
            </a:r>
            <a:endParaRPr lang="th-TH" sz="2300" dirty="0">
              <a:solidFill>
                <a:srgbClr val="FF0000"/>
              </a:solidFill>
            </a:endParaRPr>
          </a:p>
        </p:txBody>
      </p:sp>
    </p:spTree>
    <p:extLst>
      <p:ext uri="{BB962C8B-B14F-4D97-AF65-F5344CB8AC3E}">
        <p14:creationId xmlns:p14="http://schemas.microsoft.com/office/powerpoint/2010/main" val="35330186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entralized Log Management">
            <a:extLst>
              <a:ext uri="{FF2B5EF4-FFF2-40B4-BE49-F238E27FC236}">
                <a16:creationId xmlns:a16="http://schemas.microsoft.com/office/drawing/2014/main" id="{E6240825-7D07-4D12-8F2A-F9651FB576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775" y="338138"/>
            <a:ext cx="9305925" cy="52387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2456406-9BD8-459D-B6E2-6945989AC21D}"/>
              </a:ext>
            </a:extLst>
          </p:cNvPr>
          <p:cNvSpPr txBox="1"/>
          <p:nvPr/>
        </p:nvSpPr>
        <p:spPr>
          <a:xfrm>
            <a:off x="485774" y="5820341"/>
            <a:ext cx="9305925" cy="553998"/>
          </a:xfrm>
          <a:prstGeom prst="rect">
            <a:avLst/>
          </a:prstGeom>
          <a:noFill/>
        </p:spPr>
        <p:txBody>
          <a:bodyPr wrap="square">
            <a:spAutoFit/>
          </a:bodyPr>
          <a:lstStyle/>
          <a:p>
            <a:r>
              <a:rPr lang="th-TH" sz="1500" dirty="0"/>
              <a:t> กระบวนการติดตั้งและกำหนดค่าระบบเพื่อติดตามสถานะ (</a:t>
            </a:r>
            <a:r>
              <a:rPr lang="en-GB" sz="1500" dirty="0"/>
              <a:t>Monitoring) </a:t>
            </a:r>
            <a:r>
              <a:rPr lang="th-TH" sz="1500" dirty="0"/>
              <a:t>และบันทึกเหตุการณ์ (</a:t>
            </a:r>
            <a:r>
              <a:rPr lang="en-GB" sz="1500" dirty="0"/>
              <a:t>Logging) </a:t>
            </a:r>
            <a:r>
              <a:rPr lang="th-TH" sz="1500" dirty="0"/>
              <a:t>ของระบบคอมพิวเตอร์หรือแอปพลิเคชันแบบเรียลไทม์ เพื่อให้ผู้ดูแลระบบรู้เท่าทันปัญหาและวิเคราะห์ความผิดพลาดได้รวดเร็ว</a:t>
            </a:r>
          </a:p>
        </p:txBody>
      </p:sp>
      <p:sp>
        <p:nvSpPr>
          <p:cNvPr id="6" name="TextBox 5">
            <a:extLst>
              <a:ext uri="{FF2B5EF4-FFF2-40B4-BE49-F238E27FC236}">
                <a16:creationId xmlns:a16="http://schemas.microsoft.com/office/drawing/2014/main" id="{7B84CA37-A011-498D-A41D-D34B36D3BE10}"/>
              </a:ext>
            </a:extLst>
          </p:cNvPr>
          <p:cNvSpPr txBox="1"/>
          <p:nvPr/>
        </p:nvSpPr>
        <p:spPr>
          <a:xfrm>
            <a:off x="10115549" y="338138"/>
            <a:ext cx="1782365" cy="1938992"/>
          </a:xfrm>
          <a:prstGeom prst="rect">
            <a:avLst/>
          </a:prstGeom>
          <a:noFill/>
        </p:spPr>
        <p:txBody>
          <a:bodyPr wrap="square">
            <a:spAutoFit/>
          </a:bodyPr>
          <a:lstStyle/>
          <a:p>
            <a:r>
              <a:rPr lang="en-US" sz="1500" dirty="0"/>
              <a:t>collecting system metrics and aggregating application logs into centralized dashboards for real-time visibility and troubleshooting.</a:t>
            </a:r>
            <a:endParaRPr lang="th-TH" sz="1500" dirty="0"/>
          </a:p>
        </p:txBody>
      </p:sp>
    </p:spTree>
    <p:extLst>
      <p:ext uri="{BB962C8B-B14F-4D97-AF65-F5344CB8AC3E}">
        <p14:creationId xmlns:p14="http://schemas.microsoft.com/office/powerpoint/2010/main" val="33753104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745B71-4C07-42AB-9BDA-8D98F52A32FB}"/>
              </a:ext>
            </a:extLst>
          </p:cNvPr>
          <p:cNvSpPr txBox="1"/>
          <p:nvPr/>
        </p:nvSpPr>
        <p:spPr>
          <a:xfrm>
            <a:off x="317897" y="226309"/>
            <a:ext cx="11597878" cy="5755422"/>
          </a:xfrm>
          <a:prstGeom prst="rect">
            <a:avLst/>
          </a:prstGeom>
          <a:noFill/>
        </p:spPr>
        <p:txBody>
          <a:bodyPr wrap="square">
            <a:spAutoFit/>
          </a:bodyPr>
          <a:lstStyle/>
          <a:p>
            <a:r>
              <a:rPr lang="en-US" sz="2300" b="1" dirty="0"/>
              <a:t>Example:</a:t>
            </a:r>
            <a:endParaRPr lang="en-US" sz="2300" dirty="0"/>
          </a:p>
          <a:p>
            <a:r>
              <a:rPr lang="en-US" sz="2300" dirty="0"/>
              <a:t>A bank operates a </a:t>
            </a:r>
            <a:r>
              <a:rPr lang="en-US" sz="2300" b="1" dirty="0"/>
              <a:t>mobile banking application</a:t>
            </a:r>
            <a:r>
              <a:rPr lang="en-US" sz="2300" dirty="0"/>
              <a:t> used by thousands of customers. The technical team sets up monitoring and logging to track </a:t>
            </a:r>
            <a:r>
              <a:rPr lang="en-US" sz="2300" b="1" dirty="0"/>
              <a:t>login attempts, transaction processing, system errors, API response times, server performance, and unusual activities</a:t>
            </a:r>
            <a:r>
              <a:rPr lang="en-US" sz="2300" dirty="0"/>
              <a:t>.</a:t>
            </a:r>
          </a:p>
          <a:p>
            <a:r>
              <a:rPr lang="en-US" sz="2300" dirty="0"/>
              <a:t>For example, the monitoring system detects that </a:t>
            </a:r>
            <a:r>
              <a:rPr lang="en-US" sz="2300" b="1" dirty="0"/>
              <a:t>money-transfer transactions are suddenly taking 10 seconds instead of the normal 2 seconds</a:t>
            </a:r>
            <a:r>
              <a:rPr lang="en-US" sz="2300" dirty="0"/>
              <a:t>. At the same time, system logs show repeated database connection errors. The technical team uses this information to quickly identify the cause and fix the database problem.</a:t>
            </a:r>
          </a:p>
          <a:p>
            <a:r>
              <a:rPr lang="en-US" sz="2300" dirty="0"/>
              <a:t>Monitoring and logging setup includes:</a:t>
            </a:r>
          </a:p>
          <a:p>
            <a:pPr>
              <a:buFont typeface="Arial" panose="020B0604020202020204" pitchFamily="34" charset="0"/>
              <a:buChar char="•"/>
            </a:pPr>
            <a:r>
              <a:rPr lang="en-US" sz="2300" b="1" dirty="0"/>
              <a:t>Performance monitoring</a:t>
            </a:r>
            <a:r>
              <a:rPr lang="en-US" sz="2300" dirty="0"/>
              <a:t> — tracks response time, CPU, memory, and network usage. </a:t>
            </a:r>
          </a:p>
          <a:p>
            <a:pPr>
              <a:buFont typeface="Arial" panose="020B0604020202020204" pitchFamily="34" charset="0"/>
              <a:buChar char="•"/>
            </a:pPr>
            <a:r>
              <a:rPr lang="en-US" sz="2300" b="1" dirty="0"/>
              <a:t>Application monitoring</a:t>
            </a:r>
            <a:r>
              <a:rPr lang="en-US" sz="2300" dirty="0"/>
              <a:t> — observes application behavior and errors. </a:t>
            </a:r>
          </a:p>
          <a:p>
            <a:pPr>
              <a:buFont typeface="Arial" panose="020B0604020202020204" pitchFamily="34" charset="0"/>
              <a:buChar char="•"/>
            </a:pPr>
            <a:r>
              <a:rPr lang="en-US" sz="2300" b="1" dirty="0"/>
              <a:t>Transaction logging</a:t>
            </a:r>
            <a:r>
              <a:rPr lang="en-US" sz="2300" dirty="0"/>
              <a:t> — records important system activities and transactions. </a:t>
            </a:r>
          </a:p>
          <a:p>
            <a:pPr>
              <a:buFont typeface="Arial" panose="020B0604020202020204" pitchFamily="34" charset="0"/>
              <a:buChar char="•"/>
            </a:pPr>
            <a:r>
              <a:rPr lang="en-US" sz="2300" b="1" dirty="0"/>
              <a:t>Error logging</a:t>
            </a:r>
            <a:r>
              <a:rPr lang="en-US" sz="2300" dirty="0"/>
              <a:t> — records technical errors for investigation. </a:t>
            </a:r>
          </a:p>
          <a:p>
            <a:pPr>
              <a:buFont typeface="Arial" panose="020B0604020202020204" pitchFamily="34" charset="0"/>
              <a:buChar char="•"/>
            </a:pPr>
            <a:r>
              <a:rPr lang="en-US" sz="2300" b="1" dirty="0"/>
              <a:t>Security monitoring</a:t>
            </a:r>
            <a:r>
              <a:rPr lang="en-US" sz="2300" dirty="0"/>
              <a:t> — detects suspicious activities and unauthorized access attempts. </a:t>
            </a:r>
          </a:p>
          <a:p>
            <a:pPr>
              <a:buFont typeface="Arial" panose="020B0604020202020204" pitchFamily="34" charset="0"/>
              <a:buChar char="•"/>
            </a:pPr>
            <a:r>
              <a:rPr lang="en-US" sz="2300" b="1" dirty="0"/>
              <a:t>Automated alerts</a:t>
            </a:r>
            <a:r>
              <a:rPr lang="en-US" sz="2300" dirty="0"/>
              <a:t> — informs the technical team when problems occur. </a:t>
            </a:r>
          </a:p>
          <a:p>
            <a:pPr>
              <a:buFont typeface="Arial" panose="020B0604020202020204" pitchFamily="34" charset="0"/>
              <a:buChar char="•"/>
            </a:pPr>
            <a:r>
              <a:rPr lang="en-US" sz="2300" b="1" dirty="0"/>
              <a:t>Log analysis</a:t>
            </a:r>
            <a:r>
              <a:rPr lang="en-US" sz="2300" dirty="0"/>
              <a:t> — uses recorded information to identify causes of problems.</a:t>
            </a:r>
          </a:p>
        </p:txBody>
      </p:sp>
    </p:spTree>
    <p:extLst>
      <p:ext uri="{BB962C8B-B14F-4D97-AF65-F5344CB8AC3E}">
        <p14:creationId xmlns:p14="http://schemas.microsoft.com/office/powerpoint/2010/main" val="32100102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FC9A4C-1242-45A0-A3B7-AE6E8496A6A9}"/>
              </a:ext>
            </a:extLst>
          </p:cNvPr>
          <p:cNvSpPr txBox="1"/>
          <p:nvPr/>
        </p:nvSpPr>
        <p:spPr>
          <a:xfrm>
            <a:off x="617935" y="341442"/>
            <a:ext cx="6093618" cy="4832092"/>
          </a:xfrm>
          <a:prstGeom prst="rect">
            <a:avLst/>
          </a:prstGeom>
          <a:noFill/>
        </p:spPr>
        <p:txBody>
          <a:bodyPr wrap="square">
            <a:spAutoFit/>
          </a:bodyPr>
          <a:lstStyle/>
          <a:p>
            <a:r>
              <a:rPr lang="en-US" b="1" dirty="0"/>
              <a:t>10. User Training and Change Management</a:t>
            </a:r>
          </a:p>
          <a:p>
            <a:r>
              <a:rPr lang="en-US" dirty="0"/>
              <a:t>Successful deployment includes preparing users through training, manuals, and support resources. Change management ensures users adapt to new workflows and system features. Proper user onboarding reduces resistance, improves adoption, and maximizes the system’s impact in real operational settings.</a:t>
            </a:r>
          </a:p>
        </p:txBody>
      </p:sp>
      <p:sp>
        <p:nvSpPr>
          <p:cNvPr id="4" name="TextBox 3">
            <a:extLst>
              <a:ext uri="{FF2B5EF4-FFF2-40B4-BE49-F238E27FC236}">
                <a16:creationId xmlns:a16="http://schemas.microsoft.com/office/drawing/2014/main" id="{BF71489C-9DF3-43D4-A50F-28A3E8229A2D}"/>
              </a:ext>
            </a:extLst>
          </p:cNvPr>
          <p:cNvSpPr txBox="1"/>
          <p:nvPr/>
        </p:nvSpPr>
        <p:spPr>
          <a:xfrm>
            <a:off x="8501063" y="606534"/>
            <a:ext cx="3296840" cy="3539430"/>
          </a:xfrm>
          <a:prstGeom prst="rect">
            <a:avLst/>
          </a:prstGeom>
          <a:noFill/>
        </p:spPr>
        <p:txBody>
          <a:bodyPr wrap="square">
            <a:spAutoFit/>
          </a:bodyPr>
          <a:lstStyle/>
          <a:p>
            <a:r>
              <a:rPr lang="en-US" b="1" dirty="0">
                <a:solidFill>
                  <a:srgbClr val="FF0000"/>
                </a:solidFill>
              </a:rPr>
              <a:t>helping users understand, accept, and effectively use a new digital system while managing the transition from old processes to new ways of working</a:t>
            </a:r>
            <a:r>
              <a:rPr lang="en-US" dirty="0">
                <a:solidFill>
                  <a:srgbClr val="FF0000"/>
                </a:solidFill>
              </a:rPr>
              <a:t>.</a:t>
            </a:r>
            <a:endParaRPr lang="th-TH" dirty="0">
              <a:solidFill>
                <a:srgbClr val="FF0000"/>
              </a:solidFill>
            </a:endParaRPr>
          </a:p>
        </p:txBody>
      </p:sp>
    </p:spTree>
    <p:extLst>
      <p:ext uri="{BB962C8B-B14F-4D97-AF65-F5344CB8AC3E}">
        <p14:creationId xmlns:p14="http://schemas.microsoft.com/office/powerpoint/2010/main" val="336193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1321E8D-E7CF-8FCE-D909-96C714322DFC}"/>
              </a:ext>
            </a:extLst>
          </p:cNvPr>
          <p:cNvPicPr>
            <a:picLocks noChangeAspect="1"/>
          </p:cNvPicPr>
          <p:nvPr/>
        </p:nvPicPr>
        <p:blipFill>
          <a:blip r:embed="rId2"/>
          <a:stretch>
            <a:fillRect/>
          </a:stretch>
        </p:blipFill>
        <p:spPr>
          <a:xfrm>
            <a:off x="2452309" y="1727649"/>
            <a:ext cx="7291501" cy="3402701"/>
          </a:xfrm>
          <a:prstGeom prst="rect">
            <a:avLst/>
          </a:prstGeom>
        </p:spPr>
      </p:pic>
    </p:spTree>
    <p:extLst>
      <p:ext uri="{BB962C8B-B14F-4D97-AF65-F5344CB8AC3E}">
        <p14:creationId xmlns:p14="http://schemas.microsoft.com/office/powerpoint/2010/main" val="20391764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0BBD44E-520A-4313-8974-2BA7E321F32D}"/>
              </a:ext>
            </a:extLst>
          </p:cNvPr>
          <p:cNvPicPr>
            <a:picLocks noChangeAspect="1"/>
          </p:cNvPicPr>
          <p:nvPr/>
        </p:nvPicPr>
        <p:blipFill>
          <a:blip r:embed="rId2"/>
          <a:stretch>
            <a:fillRect/>
          </a:stretch>
        </p:blipFill>
        <p:spPr>
          <a:xfrm>
            <a:off x="2690812" y="1643062"/>
            <a:ext cx="6810375" cy="3571875"/>
          </a:xfrm>
          <a:prstGeom prst="rect">
            <a:avLst/>
          </a:prstGeom>
        </p:spPr>
      </p:pic>
    </p:spTree>
    <p:extLst>
      <p:ext uri="{BB962C8B-B14F-4D97-AF65-F5344CB8AC3E}">
        <p14:creationId xmlns:p14="http://schemas.microsoft.com/office/powerpoint/2010/main" val="29773017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EF1178-72FA-4664-ACCC-FA64A53C1079}"/>
              </a:ext>
            </a:extLst>
          </p:cNvPr>
          <p:cNvSpPr txBox="1"/>
          <p:nvPr/>
        </p:nvSpPr>
        <p:spPr>
          <a:xfrm>
            <a:off x="289321" y="312034"/>
            <a:ext cx="11526441" cy="5755422"/>
          </a:xfrm>
          <a:prstGeom prst="rect">
            <a:avLst/>
          </a:prstGeom>
          <a:noFill/>
        </p:spPr>
        <p:txBody>
          <a:bodyPr wrap="square">
            <a:spAutoFit/>
          </a:bodyPr>
          <a:lstStyle/>
          <a:p>
            <a:r>
              <a:rPr lang="en-US" sz="2300" b="1" dirty="0"/>
              <a:t>Example:</a:t>
            </a:r>
            <a:endParaRPr lang="en-US" sz="2300" dirty="0"/>
          </a:p>
          <a:p>
            <a:r>
              <a:rPr lang="en-US" sz="2300" dirty="0"/>
              <a:t>A bank introduces a </a:t>
            </a:r>
            <a:r>
              <a:rPr lang="en-US" sz="2300" b="1" dirty="0"/>
              <a:t>new digital banking system</a:t>
            </a:r>
            <a:r>
              <a:rPr lang="en-US" sz="2300" dirty="0"/>
              <a:t> for its employees. Previously, employees used an older system to manage customer accounts and transactions. Because the new system has different functions and workflows, employees need support before and after implementation.</a:t>
            </a:r>
          </a:p>
          <a:p>
            <a:r>
              <a:rPr lang="en-US" sz="2300" dirty="0"/>
              <a:t>For example, the bank provides </a:t>
            </a:r>
            <a:r>
              <a:rPr lang="en-US" sz="2300" b="1" dirty="0"/>
              <a:t>training workshops, video tutorials, user manuals, and hands-on practice sessions</a:t>
            </a:r>
            <a:r>
              <a:rPr lang="en-US" sz="2300" dirty="0"/>
              <a:t>. At the same time, managers explain why the new system is being introduced, communicate its benefits, collect employee feedback, and provide technical support during the transition.</a:t>
            </a:r>
          </a:p>
          <a:p>
            <a:r>
              <a:rPr lang="en-US" sz="2300" dirty="0"/>
              <a:t>User training and change management include:</a:t>
            </a:r>
          </a:p>
          <a:p>
            <a:pPr>
              <a:buFont typeface="Arial" panose="020B0604020202020204" pitchFamily="34" charset="0"/>
              <a:buChar char="•"/>
            </a:pPr>
            <a:r>
              <a:rPr lang="en-US" sz="2300" b="1" dirty="0"/>
              <a:t>Training programs</a:t>
            </a:r>
            <a:r>
              <a:rPr lang="en-US" sz="2300" dirty="0"/>
              <a:t> — teaching users how to operate the new system. </a:t>
            </a:r>
          </a:p>
          <a:p>
            <a:pPr>
              <a:buFont typeface="Arial" panose="020B0604020202020204" pitchFamily="34" charset="0"/>
              <a:buChar char="•"/>
            </a:pPr>
            <a:r>
              <a:rPr lang="en-US" sz="2300" b="1" dirty="0"/>
              <a:t>Communication</a:t>
            </a:r>
            <a:r>
              <a:rPr lang="en-US" sz="2300" dirty="0"/>
              <a:t> — explaining the purpose, benefits, and impact of the change. </a:t>
            </a:r>
          </a:p>
          <a:p>
            <a:pPr>
              <a:buFont typeface="Arial" panose="020B0604020202020204" pitchFamily="34" charset="0"/>
              <a:buChar char="•"/>
            </a:pPr>
            <a:r>
              <a:rPr lang="en-US" sz="2300" b="1" dirty="0"/>
              <a:t>User manuals and tutorials</a:t>
            </a:r>
            <a:r>
              <a:rPr lang="en-US" sz="2300" dirty="0"/>
              <a:t> — providing learning materials and guidance. </a:t>
            </a:r>
          </a:p>
          <a:p>
            <a:pPr>
              <a:buFont typeface="Arial" panose="020B0604020202020204" pitchFamily="34" charset="0"/>
              <a:buChar char="•"/>
            </a:pPr>
            <a:r>
              <a:rPr lang="en-US" sz="2300" b="1" dirty="0"/>
              <a:t>Stakeholder engagement</a:t>
            </a:r>
            <a:r>
              <a:rPr lang="en-US" sz="2300" dirty="0"/>
              <a:t> — involving users and managers in the change process. </a:t>
            </a:r>
          </a:p>
          <a:p>
            <a:pPr>
              <a:buFont typeface="Arial" panose="020B0604020202020204" pitchFamily="34" charset="0"/>
              <a:buChar char="•"/>
            </a:pPr>
            <a:r>
              <a:rPr lang="en-US" sz="2300" b="1" dirty="0"/>
              <a:t>Feedback collection</a:t>
            </a:r>
            <a:r>
              <a:rPr lang="en-US" sz="2300" dirty="0"/>
              <a:t> — identifying user concerns and difficulties. </a:t>
            </a:r>
          </a:p>
          <a:p>
            <a:pPr>
              <a:buFont typeface="Arial" panose="020B0604020202020204" pitchFamily="34" charset="0"/>
              <a:buChar char="•"/>
            </a:pPr>
            <a:r>
              <a:rPr lang="en-US" sz="2300" b="1" dirty="0"/>
              <a:t>Resistance management</a:t>
            </a:r>
            <a:r>
              <a:rPr lang="en-US" sz="2300" dirty="0"/>
              <a:t> — addressing concerns about adopting new technology. </a:t>
            </a:r>
          </a:p>
          <a:p>
            <a:pPr>
              <a:buFont typeface="Arial" panose="020B0604020202020204" pitchFamily="34" charset="0"/>
              <a:buChar char="•"/>
            </a:pPr>
            <a:r>
              <a:rPr lang="en-US" sz="2300" b="1" dirty="0"/>
              <a:t>Ongoing support</a:t>
            </a:r>
            <a:r>
              <a:rPr lang="en-US" sz="2300" dirty="0"/>
              <a:t> — helping users after the system is launched.</a:t>
            </a:r>
          </a:p>
        </p:txBody>
      </p:sp>
    </p:spTree>
    <p:extLst>
      <p:ext uri="{BB962C8B-B14F-4D97-AF65-F5344CB8AC3E}">
        <p14:creationId xmlns:p14="http://schemas.microsoft.com/office/powerpoint/2010/main" val="38734193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8EBAED-DE00-46A8-8ADD-A8FE61FAF3DA}"/>
              </a:ext>
            </a:extLst>
          </p:cNvPr>
          <p:cNvSpPr txBox="1"/>
          <p:nvPr/>
        </p:nvSpPr>
        <p:spPr>
          <a:xfrm>
            <a:off x="3046810" y="3167390"/>
            <a:ext cx="6093618" cy="523220"/>
          </a:xfrm>
          <a:prstGeom prst="rect">
            <a:avLst/>
          </a:prstGeom>
          <a:noFill/>
        </p:spPr>
        <p:txBody>
          <a:bodyPr wrap="square">
            <a:spAutoFit/>
          </a:bodyPr>
          <a:lstStyle/>
          <a:p>
            <a:pPr algn="ctr"/>
            <a:r>
              <a:rPr lang="en-US" sz="2800" dirty="0"/>
              <a:t>Thanks</a:t>
            </a:r>
          </a:p>
        </p:txBody>
      </p:sp>
    </p:spTree>
    <p:extLst>
      <p:ext uri="{BB962C8B-B14F-4D97-AF65-F5344CB8AC3E}">
        <p14:creationId xmlns:p14="http://schemas.microsoft.com/office/powerpoint/2010/main" val="75001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TotalTime>
  <Words>2783</Words>
  <Application>Microsoft Office PowerPoint</Application>
  <PresentationFormat>Widescreen</PresentationFormat>
  <Paragraphs>164</Paragraphs>
  <Slides>51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Calibri Light</vt:lpstr>
      <vt:lpstr>Google Sans</vt:lpstr>
      <vt:lpstr>TH SarabunPSK</vt:lpstr>
      <vt:lpstr>Office Theme</vt:lpstr>
      <vt:lpstr>Chapter 11 Implementation and deployment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Core AI technologies fueling transformation</dc:title>
  <dc:creator>Adtha Lawanna</dc:creator>
  <cp:lastModifiedBy>THACHA LAWANNA</cp:lastModifiedBy>
  <cp:revision>44</cp:revision>
  <dcterms:created xsi:type="dcterms:W3CDTF">2025-11-15T02:26:25Z</dcterms:created>
  <dcterms:modified xsi:type="dcterms:W3CDTF">2026-09-24T03:50:48Z</dcterms:modified>
</cp:coreProperties>
</file>