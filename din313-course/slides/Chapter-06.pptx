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7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52" autoAdjust="0"/>
    <p:restoredTop sz="94660"/>
  </p:normalViewPr>
  <p:slideViewPr>
    <p:cSldViewPr snapToGrid="0">
      <p:cViewPr varScale="1">
        <p:scale>
          <a:sx n="63" d="100"/>
          <a:sy n="63" d="100"/>
        </p:scale>
        <p:origin x="6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03/08/69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6 </a:t>
            </a:r>
            <a:r>
              <a:rPr lang="en-US" sz="8000" b="1" dirty="0">
                <a:effectLst/>
                <a:latin typeface="TH SarabunPSK" panose="020B0500040200020003" pitchFamily="34" charset="-34"/>
                <a:ea typeface="Calibri" panose="020F0502020204030204" pitchFamily="34" charset="0"/>
              </a:rPr>
              <a:t>Ideation and Brainstorming</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5A01-AF0D-596A-FC0D-119D52CBAFAA}"/>
              </a:ext>
            </a:extLst>
          </p:cNvPr>
          <p:cNvSpPr>
            <a:spLocks noGrp="1"/>
          </p:cNvSpPr>
          <p:nvPr>
            <p:ph type="title"/>
          </p:nvPr>
        </p:nvSpPr>
        <p:spPr>
          <a:xfrm>
            <a:off x="838200" y="365125"/>
            <a:ext cx="10515600" cy="5212715"/>
          </a:xfrm>
        </p:spPr>
        <p:txBody>
          <a:bodyPr>
            <a:normAutofit fontScale="90000"/>
          </a:bodyPr>
          <a:lstStyle/>
          <a:p>
            <a:r>
              <a:rPr lang="en-US" dirty="0"/>
              <a:t>Processes of Design Thinking:</a:t>
            </a:r>
            <a:br>
              <a:rPr lang="en-US" dirty="0"/>
            </a:br>
            <a:r>
              <a:rPr lang="en-US" dirty="0">
                <a:solidFill>
                  <a:srgbClr val="FF0000"/>
                </a:solidFill>
              </a:rPr>
              <a:t>process 1: Empathize&gt;&gt;&gt;</a:t>
            </a:r>
            <a:r>
              <a:rPr lang="en-US" dirty="0" err="1">
                <a:solidFill>
                  <a:srgbClr val="FF0000"/>
                </a:solidFill>
              </a:rPr>
              <a:t>Talk&amp;Ask</a:t>
            </a:r>
            <a:br>
              <a:rPr lang="en-US" dirty="0">
                <a:solidFill>
                  <a:srgbClr val="FF0000"/>
                </a:solidFill>
              </a:rPr>
            </a:br>
            <a:r>
              <a:rPr lang="en-US" dirty="0">
                <a:solidFill>
                  <a:srgbClr val="FF0000"/>
                </a:solidFill>
              </a:rPr>
              <a:t>process 2: Define&gt;&gt;&gt; Find what are problems</a:t>
            </a:r>
            <a:br>
              <a:rPr lang="en-US" dirty="0">
                <a:solidFill>
                  <a:srgbClr val="FF0000"/>
                </a:solidFill>
              </a:rPr>
            </a:br>
            <a:r>
              <a:rPr lang="en-US" dirty="0">
                <a:solidFill>
                  <a:srgbClr val="FF0000"/>
                </a:solidFill>
              </a:rPr>
              <a:t>process 3: Ideation&gt;&gt; Find what are solutions</a:t>
            </a:r>
            <a:br>
              <a:rPr lang="en-US" dirty="0">
                <a:solidFill>
                  <a:srgbClr val="FF0000"/>
                </a:solidFill>
              </a:rPr>
            </a:br>
            <a:r>
              <a:rPr lang="en-US" dirty="0">
                <a:solidFill>
                  <a:srgbClr val="FF0000"/>
                </a:solidFill>
              </a:rPr>
              <a:t>process 4: Prototype&gt;&gt;&gt; Show your idea in paper/ppt/platform: draw diagram!</a:t>
            </a:r>
            <a:br>
              <a:rPr lang="en-US" dirty="0"/>
            </a:br>
            <a:r>
              <a:rPr lang="en-US" dirty="0"/>
              <a:t>Process 5: Test</a:t>
            </a:r>
            <a:br>
              <a:rPr lang="en-US" dirty="0"/>
            </a:br>
            <a:br>
              <a:rPr lang="en-US" dirty="0"/>
            </a:br>
            <a:endParaRPr lang="th-TH" dirty="0"/>
          </a:p>
        </p:txBody>
      </p:sp>
    </p:spTree>
    <p:extLst>
      <p:ext uri="{BB962C8B-B14F-4D97-AF65-F5344CB8AC3E}">
        <p14:creationId xmlns:p14="http://schemas.microsoft.com/office/powerpoint/2010/main" val="3156474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examine and evaluate structured ideation and brainstorming techniques that enhance creative problem-solving, enable the generation of diverse innovative ideas, and support effective decision-making in digital innovation contexts.</a:t>
            </a:r>
          </a:p>
        </p:txBody>
      </p:sp>
    </p:spTree>
    <p:extLst>
      <p:ext uri="{BB962C8B-B14F-4D97-AF65-F5344CB8AC3E}">
        <p14:creationId xmlns:p14="http://schemas.microsoft.com/office/powerpoint/2010/main" val="17310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380825" y="283812"/>
            <a:ext cx="4775375" cy="5478423"/>
          </a:xfrm>
          <a:prstGeom prst="rect">
            <a:avLst/>
          </a:prstGeom>
          <a:noFill/>
        </p:spPr>
        <p:txBody>
          <a:bodyPr wrap="square">
            <a:spAutoFit/>
          </a:bodyPr>
          <a:lstStyle/>
          <a:p>
            <a:pPr algn="just"/>
            <a:r>
              <a:rPr lang="en-US" sz="2500" b="1" dirty="0"/>
              <a:t>1. Divergent Thinking in Innovation</a:t>
            </a:r>
          </a:p>
          <a:p>
            <a:pPr algn="just"/>
            <a:r>
              <a:rPr lang="en-US" sz="2500" dirty="0"/>
              <a:t>Divergent thinking expands the range of possible solutions by encouraging participants to explore unconventional, creative, and wide-ranging ideas. It supports open-ended exploration without early judgment, allowing individuals and teams to push beyond traditional boundaries. This mindset is essential for generating fresh concepts before moving into evaluation or refinement stages.</a:t>
            </a:r>
          </a:p>
        </p:txBody>
      </p:sp>
      <p:pic>
        <p:nvPicPr>
          <p:cNvPr id="2" name="Picture 1">
            <a:extLst>
              <a:ext uri="{FF2B5EF4-FFF2-40B4-BE49-F238E27FC236}">
                <a16:creationId xmlns:a16="http://schemas.microsoft.com/office/drawing/2014/main" id="{0102FDDB-D460-0660-266E-3120683AA52A}"/>
              </a:ext>
            </a:extLst>
          </p:cNvPr>
          <p:cNvPicPr>
            <a:picLocks noChangeAspect="1"/>
          </p:cNvPicPr>
          <p:nvPr/>
        </p:nvPicPr>
        <p:blipFill>
          <a:blip r:embed="rId2"/>
          <a:stretch>
            <a:fillRect/>
          </a:stretch>
        </p:blipFill>
        <p:spPr>
          <a:xfrm>
            <a:off x="5683768" y="283812"/>
            <a:ext cx="6289647" cy="4491388"/>
          </a:xfrm>
          <a:prstGeom prst="rect">
            <a:avLst/>
          </a:prstGeom>
        </p:spPr>
      </p:pic>
    </p:spTree>
    <p:extLst>
      <p:ext uri="{BB962C8B-B14F-4D97-AF65-F5344CB8AC3E}">
        <p14:creationId xmlns:p14="http://schemas.microsoft.com/office/powerpoint/2010/main" val="3712602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20291" y="377497"/>
            <a:ext cx="4710509" cy="5093702"/>
          </a:xfrm>
          <a:prstGeom prst="rect">
            <a:avLst/>
          </a:prstGeom>
          <a:noFill/>
        </p:spPr>
        <p:txBody>
          <a:bodyPr wrap="square">
            <a:spAutoFit/>
          </a:bodyPr>
          <a:lstStyle/>
          <a:p>
            <a:pPr algn="just"/>
            <a:r>
              <a:rPr lang="en-US" sz="2500" b="1" dirty="0"/>
              <a:t>2. Convergent Thinking for Idea Selection</a:t>
            </a:r>
          </a:p>
          <a:p>
            <a:pPr algn="just"/>
            <a:r>
              <a:rPr lang="en-US" sz="2500" dirty="0"/>
              <a:t>Convergent thinking narrows broad ideas into focused, practical solutions. After brainstorming, this stage helps evaluate ideas based on criteria such as feasibility, value, and alignment with goals. It ensures that creativity is balanced with structured decision-making, enabling teams to choose the most effective concepts for development and implementation.</a:t>
            </a:r>
          </a:p>
        </p:txBody>
      </p:sp>
      <p:pic>
        <p:nvPicPr>
          <p:cNvPr id="2" name="Picture 1">
            <a:extLst>
              <a:ext uri="{FF2B5EF4-FFF2-40B4-BE49-F238E27FC236}">
                <a16:creationId xmlns:a16="http://schemas.microsoft.com/office/drawing/2014/main" id="{14147ACE-EC7D-5AFD-F795-48E8A71EEE83}"/>
              </a:ext>
            </a:extLst>
          </p:cNvPr>
          <p:cNvPicPr>
            <a:picLocks noChangeAspect="1"/>
          </p:cNvPicPr>
          <p:nvPr/>
        </p:nvPicPr>
        <p:blipFill>
          <a:blip r:embed="rId2"/>
          <a:stretch>
            <a:fillRect/>
          </a:stretch>
        </p:blipFill>
        <p:spPr>
          <a:xfrm>
            <a:off x="5266358" y="248902"/>
            <a:ext cx="6925642" cy="4810796"/>
          </a:xfrm>
          <a:prstGeom prst="rect">
            <a:avLst/>
          </a:prstGeom>
        </p:spPr>
      </p:pic>
    </p:spTree>
    <p:extLst>
      <p:ext uri="{BB962C8B-B14F-4D97-AF65-F5344CB8AC3E}">
        <p14:creationId xmlns:p14="http://schemas.microsoft.com/office/powerpoint/2010/main" val="54594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367110" y="327154"/>
            <a:ext cx="6093618" cy="3785652"/>
          </a:xfrm>
          <a:prstGeom prst="rect">
            <a:avLst/>
          </a:prstGeom>
          <a:noFill/>
        </p:spPr>
        <p:txBody>
          <a:bodyPr wrap="square">
            <a:spAutoFit/>
          </a:bodyPr>
          <a:lstStyle/>
          <a:p>
            <a:pPr algn="just"/>
            <a:r>
              <a:rPr lang="en-US" sz="2400" b="1" dirty="0"/>
              <a:t>3. Brainstorming Rules and Group Dynamics</a:t>
            </a:r>
          </a:p>
          <a:p>
            <a:pPr algn="just"/>
            <a:r>
              <a:rPr lang="en-US" sz="2400" dirty="0"/>
              <a:t>Effective brainstorming relies on clear guidelines: withholding criticism, welcoming unusual ideas, building on others’ suggestions, and aiming for quantity. Supportive group dynamics—trust, openness, and equal participation—encourage idea sharing. Following these principles maximizes creativity while reducing fear of judgment or dominance by stronger voices.</a:t>
            </a:r>
          </a:p>
        </p:txBody>
      </p:sp>
      <p:pic>
        <p:nvPicPr>
          <p:cNvPr id="2" name="Picture 1">
            <a:extLst>
              <a:ext uri="{FF2B5EF4-FFF2-40B4-BE49-F238E27FC236}">
                <a16:creationId xmlns:a16="http://schemas.microsoft.com/office/drawing/2014/main" id="{03830585-1BA5-7EFE-9E78-F5629C9D7C54}"/>
              </a:ext>
            </a:extLst>
          </p:cNvPr>
          <p:cNvPicPr>
            <a:picLocks noChangeAspect="1"/>
          </p:cNvPicPr>
          <p:nvPr/>
        </p:nvPicPr>
        <p:blipFill>
          <a:blip r:embed="rId2"/>
          <a:stretch>
            <a:fillRect/>
          </a:stretch>
        </p:blipFill>
        <p:spPr>
          <a:xfrm>
            <a:off x="7156989" y="327154"/>
            <a:ext cx="4667901" cy="4858428"/>
          </a:xfrm>
          <a:prstGeom prst="rect">
            <a:avLst/>
          </a:prstGeom>
        </p:spPr>
      </p:pic>
      <p:sp>
        <p:nvSpPr>
          <p:cNvPr id="5" name="TextBox 4">
            <a:extLst>
              <a:ext uri="{FF2B5EF4-FFF2-40B4-BE49-F238E27FC236}">
                <a16:creationId xmlns:a16="http://schemas.microsoft.com/office/drawing/2014/main" id="{0F2D897E-E6BB-F253-BA85-C5EF475BAEE6}"/>
              </a:ext>
            </a:extLst>
          </p:cNvPr>
          <p:cNvSpPr txBox="1"/>
          <p:nvPr/>
        </p:nvSpPr>
        <p:spPr>
          <a:xfrm>
            <a:off x="203200" y="4805680"/>
            <a:ext cx="4988560" cy="523220"/>
          </a:xfrm>
          <a:prstGeom prst="rect">
            <a:avLst/>
          </a:prstGeom>
          <a:noFill/>
          <a:ln>
            <a:solidFill>
              <a:schemeClr val="tx1"/>
            </a:solidFill>
          </a:ln>
        </p:spPr>
        <p:txBody>
          <a:bodyPr wrap="square" rtlCol="0">
            <a:spAutoFit/>
          </a:bodyPr>
          <a:lstStyle/>
          <a:p>
            <a:r>
              <a:rPr lang="en-US" dirty="0"/>
              <a:t>Empathize Aj. </a:t>
            </a:r>
            <a:r>
              <a:rPr lang="en-US" dirty="0" err="1"/>
              <a:t>Thacha</a:t>
            </a:r>
            <a:r>
              <a:rPr lang="en-US" dirty="0"/>
              <a:t>&gt;&gt; hiking</a:t>
            </a:r>
            <a:endParaRPr lang="th-TH" dirty="0"/>
          </a:p>
        </p:txBody>
      </p:sp>
      <p:sp>
        <p:nvSpPr>
          <p:cNvPr id="7" name="TextBox 6">
            <a:extLst>
              <a:ext uri="{FF2B5EF4-FFF2-40B4-BE49-F238E27FC236}">
                <a16:creationId xmlns:a16="http://schemas.microsoft.com/office/drawing/2014/main" id="{21B59BAF-2437-BCF3-D996-0F87EDE2F3C6}"/>
              </a:ext>
            </a:extLst>
          </p:cNvPr>
          <p:cNvSpPr txBox="1"/>
          <p:nvPr/>
        </p:nvSpPr>
        <p:spPr>
          <a:xfrm>
            <a:off x="203200" y="5498554"/>
            <a:ext cx="8006080" cy="523220"/>
          </a:xfrm>
          <a:prstGeom prst="rect">
            <a:avLst/>
          </a:prstGeom>
          <a:noFill/>
          <a:ln>
            <a:solidFill>
              <a:schemeClr val="tx1"/>
            </a:solidFill>
          </a:ln>
        </p:spPr>
        <p:txBody>
          <a:bodyPr wrap="square" rtlCol="0">
            <a:spAutoFit/>
          </a:bodyPr>
          <a:lstStyle/>
          <a:p>
            <a:r>
              <a:rPr lang="en-US" dirty="0"/>
              <a:t>Define Aj. </a:t>
            </a:r>
            <a:r>
              <a:rPr lang="en-US" dirty="0" err="1"/>
              <a:t>Thacha</a:t>
            </a:r>
            <a:r>
              <a:rPr lang="en-US" dirty="0"/>
              <a:t>&gt;&gt; problem: knee /puke </a:t>
            </a:r>
            <a:endParaRPr lang="th-TH" dirty="0"/>
          </a:p>
        </p:txBody>
      </p:sp>
      <p:sp>
        <p:nvSpPr>
          <p:cNvPr id="9" name="TextBox 8">
            <a:extLst>
              <a:ext uri="{FF2B5EF4-FFF2-40B4-BE49-F238E27FC236}">
                <a16:creationId xmlns:a16="http://schemas.microsoft.com/office/drawing/2014/main" id="{805F245E-9799-FD02-AEB0-F912C181ED56}"/>
              </a:ext>
            </a:extLst>
          </p:cNvPr>
          <p:cNvSpPr txBox="1"/>
          <p:nvPr/>
        </p:nvSpPr>
        <p:spPr>
          <a:xfrm>
            <a:off x="203200" y="6073136"/>
            <a:ext cx="8006080" cy="523220"/>
          </a:xfrm>
          <a:prstGeom prst="rect">
            <a:avLst/>
          </a:prstGeom>
          <a:noFill/>
          <a:ln>
            <a:solidFill>
              <a:schemeClr val="tx1"/>
            </a:solidFill>
          </a:ln>
        </p:spPr>
        <p:txBody>
          <a:bodyPr wrap="square" rtlCol="0">
            <a:spAutoFit/>
          </a:bodyPr>
          <a:lstStyle/>
          <a:p>
            <a:r>
              <a:rPr lang="en-US" dirty="0"/>
              <a:t>Ideation&gt;&gt; brainstorming (find solution)</a:t>
            </a:r>
            <a:endParaRPr lang="th-TH" dirty="0"/>
          </a:p>
        </p:txBody>
      </p:sp>
    </p:spTree>
    <p:extLst>
      <p:ext uri="{BB962C8B-B14F-4D97-AF65-F5344CB8AC3E}">
        <p14:creationId xmlns:p14="http://schemas.microsoft.com/office/powerpoint/2010/main" val="234209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9BD727-46CC-7981-50F9-27B5C044FC83}"/>
              </a:ext>
            </a:extLst>
          </p:cNvPr>
          <p:cNvSpPr txBox="1"/>
          <p:nvPr/>
        </p:nvSpPr>
        <p:spPr>
          <a:xfrm>
            <a:off x="406400" y="373376"/>
            <a:ext cx="8006080" cy="523220"/>
          </a:xfrm>
          <a:prstGeom prst="rect">
            <a:avLst/>
          </a:prstGeom>
          <a:noFill/>
          <a:ln>
            <a:solidFill>
              <a:schemeClr val="tx1"/>
            </a:solidFill>
          </a:ln>
        </p:spPr>
        <p:txBody>
          <a:bodyPr wrap="square" rtlCol="0">
            <a:spAutoFit/>
          </a:bodyPr>
          <a:lstStyle/>
          <a:p>
            <a:r>
              <a:rPr lang="en-US" dirty="0"/>
              <a:t>Process 3:Ideation&gt;&gt; brainstorming (find solutions)</a:t>
            </a:r>
            <a:endParaRPr lang="th-TH" dirty="0"/>
          </a:p>
        </p:txBody>
      </p:sp>
      <p:sp>
        <p:nvSpPr>
          <p:cNvPr id="5" name="TextBox 4">
            <a:extLst>
              <a:ext uri="{FF2B5EF4-FFF2-40B4-BE49-F238E27FC236}">
                <a16:creationId xmlns:a16="http://schemas.microsoft.com/office/drawing/2014/main" id="{94931963-24DA-5285-527E-2D8B3B764191}"/>
              </a:ext>
            </a:extLst>
          </p:cNvPr>
          <p:cNvSpPr txBox="1"/>
          <p:nvPr/>
        </p:nvSpPr>
        <p:spPr>
          <a:xfrm>
            <a:off x="406400" y="1308096"/>
            <a:ext cx="3302000" cy="954107"/>
          </a:xfrm>
          <a:prstGeom prst="rect">
            <a:avLst/>
          </a:prstGeom>
          <a:noFill/>
          <a:ln>
            <a:solidFill>
              <a:schemeClr val="tx1"/>
            </a:solidFill>
          </a:ln>
        </p:spPr>
        <p:txBody>
          <a:bodyPr wrap="square" rtlCol="0">
            <a:spAutoFit/>
          </a:bodyPr>
          <a:lstStyle/>
          <a:p>
            <a:r>
              <a:rPr lang="en-US" dirty="0"/>
              <a:t>Numbers of solution</a:t>
            </a:r>
          </a:p>
          <a:p>
            <a:r>
              <a:rPr lang="en-US" dirty="0"/>
              <a:t>30-100 solutions</a:t>
            </a:r>
            <a:endParaRPr lang="th-TH" dirty="0"/>
          </a:p>
        </p:txBody>
      </p:sp>
      <p:sp>
        <p:nvSpPr>
          <p:cNvPr id="7" name="TextBox 6">
            <a:extLst>
              <a:ext uri="{FF2B5EF4-FFF2-40B4-BE49-F238E27FC236}">
                <a16:creationId xmlns:a16="http://schemas.microsoft.com/office/drawing/2014/main" id="{54B54351-E01F-E126-1E2E-9FA67789B707}"/>
              </a:ext>
            </a:extLst>
          </p:cNvPr>
          <p:cNvSpPr txBox="1"/>
          <p:nvPr/>
        </p:nvSpPr>
        <p:spPr>
          <a:xfrm>
            <a:off x="6096000" y="1308096"/>
            <a:ext cx="4805680" cy="523220"/>
          </a:xfrm>
          <a:prstGeom prst="rect">
            <a:avLst/>
          </a:prstGeom>
          <a:noFill/>
          <a:ln>
            <a:solidFill>
              <a:schemeClr val="tx1"/>
            </a:solidFill>
          </a:ln>
        </p:spPr>
        <p:txBody>
          <a:bodyPr wrap="square" rtlCol="0">
            <a:spAutoFit/>
          </a:bodyPr>
          <a:lstStyle/>
          <a:p>
            <a:r>
              <a:rPr lang="en-US" dirty="0"/>
              <a:t>Few numbers of solutions</a:t>
            </a:r>
            <a:endParaRPr lang="th-TH" dirty="0"/>
          </a:p>
        </p:txBody>
      </p:sp>
      <p:sp>
        <p:nvSpPr>
          <p:cNvPr id="8" name="Oval 7">
            <a:extLst>
              <a:ext uri="{FF2B5EF4-FFF2-40B4-BE49-F238E27FC236}">
                <a16:creationId xmlns:a16="http://schemas.microsoft.com/office/drawing/2014/main" id="{7BEBC270-F25F-25F4-C915-3BE7AEDB7F4A}"/>
              </a:ext>
            </a:extLst>
          </p:cNvPr>
          <p:cNvSpPr/>
          <p:nvPr/>
        </p:nvSpPr>
        <p:spPr>
          <a:xfrm>
            <a:off x="4185920" y="1308096"/>
            <a:ext cx="1503680" cy="8356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vote</a:t>
            </a:r>
            <a:endParaRPr lang="th-TH" dirty="0"/>
          </a:p>
        </p:txBody>
      </p:sp>
      <p:sp>
        <p:nvSpPr>
          <p:cNvPr id="10" name="TextBox 9">
            <a:extLst>
              <a:ext uri="{FF2B5EF4-FFF2-40B4-BE49-F238E27FC236}">
                <a16:creationId xmlns:a16="http://schemas.microsoft.com/office/drawing/2014/main" id="{25D4D02F-2E7B-D7A3-F9F3-3F9A5AA4C8DB}"/>
              </a:ext>
            </a:extLst>
          </p:cNvPr>
          <p:cNvSpPr txBox="1"/>
          <p:nvPr/>
        </p:nvSpPr>
        <p:spPr>
          <a:xfrm>
            <a:off x="6080762" y="1981206"/>
            <a:ext cx="4805680" cy="523220"/>
          </a:xfrm>
          <a:prstGeom prst="rect">
            <a:avLst/>
          </a:prstGeom>
          <a:noFill/>
          <a:ln>
            <a:solidFill>
              <a:schemeClr val="tx1"/>
            </a:solidFill>
          </a:ln>
        </p:spPr>
        <p:txBody>
          <a:bodyPr wrap="square" rtlCol="0">
            <a:spAutoFit/>
          </a:bodyPr>
          <a:lstStyle/>
          <a:p>
            <a:r>
              <a:rPr lang="en-US" dirty="0"/>
              <a:t>First group &gt;&gt;1 solution</a:t>
            </a:r>
            <a:endParaRPr lang="th-TH" dirty="0"/>
          </a:p>
        </p:txBody>
      </p:sp>
      <p:sp>
        <p:nvSpPr>
          <p:cNvPr id="12" name="TextBox 11">
            <a:extLst>
              <a:ext uri="{FF2B5EF4-FFF2-40B4-BE49-F238E27FC236}">
                <a16:creationId xmlns:a16="http://schemas.microsoft.com/office/drawing/2014/main" id="{ADD5DDD0-B6B0-55BA-1796-5D3F380D4CDF}"/>
              </a:ext>
            </a:extLst>
          </p:cNvPr>
          <p:cNvSpPr txBox="1"/>
          <p:nvPr/>
        </p:nvSpPr>
        <p:spPr>
          <a:xfrm>
            <a:off x="6096000" y="2748266"/>
            <a:ext cx="4805680" cy="523220"/>
          </a:xfrm>
          <a:prstGeom prst="rect">
            <a:avLst/>
          </a:prstGeom>
          <a:noFill/>
          <a:ln>
            <a:solidFill>
              <a:schemeClr val="tx1"/>
            </a:solidFill>
          </a:ln>
        </p:spPr>
        <p:txBody>
          <a:bodyPr wrap="square" rtlCol="0">
            <a:spAutoFit/>
          </a:bodyPr>
          <a:lstStyle/>
          <a:p>
            <a:r>
              <a:rPr lang="en-US" dirty="0"/>
              <a:t>Second group &gt;&gt; 3 solutions</a:t>
            </a:r>
            <a:endParaRPr lang="th-TH" dirty="0"/>
          </a:p>
        </p:txBody>
      </p:sp>
      <p:sp>
        <p:nvSpPr>
          <p:cNvPr id="13" name="Rectangle: Rounded Corners 12">
            <a:extLst>
              <a:ext uri="{FF2B5EF4-FFF2-40B4-BE49-F238E27FC236}">
                <a16:creationId xmlns:a16="http://schemas.microsoft.com/office/drawing/2014/main" id="{E063E581-90F9-BC89-F48A-2383E584BE7B}"/>
              </a:ext>
            </a:extLst>
          </p:cNvPr>
          <p:cNvSpPr/>
          <p:nvPr/>
        </p:nvSpPr>
        <p:spPr>
          <a:xfrm>
            <a:off x="508000" y="2661920"/>
            <a:ext cx="3413760" cy="3393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List of solutions</a:t>
            </a:r>
            <a:endParaRPr lang="th-TH" dirty="0"/>
          </a:p>
        </p:txBody>
      </p:sp>
      <p:sp>
        <p:nvSpPr>
          <p:cNvPr id="17" name="Rectangle: Rounded Corners 16">
            <a:extLst>
              <a:ext uri="{FF2B5EF4-FFF2-40B4-BE49-F238E27FC236}">
                <a16:creationId xmlns:a16="http://schemas.microsoft.com/office/drawing/2014/main" id="{F3097B93-4B7D-8A92-08B7-450835248AE9}"/>
              </a:ext>
            </a:extLst>
          </p:cNvPr>
          <p:cNvSpPr/>
          <p:nvPr/>
        </p:nvSpPr>
        <p:spPr>
          <a:xfrm>
            <a:off x="7086602" y="3586515"/>
            <a:ext cx="2230118" cy="23469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Answer?</a:t>
            </a:r>
            <a:endParaRPr lang="th-TH" dirty="0"/>
          </a:p>
        </p:txBody>
      </p:sp>
    </p:spTree>
    <p:extLst>
      <p:ext uri="{BB962C8B-B14F-4D97-AF65-F5344CB8AC3E}">
        <p14:creationId xmlns:p14="http://schemas.microsoft.com/office/powerpoint/2010/main" val="4214337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832092"/>
          </a:xfrm>
          <a:prstGeom prst="rect">
            <a:avLst/>
          </a:prstGeom>
          <a:noFill/>
        </p:spPr>
        <p:txBody>
          <a:bodyPr wrap="square">
            <a:spAutoFit/>
          </a:bodyPr>
          <a:lstStyle/>
          <a:p>
            <a:r>
              <a:rPr lang="en-US" b="1" dirty="0"/>
              <a:t>4. Mind Mapping for Idea Expansion</a:t>
            </a:r>
          </a:p>
          <a:p>
            <a:r>
              <a:rPr lang="en-US" dirty="0"/>
              <a:t>Mind mapping visually organizes ideas around a central theme. It helps teams identify connections, patterns, and sub-topics that may not emerge through linear thinking. This technique stimulates creativity by presenting concepts in a flexible structure, allowing participants to explore multiple angles and expand ideas into more detailed insights.</a:t>
            </a:r>
          </a:p>
        </p:txBody>
      </p:sp>
      <p:pic>
        <p:nvPicPr>
          <p:cNvPr id="1026" name="Picture 2" descr="Techniques for Idea Generation: Mind Maps">
            <a:extLst>
              <a:ext uri="{FF2B5EF4-FFF2-40B4-BE49-F238E27FC236}">
                <a16:creationId xmlns:a16="http://schemas.microsoft.com/office/drawing/2014/main" id="{93E4F783-3578-4578-E163-9680EE46F7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0192" y="384304"/>
            <a:ext cx="5203357" cy="4718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645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456010" y="352554"/>
            <a:ext cx="6093618" cy="5262979"/>
          </a:xfrm>
          <a:prstGeom prst="rect">
            <a:avLst/>
          </a:prstGeom>
          <a:noFill/>
        </p:spPr>
        <p:txBody>
          <a:bodyPr wrap="square">
            <a:spAutoFit/>
          </a:bodyPr>
          <a:lstStyle/>
          <a:p>
            <a:pPr algn="just"/>
            <a:r>
              <a:rPr lang="en-US" b="1" dirty="0"/>
              <a:t>5. SCAMPER Technique for Creative Adjustment</a:t>
            </a:r>
          </a:p>
          <a:p>
            <a:pPr algn="just"/>
            <a:r>
              <a:rPr lang="en-US" dirty="0"/>
              <a:t>SCAMPER (Substitute, Combine, Adapt, Modify, Put to another use, Eliminate, Reverse) is a structured method for shifting existing ideas into new variations. It encourages systematic creativity by questioning each element of a product or problem. This guided approach helps teams reimagine existing solutions and discover fresh opportunities for innovation.</a:t>
            </a:r>
          </a:p>
        </p:txBody>
      </p:sp>
      <p:pic>
        <p:nvPicPr>
          <p:cNvPr id="2" name="Picture 1">
            <a:extLst>
              <a:ext uri="{FF2B5EF4-FFF2-40B4-BE49-F238E27FC236}">
                <a16:creationId xmlns:a16="http://schemas.microsoft.com/office/drawing/2014/main" id="{EDE30477-13EF-E60B-0286-C53AAC1ED1B6}"/>
              </a:ext>
            </a:extLst>
          </p:cNvPr>
          <p:cNvPicPr>
            <a:picLocks noChangeAspect="1"/>
          </p:cNvPicPr>
          <p:nvPr/>
        </p:nvPicPr>
        <p:blipFill>
          <a:blip r:embed="rId2"/>
          <a:stretch>
            <a:fillRect/>
          </a:stretch>
        </p:blipFill>
        <p:spPr>
          <a:xfrm>
            <a:off x="7013281" y="352554"/>
            <a:ext cx="4210638" cy="5811061"/>
          </a:xfrm>
          <a:prstGeom prst="rect">
            <a:avLst/>
          </a:prstGeom>
        </p:spPr>
      </p:pic>
    </p:spTree>
    <p:extLst>
      <p:ext uri="{BB962C8B-B14F-4D97-AF65-F5344CB8AC3E}">
        <p14:creationId xmlns:p14="http://schemas.microsoft.com/office/powerpoint/2010/main" val="2901413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621110" y="441454"/>
            <a:ext cx="6093618" cy="5262979"/>
          </a:xfrm>
          <a:prstGeom prst="rect">
            <a:avLst/>
          </a:prstGeom>
          <a:noFill/>
        </p:spPr>
        <p:txBody>
          <a:bodyPr wrap="square">
            <a:spAutoFit/>
          </a:bodyPr>
          <a:lstStyle/>
          <a:p>
            <a:pPr algn="just"/>
            <a:r>
              <a:rPr lang="en-US" b="1" dirty="0"/>
              <a:t>6. Six Thinking Hats for Structured Ideation</a:t>
            </a:r>
          </a:p>
          <a:p>
            <a:pPr algn="just"/>
            <a:r>
              <a:rPr lang="en-US" dirty="0"/>
              <a:t>The Six Thinking Hats model organizes thinking into six perspectives—facts, emotions, caution, optimism, creativity, and control. By intentionally switching hats, teams explore issues holistically and avoid bias. This method enhances innovation by ensuring balanced viewpoints, structured dialogue, and deeper insights during collaborative ideation sessions.</a:t>
            </a:r>
          </a:p>
        </p:txBody>
      </p:sp>
      <p:pic>
        <p:nvPicPr>
          <p:cNvPr id="2050" name="Picture 2" descr="Six_Hats_Summary_card01">
            <a:extLst>
              <a:ext uri="{FF2B5EF4-FFF2-40B4-BE49-F238E27FC236}">
                <a16:creationId xmlns:a16="http://schemas.microsoft.com/office/drawing/2014/main" id="{5DF98A5F-8B8D-21FC-945A-884FC5599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4513" y="196850"/>
            <a:ext cx="3176587" cy="646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454422" y="555754"/>
            <a:ext cx="6093618" cy="4832092"/>
          </a:xfrm>
          <a:prstGeom prst="rect">
            <a:avLst/>
          </a:prstGeom>
          <a:noFill/>
        </p:spPr>
        <p:txBody>
          <a:bodyPr wrap="square">
            <a:spAutoFit/>
          </a:bodyPr>
          <a:lstStyle/>
          <a:p>
            <a:pPr algn="just"/>
            <a:r>
              <a:rPr lang="en-US" b="1" dirty="0"/>
              <a:t>7. Design Thinking Ideation Stage</a:t>
            </a:r>
          </a:p>
          <a:p>
            <a:pPr algn="just"/>
            <a:r>
              <a:rPr lang="en-US" dirty="0"/>
              <a:t>Design Thinking’s ideation phase focuses on generating human-centered solutions through empathy, creativity, and collaboration. Techniques such as rapid ideation, sketching, and brainstorming help generate diverse ideas. This approach encourages experimentation and prioritizes user needs, leading to meaningful, practical innovations that address real-world challenges.</a:t>
            </a:r>
          </a:p>
        </p:txBody>
      </p:sp>
      <p:pic>
        <p:nvPicPr>
          <p:cNvPr id="3074" name="Picture 2">
            <a:extLst>
              <a:ext uri="{FF2B5EF4-FFF2-40B4-BE49-F238E27FC236}">
                <a16:creationId xmlns:a16="http://schemas.microsoft.com/office/drawing/2014/main" id="{C8FBC0E6-A741-A90C-C247-EA865CB9A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088" y="798513"/>
            <a:ext cx="4673648" cy="2465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5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383450" y="289679"/>
            <a:ext cx="10690949" cy="2123658"/>
          </a:xfrm>
          <a:prstGeom prst="rect">
            <a:avLst/>
          </a:prstGeom>
          <a:noFill/>
        </p:spPr>
        <p:txBody>
          <a:bodyPr wrap="square">
            <a:spAutoFit/>
          </a:bodyPr>
          <a:lstStyle/>
          <a:p>
            <a:pPr algn="just"/>
            <a:r>
              <a:rPr lang="en-US" sz="2200" b="1" dirty="0"/>
              <a:t>8. Role-Storming for Perspective Shifting</a:t>
            </a:r>
          </a:p>
          <a:p>
            <a:pPr algn="just"/>
            <a:r>
              <a:rPr lang="en-US" sz="2200" dirty="0"/>
              <a:t>Role-storming involves </a:t>
            </a:r>
            <a:r>
              <a:rPr lang="en-US" sz="2200" u="sng" dirty="0"/>
              <a:t>adopting fictional or real characters’ viewpoints to generate ideas</a:t>
            </a:r>
            <a:r>
              <a:rPr lang="en-US" sz="2200" dirty="0"/>
              <a:t>. By stepping into another’s identity—such as a customer, expert, or competitor—participants break out of habitual thinking patterns. This technique encourages unconventional perspectives and fosters creativity by expanding how problems and opportunities are perceived.</a:t>
            </a:r>
          </a:p>
        </p:txBody>
      </p:sp>
      <p:pic>
        <p:nvPicPr>
          <p:cNvPr id="2" name="Picture 1">
            <a:extLst>
              <a:ext uri="{FF2B5EF4-FFF2-40B4-BE49-F238E27FC236}">
                <a16:creationId xmlns:a16="http://schemas.microsoft.com/office/drawing/2014/main" id="{5EA151F7-E8FD-D935-0AB0-67CE566DA3C1}"/>
              </a:ext>
            </a:extLst>
          </p:cNvPr>
          <p:cNvPicPr>
            <a:picLocks noChangeAspect="1"/>
          </p:cNvPicPr>
          <p:nvPr/>
        </p:nvPicPr>
        <p:blipFill>
          <a:blip r:embed="rId2"/>
          <a:stretch>
            <a:fillRect/>
          </a:stretch>
        </p:blipFill>
        <p:spPr>
          <a:xfrm>
            <a:off x="558800" y="2736866"/>
            <a:ext cx="10515599" cy="3357274"/>
          </a:xfrm>
          <a:prstGeom prst="rect">
            <a:avLst/>
          </a:prstGeom>
        </p:spPr>
      </p:pic>
    </p:spTree>
    <p:extLst>
      <p:ext uri="{BB962C8B-B14F-4D97-AF65-F5344CB8AC3E}">
        <p14:creationId xmlns:p14="http://schemas.microsoft.com/office/powerpoint/2010/main" val="412681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21890" y="581829"/>
            <a:ext cx="11251009" cy="2677656"/>
          </a:xfrm>
          <a:prstGeom prst="rect">
            <a:avLst/>
          </a:prstGeom>
          <a:noFill/>
        </p:spPr>
        <p:txBody>
          <a:bodyPr wrap="square">
            <a:spAutoFit/>
          </a:bodyPr>
          <a:lstStyle/>
          <a:p>
            <a:pPr algn="just"/>
            <a:r>
              <a:rPr lang="en-US" b="1" dirty="0"/>
              <a:t>9. Brainwriting for Quiet Idea Generation</a:t>
            </a:r>
          </a:p>
          <a:p>
            <a:pPr algn="just"/>
            <a:r>
              <a:rPr lang="en-US" dirty="0"/>
              <a:t>Brainwriting allows participants to </a:t>
            </a:r>
            <a:r>
              <a:rPr lang="en-US" u="sng" dirty="0"/>
              <a:t>write ideas individually before sharing them</a:t>
            </a:r>
            <a:r>
              <a:rPr lang="en-US" dirty="0"/>
              <a:t>. It reduces pressure from group conversations and prevents dominant voices from overshadowing others. This technique promotes equal contribution, encourages deeper reflection, and often leads to a richer variety of ideas compared to traditional verbal brainstorming.</a:t>
            </a:r>
          </a:p>
        </p:txBody>
      </p:sp>
      <p:pic>
        <p:nvPicPr>
          <p:cNvPr id="4098" name="Picture 2" descr="Step-by-step visual representation of the brainwriting process.">
            <a:extLst>
              <a:ext uri="{FF2B5EF4-FFF2-40B4-BE49-F238E27FC236}">
                <a16:creationId xmlns:a16="http://schemas.microsoft.com/office/drawing/2014/main" id="{91E7644C-CBF3-DF3E-88B8-8EEBC5B9F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1400" y="3259485"/>
            <a:ext cx="6502400" cy="3019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018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494110" y="377954"/>
            <a:ext cx="11456590" cy="2677656"/>
          </a:xfrm>
          <a:prstGeom prst="rect">
            <a:avLst/>
          </a:prstGeom>
          <a:noFill/>
        </p:spPr>
        <p:txBody>
          <a:bodyPr wrap="square">
            <a:spAutoFit/>
          </a:bodyPr>
          <a:lstStyle/>
          <a:p>
            <a:pPr algn="just"/>
            <a:r>
              <a:rPr lang="en-US" b="1" dirty="0"/>
              <a:t>10. Storyboarding to Visualize Ideas</a:t>
            </a:r>
          </a:p>
          <a:p>
            <a:pPr algn="just"/>
            <a:r>
              <a:rPr lang="en-US" dirty="0"/>
              <a:t>Storyboarding uses sequential images or sketches to illustrate an idea’s flow, user experience, or process. It transforms abstract concepts into visual narratives, helping teams understand interactions, identify gaps, and refine solutions. This technique strengthens communication and supports more concrete, actionable innovation planning.</a:t>
            </a:r>
          </a:p>
        </p:txBody>
      </p:sp>
      <p:pic>
        <p:nvPicPr>
          <p:cNvPr id="2" name="Picture 1">
            <a:extLst>
              <a:ext uri="{FF2B5EF4-FFF2-40B4-BE49-F238E27FC236}">
                <a16:creationId xmlns:a16="http://schemas.microsoft.com/office/drawing/2014/main" id="{99BB702B-8D9A-095B-533D-5CB51057C1C9}"/>
              </a:ext>
            </a:extLst>
          </p:cNvPr>
          <p:cNvPicPr>
            <a:picLocks noChangeAspect="1"/>
          </p:cNvPicPr>
          <p:nvPr/>
        </p:nvPicPr>
        <p:blipFill>
          <a:blip r:embed="rId2"/>
          <a:stretch>
            <a:fillRect/>
          </a:stretch>
        </p:blipFill>
        <p:spPr>
          <a:xfrm>
            <a:off x="647105" y="3144510"/>
            <a:ext cx="11150600" cy="2799018"/>
          </a:xfrm>
          <a:prstGeom prst="rect">
            <a:avLst/>
          </a:prstGeom>
        </p:spPr>
      </p:pic>
    </p:spTree>
    <p:extLst>
      <p:ext uri="{BB962C8B-B14F-4D97-AF65-F5344CB8AC3E}">
        <p14:creationId xmlns:p14="http://schemas.microsoft.com/office/powerpoint/2010/main" val="33619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8258D0-CD10-D4B9-848E-4B9075E1BE70}"/>
              </a:ext>
            </a:extLst>
          </p:cNvPr>
          <p:cNvSpPr txBox="1"/>
          <p:nvPr/>
        </p:nvSpPr>
        <p:spPr>
          <a:xfrm>
            <a:off x="406400" y="489972"/>
            <a:ext cx="11430000" cy="1815882"/>
          </a:xfrm>
          <a:prstGeom prst="rect">
            <a:avLst/>
          </a:prstGeom>
          <a:noFill/>
        </p:spPr>
        <p:txBody>
          <a:bodyPr wrap="square">
            <a:spAutoFit/>
          </a:bodyPr>
          <a:lstStyle/>
          <a:p>
            <a:pPr>
              <a:buNone/>
            </a:pPr>
            <a:r>
              <a:rPr lang="en-US" b="1" dirty="0"/>
              <a:t>Question:</a:t>
            </a:r>
            <a:br>
              <a:rPr lang="en-US" dirty="0"/>
            </a:br>
            <a:r>
              <a:rPr lang="en-US" dirty="0"/>
              <a:t>How do ideation and brainstorming techniques support the generation of innovative solutions, and why is encouraging diverse perspectives important during this stage?</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807</Words>
  <Application>Microsoft Office PowerPoint</Application>
  <PresentationFormat>Widescreen</PresentationFormat>
  <Paragraphs>38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TH SarabunPSK</vt:lpstr>
      <vt:lpstr>Office Theme</vt:lpstr>
      <vt:lpstr>Chapter 6 Ideation and Brainstorming</vt:lpstr>
      <vt:lpstr>Processes of Design Thinking: process 1: Empathize&gt;&gt;&gt;Talk&amp;Ask process 2: Define&gt;&gt;&gt; Find what are problems process 3: Ideation&gt;&gt; Find what are solutions process 4: Prototype&gt;&gt;&gt; Show your idea in paper/ppt/platform: draw diagram! Process 5: Test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AMORNRUT PUNCHAKHUN</cp:lastModifiedBy>
  <cp:revision>23</cp:revision>
  <dcterms:created xsi:type="dcterms:W3CDTF">2025-11-15T02:26:25Z</dcterms:created>
  <dcterms:modified xsi:type="dcterms:W3CDTF">2026-08-03T03:55:57Z</dcterms:modified>
</cp:coreProperties>
</file>