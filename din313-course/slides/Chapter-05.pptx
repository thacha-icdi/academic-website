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68" r:id="rId16"/>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87" autoAdjust="0"/>
    <p:restoredTop sz="94660"/>
  </p:normalViewPr>
  <p:slideViewPr>
    <p:cSldViewPr snapToGrid="0">
      <p:cViewPr varScale="1">
        <p:scale>
          <a:sx n="66" d="100"/>
          <a:sy n="66" d="100"/>
        </p:scale>
        <p:origin x="5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10/02/69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10/02/69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5 </a:t>
            </a:r>
            <a:r>
              <a:rPr lang="en-US" sz="8000" b="1" dirty="0">
                <a:effectLst/>
                <a:latin typeface="TH SarabunPSK" panose="020B0500040200020003" pitchFamily="34" charset="-34"/>
                <a:ea typeface="Calibri" panose="020F0502020204030204" pitchFamily="34" charset="0"/>
              </a:rPr>
              <a:t>Defining problem statements </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677656"/>
          </a:xfrm>
          <a:prstGeom prst="rect">
            <a:avLst/>
          </a:prstGeom>
          <a:solidFill>
            <a:schemeClr val="bg1">
              <a:lumMod val="95000"/>
            </a:schemeClr>
          </a:solidFill>
        </p:spPr>
        <p:txBody>
          <a:bodyPr wrap="square">
            <a:spAutoFit/>
          </a:bodyPr>
          <a:lstStyle/>
          <a:p>
            <a:pPr algn="just"/>
            <a:r>
              <a:rPr lang="en-US" b="1" dirty="0"/>
              <a:t>Objective of the Study:</a:t>
            </a:r>
          </a:p>
          <a:p>
            <a:r>
              <a:rPr lang="en-US"/>
              <a:t>To clearly identify, analyze, and articulate the core research problem by examining existing gaps, limitations, and inconsistencies in current knowledge, thereby establishing a precise and actionable problem statement that will guide the direction, scope, and methodology of the research.</a:t>
            </a:r>
            <a:endParaRPr lang="en-US" dirty="0"/>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417676" y="402185"/>
            <a:ext cx="4895729" cy="5693866"/>
          </a:xfrm>
          <a:prstGeom prst="rect">
            <a:avLst/>
          </a:prstGeom>
          <a:noFill/>
        </p:spPr>
        <p:txBody>
          <a:bodyPr wrap="square">
            <a:spAutoFit/>
          </a:bodyPr>
          <a:lstStyle/>
          <a:p>
            <a:pPr algn="just"/>
            <a:r>
              <a:rPr lang="en-US" b="1" dirty="0"/>
              <a:t>1. Problem Identification</a:t>
            </a:r>
          </a:p>
          <a:p>
            <a:pPr algn="just"/>
            <a:r>
              <a:rPr lang="en-US" dirty="0"/>
              <a:t>Identifying a problem requires assessing gaps, inconsistencies, or </a:t>
            </a:r>
            <a:r>
              <a:rPr lang="en-US" u="sng" dirty="0"/>
              <a:t>unresolved issues</a:t>
            </a:r>
            <a:r>
              <a:rPr lang="en-US" dirty="0"/>
              <a:t> within existing literature or practice. This process ensures the researcher understands what is missing, why it matters, and how it impacts the field. Clear identification leads to a focused research direction and avoids vague or overly broad investigations.</a:t>
            </a:r>
          </a:p>
        </p:txBody>
      </p:sp>
      <p:pic>
        <p:nvPicPr>
          <p:cNvPr id="2" name="Picture 1">
            <a:extLst>
              <a:ext uri="{FF2B5EF4-FFF2-40B4-BE49-F238E27FC236}">
                <a16:creationId xmlns:a16="http://schemas.microsoft.com/office/drawing/2014/main" id="{6CF04572-4F19-D086-15A3-A33071B099E6}"/>
              </a:ext>
            </a:extLst>
          </p:cNvPr>
          <p:cNvPicPr>
            <a:picLocks noChangeAspect="1"/>
          </p:cNvPicPr>
          <p:nvPr/>
        </p:nvPicPr>
        <p:blipFill>
          <a:blip r:embed="rId2"/>
          <a:stretch>
            <a:fillRect/>
          </a:stretch>
        </p:blipFill>
        <p:spPr>
          <a:xfrm>
            <a:off x="5460596" y="314980"/>
            <a:ext cx="6411220" cy="3534268"/>
          </a:xfrm>
          <a:prstGeom prst="rect">
            <a:avLst/>
          </a:prstGeom>
        </p:spPr>
      </p:pic>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553126" y="425208"/>
            <a:ext cx="5542874" cy="5262979"/>
          </a:xfrm>
          <a:prstGeom prst="rect">
            <a:avLst/>
          </a:prstGeom>
          <a:noFill/>
        </p:spPr>
        <p:txBody>
          <a:bodyPr wrap="square">
            <a:spAutoFit/>
          </a:bodyPr>
          <a:lstStyle/>
          <a:p>
            <a:pPr algn="just"/>
            <a:r>
              <a:rPr lang="en-US" b="1" dirty="0"/>
              <a:t>2. Research Gap Analysis</a:t>
            </a:r>
          </a:p>
          <a:p>
            <a:pPr algn="just"/>
            <a:r>
              <a:rPr lang="en-US" dirty="0"/>
              <a:t>Gap analysis involves reviewing previous studies to </a:t>
            </a:r>
            <a:r>
              <a:rPr lang="en-US" u="sng" dirty="0"/>
              <a:t>pinpoint areas </a:t>
            </a:r>
            <a:r>
              <a:rPr lang="en-US" dirty="0"/>
              <a:t>where knowledge is incomplete, outdated, or contradictory. By mapping what has been studied and what remains unexplored, researchers justify the importance of their work and demonstrate how their study contributes to advancing academic understanding or practical applications.</a:t>
            </a:r>
          </a:p>
        </p:txBody>
      </p:sp>
      <p:pic>
        <p:nvPicPr>
          <p:cNvPr id="2" name="Picture 1">
            <a:extLst>
              <a:ext uri="{FF2B5EF4-FFF2-40B4-BE49-F238E27FC236}">
                <a16:creationId xmlns:a16="http://schemas.microsoft.com/office/drawing/2014/main" id="{68EAA279-F5B9-3610-FBC4-0DABE546CFB4}"/>
              </a:ext>
            </a:extLst>
          </p:cNvPr>
          <p:cNvPicPr>
            <a:picLocks noChangeAspect="1"/>
          </p:cNvPicPr>
          <p:nvPr/>
        </p:nvPicPr>
        <p:blipFill>
          <a:blip r:embed="rId2"/>
          <a:stretch>
            <a:fillRect/>
          </a:stretch>
        </p:blipFill>
        <p:spPr>
          <a:xfrm>
            <a:off x="6379685" y="425208"/>
            <a:ext cx="5611008" cy="3286584"/>
          </a:xfrm>
          <a:prstGeom prst="rect">
            <a:avLst/>
          </a:prstGeom>
        </p:spPr>
      </p:pic>
    </p:spTree>
    <p:extLst>
      <p:ext uri="{BB962C8B-B14F-4D97-AF65-F5344CB8AC3E}">
        <p14:creationId xmlns:p14="http://schemas.microsoft.com/office/powerpoint/2010/main" val="545943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538389" y="283905"/>
            <a:ext cx="4762660" cy="6124754"/>
          </a:xfrm>
          <a:prstGeom prst="rect">
            <a:avLst/>
          </a:prstGeom>
          <a:noFill/>
        </p:spPr>
        <p:txBody>
          <a:bodyPr wrap="square">
            <a:spAutoFit/>
          </a:bodyPr>
          <a:lstStyle/>
          <a:p>
            <a:pPr algn="just"/>
            <a:r>
              <a:rPr lang="en-US" b="1" dirty="0"/>
              <a:t>3. Contextual Background</a:t>
            </a:r>
          </a:p>
          <a:p>
            <a:pPr algn="just"/>
            <a:r>
              <a:rPr lang="en-US" dirty="0"/>
              <a:t>Providing background information helps </a:t>
            </a:r>
            <a:r>
              <a:rPr lang="en-US" u="sng" dirty="0"/>
              <a:t>situate the research problem within its real-world or theoretical context</a:t>
            </a:r>
            <a:r>
              <a:rPr lang="en-US" dirty="0"/>
              <a:t>. This includes historical developments, current trends, and influencing factors. A well-defined context enhances clarity, supports relevance, and ensures readers understand why the issue is worth investigating and how it emerged.</a:t>
            </a:r>
          </a:p>
        </p:txBody>
      </p:sp>
      <p:pic>
        <p:nvPicPr>
          <p:cNvPr id="2" name="Picture 1">
            <a:extLst>
              <a:ext uri="{FF2B5EF4-FFF2-40B4-BE49-F238E27FC236}">
                <a16:creationId xmlns:a16="http://schemas.microsoft.com/office/drawing/2014/main" id="{E6A19078-C8DD-03A5-C50C-46F9E336EB5C}"/>
              </a:ext>
            </a:extLst>
          </p:cNvPr>
          <p:cNvPicPr>
            <a:picLocks noChangeAspect="1"/>
          </p:cNvPicPr>
          <p:nvPr/>
        </p:nvPicPr>
        <p:blipFill>
          <a:blip r:embed="rId2"/>
          <a:srcRect l="8772"/>
          <a:stretch>
            <a:fillRect/>
          </a:stretch>
        </p:blipFill>
        <p:spPr>
          <a:xfrm>
            <a:off x="5622324" y="361522"/>
            <a:ext cx="6241804" cy="2569059"/>
          </a:xfrm>
          <a:prstGeom prst="rect">
            <a:avLst/>
          </a:prstGeom>
        </p:spPr>
      </p:pic>
    </p:spTree>
    <p:extLst>
      <p:ext uri="{BB962C8B-B14F-4D97-AF65-F5344CB8AC3E}">
        <p14:creationId xmlns:p14="http://schemas.microsoft.com/office/powerpoint/2010/main" val="234209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6093618" cy="4401205"/>
          </a:xfrm>
          <a:prstGeom prst="rect">
            <a:avLst/>
          </a:prstGeom>
          <a:noFill/>
        </p:spPr>
        <p:txBody>
          <a:bodyPr wrap="square">
            <a:spAutoFit/>
          </a:bodyPr>
          <a:lstStyle/>
          <a:p>
            <a:pPr algn="just"/>
            <a:r>
              <a:rPr lang="en-US" b="1" dirty="0"/>
              <a:t>4. Significance of the Problem</a:t>
            </a:r>
          </a:p>
          <a:p>
            <a:pPr algn="just"/>
            <a:r>
              <a:rPr lang="en-US" dirty="0"/>
              <a:t>Explaining the significance highlights the </a:t>
            </a:r>
            <a:r>
              <a:rPr lang="en-US" u="sng" dirty="0"/>
              <a:t>value and impact of solving the problem</a:t>
            </a:r>
            <a:r>
              <a:rPr lang="en-US" dirty="0"/>
              <a:t>. It addresses how the issue affects individuals, organizations, or society. A strong significance statement convinces readers that the research is important, timely, and capable of producing meaningful benefits or addressing critical challenges in the field.</a:t>
            </a:r>
          </a:p>
        </p:txBody>
      </p:sp>
      <p:pic>
        <p:nvPicPr>
          <p:cNvPr id="2" name="Picture 1">
            <a:extLst>
              <a:ext uri="{FF2B5EF4-FFF2-40B4-BE49-F238E27FC236}">
                <a16:creationId xmlns:a16="http://schemas.microsoft.com/office/drawing/2014/main" id="{908C3136-9684-3828-5607-318529CD766C}"/>
              </a:ext>
            </a:extLst>
          </p:cNvPr>
          <p:cNvPicPr>
            <a:picLocks noChangeAspect="1"/>
          </p:cNvPicPr>
          <p:nvPr/>
        </p:nvPicPr>
        <p:blipFill>
          <a:blip r:embed="rId2"/>
          <a:stretch>
            <a:fillRect/>
          </a:stretch>
        </p:blipFill>
        <p:spPr>
          <a:xfrm>
            <a:off x="6927449" y="390101"/>
            <a:ext cx="4515480" cy="3038899"/>
          </a:xfrm>
          <a:prstGeom prst="rect">
            <a:avLst/>
          </a:prstGeom>
        </p:spPr>
      </p:pic>
    </p:spTree>
    <p:extLst>
      <p:ext uri="{BB962C8B-B14F-4D97-AF65-F5344CB8AC3E}">
        <p14:creationId xmlns:p14="http://schemas.microsoft.com/office/powerpoint/2010/main" val="107964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402464" y="283906"/>
            <a:ext cx="6093618" cy="4832092"/>
          </a:xfrm>
          <a:prstGeom prst="rect">
            <a:avLst/>
          </a:prstGeom>
          <a:noFill/>
        </p:spPr>
        <p:txBody>
          <a:bodyPr wrap="square">
            <a:spAutoFit/>
          </a:bodyPr>
          <a:lstStyle/>
          <a:p>
            <a:pPr algn="just"/>
            <a:r>
              <a:rPr lang="en-US" b="1" dirty="0"/>
              <a:t>5. Scope of the Problem</a:t>
            </a:r>
          </a:p>
          <a:p>
            <a:pPr algn="just"/>
            <a:r>
              <a:rPr lang="en-US" dirty="0"/>
              <a:t>The scope defines the boundaries and limitations of the research problem. It clarifies what will be included or excluded, helping to keep the investigation manageable and focused. Establishing scope prevents unnecessary complexity and ensures that the research remains realistic, achievable, and aligned with available resources and time.</a:t>
            </a:r>
          </a:p>
        </p:txBody>
      </p:sp>
      <p:pic>
        <p:nvPicPr>
          <p:cNvPr id="2" name="Picture 1">
            <a:extLst>
              <a:ext uri="{FF2B5EF4-FFF2-40B4-BE49-F238E27FC236}">
                <a16:creationId xmlns:a16="http://schemas.microsoft.com/office/drawing/2014/main" id="{CB2A20B5-9F89-A93B-8A4A-14E496E9AF1D}"/>
              </a:ext>
            </a:extLst>
          </p:cNvPr>
          <p:cNvPicPr>
            <a:picLocks noChangeAspect="1"/>
          </p:cNvPicPr>
          <p:nvPr/>
        </p:nvPicPr>
        <p:blipFill>
          <a:blip r:embed="rId2"/>
          <a:stretch>
            <a:fillRect/>
          </a:stretch>
        </p:blipFill>
        <p:spPr>
          <a:xfrm>
            <a:off x="6842261" y="475680"/>
            <a:ext cx="4972446" cy="3107779"/>
          </a:xfrm>
          <a:prstGeom prst="rect">
            <a:avLst/>
          </a:prstGeom>
        </p:spPr>
      </p:pic>
    </p:spTree>
    <p:extLst>
      <p:ext uri="{BB962C8B-B14F-4D97-AF65-F5344CB8AC3E}">
        <p14:creationId xmlns:p14="http://schemas.microsoft.com/office/powerpoint/2010/main" val="2901413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451891" y="358046"/>
            <a:ext cx="5318714" cy="6124754"/>
          </a:xfrm>
          <a:prstGeom prst="rect">
            <a:avLst/>
          </a:prstGeom>
          <a:noFill/>
        </p:spPr>
        <p:txBody>
          <a:bodyPr wrap="square">
            <a:spAutoFit/>
          </a:bodyPr>
          <a:lstStyle/>
          <a:p>
            <a:pPr algn="just"/>
            <a:r>
              <a:rPr lang="en-US" b="1" dirty="0"/>
              <a:t>6. Problem Symptoms vs. Root Causes</a:t>
            </a:r>
          </a:p>
          <a:p>
            <a:pPr algn="just"/>
            <a:r>
              <a:rPr lang="en-US" dirty="0"/>
              <a:t>Distinguishing between symptoms and root causes enhances the accuracy of the problem statement. Symptoms are visible issues, while root causes are underlying factors driving them. Effective problem definition requires identifying true causes rather than addressing surface-level indicators, ensuring that the research leads to meaningful and lasting solutions.</a:t>
            </a:r>
          </a:p>
        </p:txBody>
      </p:sp>
      <p:pic>
        <p:nvPicPr>
          <p:cNvPr id="1026" name="Picture 2">
            <a:extLst>
              <a:ext uri="{FF2B5EF4-FFF2-40B4-BE49-F238E27FC236}">
                <a16:creationId xmlns:a16="http://schemas.microsoft.com/office/drawing/2014/main" id="{BD6E96F2-E470-F6B4-E706-B31A44B30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5103" y="276225"/>
            <a:ext cx="5648325" cy="630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954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644579" y="151179"/>
            <a:ext cx="5163096" cy="6555641"/>
          </a:xfrm>
          <a:prstGeom prst="rect">
            <a:avLst/>
          </a:prstGeom>
          <a:noFill/>
        </p:spPr>
        <p:txBody>
          <a:bodyPr wrap="square">
            <a:spAutoFit/>
          </a:bodyPr>
          <a:lstStyle/>
          <a:p>
            <a:pPr algn="just"/>
            <a:r>
              <a:rPr lang="en-US" b="1" dirty="0"/>
              <a:t>7. Stakeholder Needs and Perspectives</a:t>
            </a:r>
          </a:p>
          <a:p>
            <a:pPr algn="just"/>
            <a:r>
              <a:rPr lang="en-US" dirty="0"/>
              <a:t>Understanding stakeholder perspectives ensures that the </a:t>
            </a:r>
            <a:r>
              <a:rPr lang="en-US" u="sng" dirty="0"/>
              <a:t>problem statement aligns with real needs</a:t>
            </a:r>
            <a:r>
              <a:rPr lang="en-US" dirty="0"/>
              <a:t>. Stakeholders may include users, policymakers, organizations, or researchers. Their viewpoints provide valuable insights into the problem’s impact, urgency, and relevance. Incorporating stakeholder input strengthens research credibility and increases the likelihood of practical, accepted outcomes.</a:t>
            </a:r>
          </a:p>
        </p:txBody>
      </p:sp>
      <p:pic>
        <p:nvPicPr>
          <p:cNvPr id="2" name="Picture 1">
            <a:extLst>
              <a:ext uri="{FF2B5EF4-FFF2-40B4-BE49-F238E27FC236}">
                <a16:creationId xmlns:a16="http://schemas.microsoft.com/office/drawing/2014/main" id="{EE5A31D2-4412-B100-8DFF-5970F46BE31E}"/>
              </a:ext>
            </a:extLst>
          </p:cNvPr>
          <p:cNvPicPr>
            <a:picLocks noChangeAspect="1"/>
          </p:cNvPicPr>
          <p:nvPr/>
        </p:nvPicPr>
        <p:blipFill>
          <a:blip r:embed="rId2"/>
          <a:stretch>
            <a:fillRect/>
          </a:stretch>
        </p:blipFill>
        <p:spPr>
          <a:xfrm>
            <a:off x="6263712" y="320975"/>
            <a:ext cx="5620534" cy="3867690"/>
          </a:xfrm>
          <a:prstGeom prst="rect">
            <a:avLst/>
          </a:prstGeom>
        </p:spPr>
      </p:pic>
    </p:spTree>
    <p:extLst>
      <p:ext uri="{BB962C8B-B14F-4D97-AF65-F5344CB8AC3E}">
        <p14:creationId xmlns:p14="http://schemas.microsoft.com/office/powerpoint/2010/main" val="185755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553126" y="371589"/>
            <a:ext cx="4896204" cy="5693866"/>
          </a:xfrm>
          <a:prstGeom prst="rect">
            <a:avLst/>
          </a:prstGeom>
          <a:noFill/>
        </p:spPr>
        <p:txBody>
          <a:bodyPr wrap="square">
            <a:spAutoFit/>
          </a:bodyPr>
          <a:lstStyle/>
          <a:p>
            <a:pPr algn="just"/>
            <a:r>
              <a:rPr lang="en-US" b="1" dirty="0"/>
              <a:t>8. Human–Technology Interaction</a:t>
            </a:r>
          </a:p>
          <a:p>
            <a:pPr algn="just"/>
            <a:r>
              <a:rPr lang="en-US" u="sng" dirty="0"/>
              <a:t>Understanding how users naturally interact with technology helps designers create intuitive systems</a:t>
            </a:r>
            <a:r>
              <a:rPr lang="en-US" dirty="0"/>
              <a:t>. This includes analyzing user habits, decision-making patterns, and cognitive loads. Empathy aids in reducing complexity, enabling users to achieve goals more efficiently and comfortably in digital environments.</a:t>
            </a:r>
          </a:p>
        </p:txBody>
      </p:sp>
      <p:pic>
        <p:nvPicPr>
          <p:cNvPr id="2" name="Picture 1">
            <a:extLst>
              <a:ext uri="{FF2B5EF4-FFF2-40B4-BE49-F238E27FC236}">
                <a16:creationId xmlns:a16="http://schemas.microsoft.com/office/drawing/2014/main" id="{D8BE0C42-06B3-C7C1-203A-E99BBD42BAB6}"/>
              </a:ext>
            </a:extLst>
          </p:cNvPr>
          <p:cNvPicPr>
            <a:picLocks noChangeAspect="1"/>
          </p:cNvPicPr>
          <p:nvPr/>
        </p:nvPicPr>
        <p:blipFill>
          <a:blip r:embed="rId2"/>
          <a:stretch>
            <a:fillRect/>
          </a:stretch>
        </p:blipFill>
        <p:spPr>
          <a:xfrm>
            <a:off x="5805388" y="371589"/>
            <a:ext cx="6115223" cy="3298368"/>
          </a:xfrm>
          <a:prstGeom prst="rect">
            <a:avLst/>
          </a:prstGeom>
        </p:spPr>
      </p:pic>
    </p:spTree>
    <p:extLst>
      <p:ext uri="{BB962C8B-B14F-4D97-AF65-F5344CB8AC3E}">
        <p14:creationId xmlns:p14="http://schemas.microsoft.com/office/powerpoint/2010/main" val="4126813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414821" y="368803"/>
            <a:ext cx="4787374" cy="6124754"/>
          </a:xfrm>
          <a:prstGeom prst="rect">
            <a:avLst/>
          </a:prstGeom>
          <a:noFill/>
        </p:spPr>
        <p:txBody>
          <a:bodyPr wrap="square">
            <a:spAutoFit/>
          </a:bodyPr>
          <a:lstStyle/>
          <a:p>
            <a:pPr algn="just"/>
            <a:r>
              <a:rPr lang="en-US" b="1" dirty="0"/>
              <a:t>9. Emotional Design in Digital Products</a:t>
            </a:r>
          </a:p>
          <a:p>
            <a:pPr algn="just"/>
            <a:r>
              <a:rPr lang="en-US" dirty="0"/>
              <a:t>Emotional design focuses on how aesthetics, interactions, and feedback influence user feelings. Designs that evoke positive emotions increase trust, satisfaction, and long-term engagement. Applying empathy ensures digital products respond gracefully to mistakes and celebrate achievements, creating strong emotional connections.</a:t>
            </a:r>
          </a:p>
        </p:txBody>
      </p:sp>
      <p:pic>
        <p:nvPicPr>
          <p:cNvPr id="2" name="Picture 1">
            <a:extLst>
              <a:ext uri="{FF2B5EF4-FFF2-40B4-BE49-F238E27FC236}">
                <a16:creationId xmlns:a16="http://schemas.microsoft.com/office/drawing/2014/main" id="{B11A4247-9494-3D6D-9C77-F6C210DBE168}"/>
              </a:ext>
            </a:extLst>
          </p:cNvPr>
          <p:cNvPicPr>
            <a:picLocks noChangeAspect="1"/>
          </p:cNvPicPr>
          <p:nvPr/>
        </p:nvPicPr>
        <p:blipFill>
          <a:blip r:embed="rId2"/>
          <a:stretch>
            <a:fillRect/>
          </a:stretch>
        </p:blipFill>
        <p:spPr>
          <a:xfrm>
            <a:off x="5803131" y="651992"/>
            <a:ext cx="6096851" cy="3057952"/>
          </a:xfrm>
          <a:prstGeom prst="rect">
            <a:avLst/>
          </a:prstGeom>
        </p:spPr>
      </p:pic>
      <p:sp>
        <p:nvSpPr>
          <p:cNvPr id="5" name="TextBox 4">
            <a:extLst>
              <a:ext uri="{FF2B5EF4-FFF2-40B4-BE49-F238E27FC236}">
                <a16:creationId xmlns:a16="http://schemas.microsoft.com/office/drawing/2014/main" id="{CF005EE1-8005-9E33-A474-77FA532F2536}"/>
              </a:ext>
            </a:extLst>
          </p:cNvPr>
          <p:cNvSpPr txBox="1"/>
          <p:nvPr/>
        </p:nvSpPr>
        <p:spPr>
          <a:xfrm>
            <a:off x="9539415" y="1348830"/>
            <a:ext cx="1198607" cy="323165"/>
          </a:xfrm>
          <a:prstGeom prst="rect">
            <a:avLst/>
          </a:prstGeom>
          <a:noFill/>
        </p:spPr>
        <p:txBody>
          <a:bodyPr wrap="square">
            <a:spAutoFit/>
          </a:bodyPr>
          <a:lstStyle/>
          <a:p>
            <a:r>
              <a:rPr lang="en-US" sz="1500" dirty="0"/>
              <a:t>(Experience)</a:t>
            </a:r>
          </a:p>
        </p:txBody>
      </p:sp>
    </p:spTree>
    <p:extLst>
      <p:ext uri="{BB962C8B-B14F-4D97-AF65-F5344CB8AC3E}">
        <p14:creationId xmlns:p14="http://schemas.microsoft.com/office/powerpoint/2010/main" val="3533018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488961" y="419830"/>
            <a:ext cx="6093618" cy="4832092"/>
          </a:xfrm>
          <a:prstGeom prst="rect">
            <a:avLst/>
          </a:prstGeom>
          <a:noFill/>
        </p:spPr>
        <p:txBody>
          <a:bodyPr wrap="square">
            <a:spAutoFit/>
          </a:bodyPr>
          <a:lstStyle/>
          <a:p>
            <a:pPr algn="just"/>
            <a:r>
              <a:rPr lang="en-US" b="1" dirty="0"/>
              <a:t>10. Continuous User Feedback Integration</a:t>
            </a:r>
          </a:p>
          <a:p>
            <a:pPr algn="just"/>
            <a:r>
              <a:rPr lang="en-US" dirty="0"/>
              <a:t>Empathy requires ongoing dialogue with users. Continuous feedback loops allow designers to understand evolving user needs and adapt solutions proactively. By integrating real-time user insights into product updates, organizations stay aligned with user expectations and maintain relevance in rapidly changing digital landscapes.</a:t>
            </a:r>
          </a:p>
        </p:txBody>
      </p:sp>
      <p:pic>
        <p:nvPicPr>
          <p:cNvPr id="2" name="Picture 1">
            <a:extLst>
              <a:ext uri="{FF2B5EF4-FFF2-40B4-BE49-F238E27FC236}">
                <a16:creationId xmlns:a16="http://schemas.microsoft.com/office/drawing/2014/main" id="{79F2FEDE-A89D-0649-84BE-1ACA6CB4A41B}"/>
              </a:ext>
            </a:extLst>
          </p:cNvPr>
          <p:cNvPicPr>
            <a:picLocks noChangeAspect="1"/>
          </p:cNvPicPr>
          <p:nvPr/>
        </p:nvPicPr>
        <p:blipFill>
          <a:blip r:embed="rId2"/>
          <a:stretch>
            <a:fillRect/>
          </a:stretch>
        </p:blipFill>
        <p:spPr>
          <a:xfrm>
            <a:off x="7182939" y="419830"/>
            <a:ext cx="4696480" cy="4134427"/>
          </a:xfrm>
          <a:prstGeom prst="rect">
            <a:avLst/>
          </a:prstGeom>
        </p:spPr>
      </p:pic>
    </p:spTree>
    <p:extLst>
      <p:ext uri="{BB962C8B-B14F-4D97-AF65-F5344CB8AC3E}">
        <p14:creationId xmlns:p14="http://schemas.microsoft.com/office/powerpoint/2010/main" val="33619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AD5831-7627-737A-7D9F-D3BD6E883EE3}"/>
              </a:ext>
            </a:extLst>
          </p:cNvPr>
          <p:cNvSpPr txBox="1"/>
          <p:nvPr/>
        </p:nvSpPr>
        <p:spPr>
          <a:xfrm>
            <a:off x="421202" y="442562"/>
            <a:ext cx="11292743" cy="3554819"/>
          </a:xfrm>
          <a:prstGeom prst="rect">
            <a:avLst/>
          </a:prstGeom>
          <a:noFill/>
          <a:ln>
            <a:solidFill>
              <a:schemeClr val="tx1"/>
            </a:solidFill>
          </a:ln>
        </p:spPr>
        <p:txBody>
          <a:bodyPr wrap="square">
            <a:spAutoFit/>
          </a:bodyPr>
          <a:lstStyle/>
          <a:p>
            <a:pPr algn="just"/>
            <a:r>
              <a:rPr lang="en-US" sz="2500" b="1" dirty="0"/>
              <a:t>Activity:</a:t>
            </a:r>
            <a:br>
              <a:rPr lang="en-US" sz="2500" dirty="0"/>
            </a:br>
            <a:r>
              <a:rPr lang="en-US" sz="2500" dirty="0"/>
              <a:t>No.1 Use the results from process 1 to design form of problem statement.</a:t>
            </a:r>
          </a:p>
          <a:p>
            <a:pPr marL="457200" indent="-457200" algn="just">
              <a:buFont typeface="Arial" panose="020B0604020202020204" pitchFamily="34" charset="0"/>
              <a:buChar char="•"/>
            </a:pPr>
            <a:r>
              <a:rPr lang="en-US" sz="2500" dirty="0"/>
              <a:t>Using results from Process 1, the problem statement should clearly translate observed gaps, patterns, or inefficiencies into a concise researchable issue. It must specify the context, affected stakeholders, and measurable consequences, ensuring the problem is evidence-based, focused, and aligned with the study’s objectives.</a:t>
            </a:r>
          </a:p>
          <a:p>
            <a:pPr algn="just"/>
            <a:endParaRPr lang="en-US" sz="2500" dirty="0"/>
          </a:p>
          <a:p>
            <a:pPr algn="just"/>
            <a:endParaRPr lang="en-US" sz="2500" dirty="0"/>
          </a:p>
        </p:txBody>
      </p:sp>
    </p:spTree>
    <p:extLst>
      <p:ext uri="{BB962C8B-B14F-4D97-AF65-F5344CB8AC3E}">
        <p14:creationId xmlns:p14="http://schemas.microsoft.com/office/powerpoint/2010/main" val="186873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D56F0-4C91-DA53-42F8-DEE907BFE9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C89353-FF53-289F-A9CA-A2E01F070327}"/>
              </a:ext>
            </a:extLst>
          </p:cNvPr>
          <p:cNvSpPr txBox="1"/>
          <p:nvPr/>
        </p:nvSpPr>
        <p:spPr>
          <a:xfrm>
            <a:off x="392327" y="471437"/>
            <a:ext cx="11606084" cy="2785378"/>
          </a:xfrm>
          <a:prstGeom prst="rect">
            <a:avLst/>
          </a:prstGeom>
          <a:noFill/>
          <a:ln>
            <a:solidFill>
              <a:schemeClr val="tx1"/>
            </a:solidFill>
          </a:ln>
        </p:spPr>
        <p:txBody>
          <a:bodyPr wrap="square">
            <a:spAutoFit/>
          </a:bodyPr>
          <a:lstStyle/>
          <a:p>
            <a:pPr algn="just"/>
            <a:r>
              <a:rPr lang="en-US" sz="2500" b="1" dirty="0"/>
              <a:t>Activity:</a:t>
            </a:r>
            <a:endParaRPr lang="en-US" sz="2500" dirty="0"/>
          </a:p>
          <a:p>
            <a:pPr algn="just"/>
            <a:r>
              <a:rPr lang="en-US" sz="2500" dirty="0"/>
              <a:t>No. 2 Prioritize set of problems by effective method with efficient concept. </a:t>
            </a:r>
          </a:p>
          <a:p>
            <a:pPr marL="457200" indent="-457200" algn="just">
              <a:buFont typeface="Arial" panose="020B0604020202020204" pitchFamily="34" charset="0"/>
              <a:buChar char="•"/>
            </a:pPr>
            <a:r>
              <a:rPr lang="en-US" sz="2500" dirty="0"/>
              <a:t>Problem prioritization should apply systematic methods such as impact–feasibility analysis or weighted scoring models. Problems with high impact, strong alignment to strategic goals, and low resource consumption are ranked first. This ensures efficient use of time and resources while maximizing practical and theoretical value.</a:t>
            </a:r>
          </a:p>
          <a:p>
            <a:pPr algn="just"/>
            <a:endParaRPr lang="en-US" sz="2500" dirty="0"/>
          </a:p>
        </p:txBody>
      </p:sp>
    </p:spTree>
    <p:extLst>
      <p:ext uri="{BB962C8B-B14F-4D97-AF65-F5344CB8AC3E}">
        <p14:creationId xmlns:p14="http://schemas.microsoft.com/office/powerpoint/2010/main" val="2528892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6AD265-3FB2-FE27-B52D-D6839052CB60}"/>
              </a:ext>
            </a:extLst>
          </p:cNvPr>
          <p:cNvSpPr txBox="1"/>
          <p:nvPr/>
        </p:nvSpPr>
        <p:spPr>
          <a:xfrm>
            <a:off x="392327" y="471437"/>
            <a:ext cx="11606084" cy="1815882"/>
          </a:xfrm>
          <a:prstGeom prst="rect">
            <a:avLst/>
          </a:prstGeom>
          <a:noFill/>
        </p:spPr>
        <p:txBody>
          <a:bodyPr wrap="square">
            <a:spAutoFit/>
          </a:bodyPr>
          <a:lstStyle/>
          <a:p>
            <a:r>
              <a:rPr lang="en-US" b="1" dirty="0"/>
              <a:t>Question:</a:t>
            </a:r>
            <a:br>
              <a:rPr lang="en-US" dirty="0"/>
            </a:br>
            <a:r>
              <a:rPr lang="en-US" dirty="0"/>
              <a:t>Why is clearly defining the problem statement critical to successful problem-solving and innovation, and what risks arise when the problem is poorly defined? Give 1 Example</a:t>
            </a:r>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806</Words>
  <Application>Microsoft Office PowerPoint</Application>
  <PresentationFormat>Widescreen</PresentationFormat>
  <Paragraphs>31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TH SarabunPSK</vt:lpstr>
      <vt:lpstr>Office Theme</vt:lpstr>
      <vt:lpstr>Chapter 5 Defining problem statements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Acer</cp:lastModifiedBy>
  <cp:revision>23</cp:revision>
  <dcterms:created xsi:type="dcterms:W3CDTF">2025-11-15T02:26:25Z</dcterms:created>
  <dcterms:modified xsi:type="dcterms:W3CDTF">2026-02-10T02:27:42Z</dcterms:modified>
</cp:coreProperties>
</file>