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89" r:id="rId5"/>
    <p:sldId id="259" r:id="rId6"/>
    <p:sldId id="260" r:id="rId7"/>
    <p:sldId id="261" r:id="rId8"/>
    <p:sldId id="290" r:id="rId9"/>
    <p:sldId id="262" r:id="rId10"/>
    <p:sldId id="288" r:id="rId11"/>
    <p:sldId id="263" r:id="rId12"/>
    <p:sldId id="291" r:id="rId13"/>
    <p:sldId id="264" r:id="rId14"/>
    <p:sldId id="265" r:id="rId15"/>
    <p:sldId id="292" r:id="rId16"/>
    <p:sldId id="266" r:id="rId17"/>
    <p:sldId id="267" r:id="rId18"/>
    <p:sldId id="268" r:id="rId19"/>
  </p:sldIdLst>
  <p:sldSz cx="12192000" cy="6858000"/>
  <p:notesSz cx="6858000" cy="9144000"/>
  <p:defaultText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87" autoAdjust="0"/>
    <p:restoredTop sz="94660"/>
  </p:normalViewPr>
  <p:slideViewPr>
    <p:cSldViewPr snapToGrid="0">
      <p:cViewPr varScale="1">
        <p:scale>
          <a:sx n="66" d="100"/>
          <a:sy n="66" d="100"/>
        </p:scale>
        <p:origin x="51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F12D9-7043-43C9-9022-4CB927842C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th-TH"/>
          </a:p>
        </p:txBody>
      </p:sp>
      <p:sp>
        <p:nvSpPr>
          <p:cNvPr id="3" name="Subtitle 2">
            <a:extLst>
              <a:ext uri="{FF2B5EF4-FFF2-40B4-BE49-F238E27FC236}">
                <a16:creationId xmlns:a16="http://schemas.microsoft.com/office/drawing/2014/main" id="{3F682E85-08CB-4BAA-8425-BD2C2AE6E5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th-TH"/>
          </a:p>
        </p:txBody>
      </p:sp>
      <p:sp>
        <p:nvSpPr>
          <p:cNvPr id="4" name="Date Placeholder 3">
            <a:extLst>
              <a:ext uri="{FF2B5EF4-FFF2-40B4-BE49-F238E27FC236}">
                <a16:creationId xmlns:a16="http://schemas.microsoft.com/office/drawing/2014/main" id="{E6E5EFEC-3DF3-4A5F-8D72-0DA2D7752ED1}"/>
              </a:ext>
            </a:extLst>
          </p:cNvPr>
          <p:cNvSpPr>
            <a:spLocks noGrp="1"/>
          </p:cNvSpPr>
          <p:nvPr>
            <p:ph type="dt" sz="half" idx="10"/>
          </p:nvPr>
        </p:nvSpPr>
        <p:spPr/>
        <p:txBody>
          <a:bodyPr/>
          <a:lstStyle/>
          <a:p>
            <a:fld id="{41DB1237-82F3-41AB-8C61-F8D2C1E0FDCB}" type="datetimeFigureOut">
              <a:rPr lang="th-TH" smtClean="0"/>
              <a:t>19/12/68</a:t>
            </a:fld>
            <a:endParaRPr lang="th-TH"/>
          </a:p>
        </p:txBody>
      </p:sp>
      <p:sp>
        <p:nvSpPr>
          <p:cNvPr id="5" name="Footer Placeholder 4">
            <a:extLst>
              <a:ext uri="{FF2B5EF4-FFF2-40B4-BE49-F238E27FC236}">
                <a16:creationId xmlns:a16="http://schemas.microsoft.com/office/drawing/2014/main" id="{D653792A-4195-4E94-8B3D-4B76EB7891D4}"/>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D982B4D4-C42F-43E5-86FD-418F718E4029}"/>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1860921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B4F6D-239D-4BD9-B064-CD98F9DDF972}"/>
              </a:ext>
            </a:extLst>
          </p:cNvPr>
          <p:cNvSpPr>
            <a:spLocks noGrp="1"/>
          </p:cNvSpPr>
          <p:nvPr>
            <p:ph type="title"/>
          </p:nvPr>
        </p:nvSpPr>
        <p:spPr/>
        <p:txBody>
          <a:bodyPr/>
          <a:lstStyle/>
          <a:p>
            <a:r>
              <a:rPr lang="en-US"/>
              <a:t>Click to edit Master title style</a:t>
            </a:r>
            <a:endParaRPr lang="th-TH"/>
          </a:p>
        </p:txBody>
      </p:sp>
      <p:sp>
        <p:nvSpPr>
          <p:cNvPr id="3" name="Content Placeholder 2">
            <a:extLst>
              <a:ext uri="{FF2B5EF4-FFF2-40B4-BE49-F238E27FC236}">
                <a16:creationId xmlns:a16="http://schemas.microsoft.com/office/drawing/2014/main" id="{2E485487-E44F-4186-8EE5-A32F7D41A7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582C8408-8C53-4641-9692-6722C2637B3F}"/>
              </a:ext>
            </a:extLst>
          </p:cNvPr>
          <p:cNvSpPr>
            <a:spLocks noGrp="1"/>
          </p:cNvSpPr>
          <p:nvPr>
            <p:ph type="dt" sz="half" idx="10"/>
          </p:nvPr>
        </p:nvSpPr>
        <p:spPr/>
        <p:txBody>
          <a:bodyPr/>
          <a:lstStyle/>
          <a:p>
            <a:fld id="{41DB1237-82F3-41AB-8C61-F8D2C1E0FDCB}" type="datetimeFigureOut">
              <a:rPr lang="th-TH" smtClean="0"/>
              <a:t>19/12/68</a:t>
            </a:fld>
            <a:endParaRPr lang="th-TH"/>
          </a:p>
        </p:txBody>
      </p:sp>
      <p:sp>
        <p:nvSpPr>
          <p:cNvPr id="5" name="Footer Placeholder 4">
            <a:extLst>
              <a:ext uri="{FF2B5EF4-FFF2-40B4-BE49-F238E27FC236}">
                <a16:creationId xmlns:a16="http://schemas.microsoft.com/office/drawing/2014/main" id="{881843B3-AFB7-4CDD-A62B-8CEDE8923EB1}"/>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48ECFB9B-20A1-4E36-9F3B-33BCEC807A96}"/>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310741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13F78-3C05-4DE8-A76F-7950E8EBA8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th-TH"/>
          </a:p>
        </p:txBody>
      </p:sp>
      <p:sp>
        <p:nvSpPr>
          <p:cNvPr id="3" name="Text Placeholder 2">
            <a:extLst>
              <a:ext uri="{FF2B5EF4-FFF2-40B4-BE49-F238E27FC236}">
                <a16:creationId xmlns:a16="http://schemas.microsoft.com/office/drawing/2014/main" id="{13C2A966-59B1-4752-897D-BFC1C1384A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D5911F-6AC6-4181-B8B9-860FA094F2CB}"/>
              </a:ext>
            </a:extLst>
          </p:cNvPr>
          <p:cNvSpPr>
            <a:spLocks noGrp="1"/>
          </p:cNvSpPr>
          <p:nvPr>
            <p:ph type="dt" sz="half" idx="10"/>
          </p:nvPr>
        </p:nvSpPr>
        <p:spPr/>
        <p:txBody>
          <a:bodyPr/>
          <a:lstStyle/>
          <a:p>
            <a:fld id="{41DB1237-82F3-41AB-8C61-F8D2C1E0FDCB}" type="datetimeFigureOut">
              <a:rPr lang="th-TH" smtClean="0"/>
              <a:t>19/12/68</a:t>
            </a:fld>
            <a:endParaRPr lang="th-TH"/>
          </a:p>
        </p:txBody>
      </p:sp>
      <p:sp>
        <p:nvSpPr>
          <p:cNvPr id="5" name="Footer Placeholder 4">
            <a:extLst>
              <a:ext uri="{FF2B5EF4-FFF2-40B4-BE49-F238E27FC236}">
                <a16:creationId xmlns:a16="http://schemas.microsoft.com/office/drawing/2014/main" id="{E299DD4F-3D70-4194-B2FA-2945C9F6E53F}"/>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C3FCD0CF-490D-4001-A0C3-B07147970B4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801397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1721E-3BA0-4FCF-81B8-9EB48D87A99F}"/>
              </a:ext>
            </a:extLst>
          </p:cNvPr>
          <p:cNvSpPr>
            <a:spLocks noGrp="1"/>
          </p:cNvSpPr>
          <p:nvPr>
            <p:ph type="title"/>
          </p:nvPr>
        </p:nvSpPr>
        <p:spPr/>
        <p:txBody>
          <a:bodyPr/>
          <a:lstStyle/>
          <a:p>
            <a:r>
              <a:rPr lang="en-US"/>
              <a:t>Click to edit Master title style</a:t>
            </a:r>
            <a:endParaRPr lang="th-TH"/>
          </a:p>
        </p:txBody>
      </p:sp>
      <p:sp>
        <p:nvSpPr>
          <p:cNvPr id="3" name="Content Placeholder 2">
            <a:extLst>
              <a:ext uri="{FF2B5EF4-FFF2-40B4-BE49-F238E27FC236}">
                <a16:creationId xmlns:a16="http://schemas.microsoft.com/office/drawing/2014/main" id="{B69CCC5A-22A8-4B78-95F5-0F3D9FDF64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Content Placeholder 3">
            <a:extLst>
              <a:ext uri="{FF2B5EF4-FFF2-40B4-BE49-F238E27FC236}">
                <a16:creationId xmlns:a16="http://schemas.microsoft.com/office/drawing/2014/main" id="{1E0C1BC9-62C7-4484-A5FD-12FC389F00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Date Placeholder 4">
            <a:extLst>
              <a:ext uri="{FF2B5EF4-FFF2-40B4-BE49-F238E27FC236}">
                <a16:creationId xmlns:a16="http://schemas.microsoft.com/office/drawing/2014/main" id="{D2A4D17E-88DC-4B2B-9E7B-93C4228E2632}"/>
              </a:ext>
            </a:extLst>
          </p:cNvPr>
          <p:cNvSpPr>
            <a:spLocks noGrp="1"/>
          </p:cNvSpPr>
          <p:nvPr>
            <p:ph type="dt" sz="half" idx="10"/>
          </p:nvPr>
        </p:nvSpPr>
        <p:spPr/>
        <p:txBody>
          <a:bodyPr/>
          <a:lstStyle/>
          <a:p>
            <a:fld id="{41DB1237-82F3-41AB-8C61-F8D2C1E0FDCB}" type="datetimeFigureOut">
              <a:rPr lang="th-TH" smtClean="0"/>
              <a:t>19/12/68</a:t>
            </a:fld>
            <a:endParaRPr lang="th-TH"/>
          </a:p>
        </p:txBody>
      </p:sp>
      <p:sp>
        <p:nvSpPr>
          <p:cNvPr id="6" name="Footer Placeholder 5">
            <a:extLst>
              <a:ext uri="{FF2B5EF4-FFF2-40B4-BE49-F238E27FC236}">
                <a16:creationId xmlns:a16="http://schemas.microsoft.com/office/drawing/2014/main" id="{70C696E0-05F8-49EF-8B68-AB47385B605D}"/>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E69C8EF5-0E1F-49E6-93AC-1CE65BDAE62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4069345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DFE25-C3C9-411A-91A2-6924B8B3A250}"/>
              </a:ext>
            </a:extLst>
          </p:cNvPr>
          <p:cNvSpPr>
            <a:spLocks noGrp="1"/>
          </p:cNvSpPr>
          <p:nvPr>
            <p:ph type="title"/>
          </p:nvPr>
        </p:nvSpPr>
        <p:spPr>
          <a:xfrm>
            <a:off x="839788" y="365125"/>
            <a:ext cx="10515600" cy="1325563"/>
          </a:xfrm>
        </p:spPr>
        <p:txBody>
          <a:bodyPr/>
          <a:lstStyle/>
          <a:p>
            <a:r>
              <a:rPr lang="en-US"/>
              <a:t>Click to edit Master title style</a:t>
            </a:r>
            <a:endParaRPr lang="th-TH"/>
          </a:p>
        </p:txBody>
      </p:sp>
      <p:sp>
        <p:nvSpPr>
          <p:cNvPr id="3" name="Text Placeholder 2">
            <a:extLst>
              <a:ext uri="{FF2B5EF4-FFF2-40B4-BE49-F238E27FC236}">
                <a16:creationId xmlns:a16="http://schemas.microsoft.com/office/drawing/2014/main" id="{D32D7EA1-4671-4046-8317-D7FFA86F64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61D1DA-003F-4B47-9FFC-A83D673626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Text Placeholder 4">
            <a:extLst>
              <a:ext uri="{FF2B5EF4-FFF2-40B4-BE49-F238E27FC236}">
                <a16:creationId xmlns:a16="http://schemas.microsoft.com/office/drawing/2014/main" id="{0FAE6C3B-15DC-431E-BE0A-7856388045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E09B8C-AB0A-4D51-A3E3-4436405A13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7" name="Date Placeholder 6">
            <a:extLst>
              <a:ext uri="{FF2B5EF4-FFF2-40B4-BE49-F238E27FC236}">
                <a16:creationId xmlns:a16="http://schemas.microsoft.com/office/drawing/2014/main" id="{0291D225-5EBF-4105-BF12-A932C2A0E99E}"/>
              </a:ext>
            </a:extLst>
          </p:cNvPr>
          <p:cNvSpPr>
            <a:spLocks noGrp="1"/>
          </p:cNvSpPr>
          <p:nvPr>
            <p:ph type="dt" sz="half" idx="10"/>
          </p:nvPr>
        </p:nvSpPr>
        <p:spPr/>
        <p:txBody>
          <a:bodyPr/>
          <a:lstStyle/>
          <a:p>
            <a:fld id="{41DB1237-82F3-41AB-8C61-F8D2C1E0FDCB}" type="datetimeFigureOut">
              <a:rPr lang="th-TH" smtClean="0"/>
              <a:t>19/12/68</a:t>
            </a:fld>
            <a:endParaRPr lang="th-TH"/>
          </a:p>
        </p:txBody>
      </p:sp>
      <p:sp>
        <p:nvSpPr>
          <p:cNvPr id="8" name="Footer Placeholder 7">
            <a:extLst>
              <a:ext uri="{FF2B5EF4-FFF2-40B4-BE49-F238E27FC236}">
                <a16:creationId xmlns:a16="http://schemas.microsoft.com/office/drawing/2014/main" id="{592E3A21-B464-45C5-BD11-BAC2D5B89C5F}"/>
              </a:ext>
            </a:extLst>
          </p:cNvPr>
          <p:cNvSpPr>
            <a:spLocks noGrp="1"/>
          </p:cNvSpPr>
          <p:nvPr>
            <p:ph type="ftr" sz="quarter" idx="11"/>
          </p:nvPr>
        </p:nvSpPr>
        <p:spPr/>
        <p:txBody>
          <a:bodyPr/>
          <a:lstStyle/>
          <a:p>
            <a:endParaRPr lang="th-TH"/>
          </a:p>
        </p:txBody>
      </p:sp>
      <p:sp>
        <p:nvSpPr>
          <p:cNvPr id="9" name="Slide Number Placeholder 8">
            <a:extLst>
              <a:ext uri="{FF2B5EF4-FFF2-40B4-BE49-F238E27FC236}">
                <a16:creationId xmlns:a16="http://schemas.microsoft.com/office/drawing/2014/main" id="{273197E2-5EDC-44B6-A35C-5371ABAB1979}"/>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970174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BFEAA-EC8D-4B86-ACB8-C11C6832B04B}"/>
              </a:ext>
            </a:extLst>
          </p:cNvPr>
          <p:cNvSpPr>
            <a:spLocks noGrp="1"/>
          </p:cNvSpPr>
          <p:nvPr>
            <p:ph type="title"/>
          </p:nvPr>
        </p:nvSpPr>
        <p:spPr/>
        <p:txBody>
          <a:bodyPr/>
          <a:lstStyle/>
          <a:p>
            <a:r>
              <a:rPr lang="en-US"/>
              <a:t>Click to edit Master title style</a:t>
            </a:r>
            <a:endParaRPr lang="th-TH"/>
          </a:p>
        </p:txBody>
      </p:sp>
      <p:sp>
        <p:nvSpPr>
          <p:cNvPr id="3" name="Date Placeholder 2">
            <a:extLst>
              <a:ext uri="{FF2B5EF4-FFF2-40B4-BE49-F238E27FC236}">
                <a16:creationId xmlns:a16="http://schemas.microsoft.com/office/drawing/2014/main" id="{ECD022C3-0BEF-4922-9834-2758C1EADD74}"/>
              </a:ext>
            </a:extLst>
          </p:cNvPr>
          <p:cNvSpPr>
            <a:spLocks noGrp="1"/>
          </p:cNvSpPr>
          <p:nvPr>
            <p:ph type="dt" sz="half" idx="10"/>
          </p:nvPr>
        </p:nvSpPr>
        <p:spPr/>
        <p:txBody>
          <a:bodyPr/>
          <a:lstStyle/>
          <a:p>
            <a:fld id="{41DB1237-82F3-41AB-8C61-F8D2C1E0FDCB}" type="datetimeFigureOut">
              <a:rPr lang="th-TH" smtClean="0"/>
              <a:t>19/12/68</a:t>
            </a:fld>
            <a:endParaRPr lang="th-TH"/>
          </a:p>
        </p:txBody>
      </p:sp>
      <p:sp>
        <p:nvSpPr>
          <p:cNvPr id="4" name="Footer Placeholder 3">
            <a:extLst>
              <a:ext uri="{FF2B5EF4-FFF2-40B4-BE49-F238E27FC236}">
                <a16:creationId xmlns:a16="http://schemas.microsoft.com/office/drawing/2014/main" id="{501210C7-7A59-452F-AF27-0232945F21EB}"/>
              </a:ext>
            </a:extLst>
          </p:cNvPr>
          <p:cNvSpPr>
            <a:spLocks noGrp="1"/>
          </p:cNvSpPr>
          <p:nvPr>
            <p:ph type="ftr" sz="quarter" idx="11"/>
          </p:nvPr>
        </p:nvSpPr>
        <p:spPr/>
        <p:txBody>
          <a:bodyPr/>
          <a:lstStyle/>
          <a:p>
            <a:endParaRPr lang="th-TH"/>
          </a:p>
        </p:txBody>
      </p:sp>
      <p:sp>
        <p:nvSpPr>
          <p:cNvPr id="5" name="Slide Number Placeholder 4">
            <a:extLst>
              <a:ext uri="{FF2B5EF4-FFF2-40B4-BE49-F238E27FC236}">
                <a16:creationId xmlns:a16="http://schemas.microsoft.com/office/drawing/2014/main" id="{1AF5589B-95E7-4B1F-AE5F-FDF1CB0B87C3}"/>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3069516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9EEBC4-7CC5-4602-A977-7A087F09AB38}"/>
              </a:ext>
            </a:extLst>
          </p:cNvPr>
          <p:cNvSpPr>
            <a:spLocks noGrp="1"/>
          </p:cNvSpPr>
          <p:nvPr>
            <p:ph type="dt" sz="half" idx="10"/>
          </p:nvPr>
        </p:nvSpPr>
        <p:spPr/>
        <p:txBody>
          <a:bodyPr/>
          <a:lstStyle/>
          <a:p>
            <a:fld id="{41DB1237-82F3-41AB-8C61-F8D2C1E0FDCB}" type="datetimeFigureOut">
              <a:rPr lang="th-TH" smtClean="0"/>
              <a:t>19/12/68</a:t>
            </a:fld>
            <a:endParaRPr lang="th-TH"/>
          </a:p>
        </p:txBody>
      </p:sp>
      <p:sp>
        <p:nvSpPr>
          <p:cNvPr id="3" name="Footer Placeholder 2">
            <a:extLst>
              <a:ext uri="{FF2B5EF4-FFF2-40B4-BE49-F238E27FC236}">
                <a16:creationId xmlns:a16="http://schemas.microsoft.com/office/drawing/2014/main" id="{B41582B0-F68A-4C28-9904-DC6FDB6BF3A3}"/>
              </a:ext>
            </a:extLst>
          </p:cNvPr>
          <p:cNvSpPr>
            <a:spLocks noGrp="1"/>
          </p:cNvSpPr>
          <p:nvPr>
            <p:ph type="ftr" sz="quarter" idx="11"/>
          </p:nvPr>
        </p:nvSpPr>
        <p:spPr/>
        <p:txBody>
          <a:bodyPr/>
          <a:lstStyle/>
          <a:p>
            <a:endParaRPr lang="th-TH"/>
          </a:p>
        </p:txBody>
      </p:sp>
      <p:sp>
        <p:nvSpPr>
          <p:cNvPr id="4" name="Slide Number Placeholder 3">
            <a:extLst>
              <a:ext uri="{FF2B5EF4-FFF2-40B4-BE49-F238E27FC236}">
                <a16:creationId xmlns:a16="http://schemas.microsoft.com/office/drawing/2014/main" id="{D651C69F-57F6-428D-8ED8-8CDC792690E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80856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7CC40-5AE9-4803-81CC-FACD1BABCC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h-TH"/>
          </a:p>
        </p:txBody>
      </p:sp>
      <p:sp>
        <p:nvSpPr>
          <p:cNvPr id="3" name="Content Placeholder 2">
            <a:extLst>
              <a:ext uri="{FF2B5EF4-FFF2-40B4-BE49-F238E27FC236}">
                <a16:creationId xmlns:a16="http://schemas.microsoft.com/office/drawing/2014/main" id="{3DB824A6-6F48-43EE-B4E5-BD8BB335A9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Text Placeholder 3">
            <a:extLst>
              <a:ext uri="{FF2B5EF4-FFF2-40B4-BE49-F238E27FC236}">
                <a16:creationId xmlns:a16="http://schemas.microsoft.com/office/drawing/2014/main" id="{A6EA45F2-2D35-450B-8D97-7A84AD8A1A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872ECC-F35F-4CE1-8B9D-54CF4F2523FA}"/>
              </a:ext>
            </a:extLst>
          </p:cNvPr>
          <p:cNvSpPr>
            <a:spLocks noGrp="1"/>
          </p:cNvSpPr>
          <p:nvPr>
            <p:ph type="dt" sz="half" idx="10"/>
          </p:nvPr>
        </p:nvSpPr>
        <p:spPr/>
        <p:txBody>
          <a:bodyPr/>
          <a:lstStyle/>
          <a:p>
            <a:fld id="{41DB1237-82F3-41AB-8C61-F8D2C1E0FDCB}" type="datetimeFigureOut">
              <a:rPr lang="th-TH" smtClean="0"/>
              <a:t>19/12/68</a:t>
            </a:fld>
            <a:endParaRPr lang="th-TH"/>
          </a:p>
        </p:txBody>
      </p:sp>
      <p:sp>
        <p:nvSpPr>
          <p:cNvPr id="6" name="Footer Placeholder 5">
            <a:extLst>
              <a:ext uri="{FF2B5EF4-FFF2-40B4-BE49-F238E27FC236}">
                <a16:creationId xmlns:a16="http://schemas.microsoft.com/office/drawing/2014/main" id="{AA00ABAD-9ED5-41F9-8D41-B8C0FB223B47}"/>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2D2BC9AB-B71C-4A34-9AEC-2AF20C5488D7}"/>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2636138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021D9-1C97-446C-A181-0F7637EC6F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h-TH"/>
          </a:p>
        </p:txBody>
      </p:sp>
      <p:sp>
        <p:nvSpPr>
          <p:cNvPr id="3" name="Picture Placeholder 2">
            <a:extLst>
              <a:ext uri="{FF2B5EF4-FFF2-40B4-BE49-F238E27FC236}">
                <a16:creationId xmlns:a16="http://schemas.microsoft.com/office/drawing/2014/main" id="{0A0E48F9-C6FB-4865-A21E-BE150C9320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h-TH"/>
          </a:p>
        </p:txBody>
      </p:sp>
      <p:sp>
        <p:nvSpPr>
          <p:cNvPr id="4" name="Text Placeholder 3">
            <a:extLst>
              <a:ext uri="{FF2B5EF4-FFF2-40B4-BE49-F238E27FC236}">
                <a16:creationId xmlns:a16="http://schemas.microsoft.com/office/drawing/2014/main" id="{4ECA61A1-8C74-4B8B-841C-58FEBDBB34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05FE4D-FC97-406A-9621-01BC1BCB24B5}"/>
              </a:ext>
            </a:extLst>
          </p:cNvPr>
          <p:cNvSpPr>
            <a:spLocks noGrp="1"/>
          </p:cNvSpPr>
          <p:nvPr>
            <p:ph type="dt" sz="half" idx="10"/>
          </p:nvPr>
        </p:nvSpPr>
        <p:spPr/>
        <p:txBody>
          <a:bodyPr/>
          <a:lstStyle/>
          <a:p>
            <a:fld id="{41DB1237-82F3-41AB-8C61-F8D2C1E0FDCB}" type="datetimeFigureOut">
              <a:rPr lang="th-TH" smtClean="0"/>
              <a:t>19/12/68</a:t>
            </a:fld>
            <a:endParaRPr lang="th-TH"/>
          </a:p>
        </p:txBody>
      </p:sp>
      <p:sp>
        <p:nvSpPr>
          <p:cNvPr id="6" name="Footer Placeholder 5">
            <a:extLst>
              <a:ext uri="{FF2B5EF4-FFF2-40B4-BE49-F238E27FC236}">
                <a16:creationId xmlns:a16="http://schemas.microsoft.com/office/drawing/2014/main" id="{AFDD33F6-EB11-4210-9D4E-F08A8FEFC0B4}"/>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2CCB47D7-7733-435D-A359-D2A153631872}"/>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466036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EFA34-B39F-47BF-B2B0-D3DF5AB11313}"/>
              </a:ext>
            </a:extLst>
          </p:cNvPr>
          <p:cNvSpPr>
            <a:spLocks noGrp="1"/>
          </p:cNvSpPr>
          <p:nvPr>
            <p:ph type="title"/>
          </p:nvPr>
        </p:nvSpPr>
        <p:spPr/>
        <p:txBody>
          <a:bodyPr/>
          <a:lstStyle/>
          <a:p>
            <a:r>
              <a:rPr lang="en-US"/>
              <a:t>Click to edit Master title style</a:t>
            </a:r>
            <a:endParaRPr lang="th-TH"/>
          </a:p>
        </p:txBody>
      </p:sp>
      <p:sp>
        <p:nvSpPr>
          <p:cNvPr id="3" name="Vertical Text Placeholder 2">
            <a:extLst>
              <a:ext uri="{FF2B5EF4-FFF2-40B4-BE49-F238E27FC236}">
                <a16:creationId xmlns:a16="http://schemas.microsoft.com/office/drawing/2014/main" id="{C0EB2020-BB21-4CC6-A33C-2A0F8CE9D0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03B08570-F244-49A4-A301-6266F486BE67}"/>
              </a:ext>
            </a:extLst>
          </p:cNvPr>
          <p:cNvSpPr>
            <a:spLocks noGrp="1"/>
          </p:cNvSpPr>
          <p:nvPr>
            <p:ph type="dt" sz="half" idx="10"/>
          </p:nvPr>
        </p:nvSpPr>
        <p:spPr/>
        <p:txBody>
          <a:bodyPr/>
          <a:lstStyle/>
          <a:p>
            <a:fld id="{41DB1237-82F3-41AB-8C61-F8D2C1E0FDCB}" type="datetimeFigureOut">
              <a:rPr lang="th-TH" smtClean="0"/>
              <a:t>19/12/68</a:t>
            </a:fld>
            <a:endParaRPr lang="th-TH"/>
          </a:p>
        </p:txBody>
      </p:sp>
      <p:sp>
        <p:nvSpPr>
          <p:cNvPr id="5" name="Footer Placeholder 4">
            <a:extLst>
              <a:ext uri="{FF2B5EF4-FFF2-40B4-BE49-F238E27FC236}">
                <a16:creationId xmlns:a16="http://schemas.microsoft.com/office/drawing/2014/main" id="{ADAD847F-7F84-46ED-9F96-C4D1D506463D}"/>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958D4326-B282-4EF1-8C8C-F8ED40AF1F88}"/>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2102131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A8AEEC-EE8D-442E-BA35-3F32CF6811D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th-TH"/>
          </a:p>
        </p:txBody>
      </p:sp>
      <p:sp>
        <p:nvSpPr>
          <p:cNvPr id="3" name="Vertical Text Placeholder 2">
            <a:extLst>
              <a:ext uri="{FF2B5EF4-FFF2-40B4-BE49-F238E27FC236}">
                <a16:creationId xmlns:a16="http://schemas.microsoft.com/office/drawing/2014/main" id="{040D9031-A15E-4A14-8D32-E436BEDC8C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03BDBA8D-0A99-4282-BC51-91B64DB229BD}"/>
              </a:ext>
            </a:extLst>
          </p:cNvPr>
          <p:cNvSpPr>
            <a:spLocks noGrp="1"/>
          </p:cNvSpPr>
          <p:nvPr>
            <p:ph type="dt" sz="half" idx="10"/>
          </p:nvPr>
        </p:nvSpPr>
        <p:spPr/>
        <p:txBody>
          <a:bodyPr/>
          <a:lstStyle/>
          <a:p>
            <a:fld id="{41DB1237-82F3-41AB-8C61-F8D2C1E0FDCB}" type="datetimeFigureOut">
              <a:rPr lang="th-TH" smtClean="0"/>
              <a:t>19/12/68</a:t>
            </a:fld>
            <a:endParaRPr lang="th-TH"/>
          </a:p>
        </p:txBody>
      </p:sp>
      <p:sp>
        <p:nvSpPr>
          <p:cNvPr id="5" name="Footer Placeholder 4">
            <a:extLst>
              <a:ext uri="{FF2B5EF4-FFF2-40B4-BE49-F238E27FC236}">
                <a16:creationId xmlns:a16="http://schemas.microsoft.com/office/drawing/2014/main" id="{EF46A43C-789C-4658-84D1-958E13EAB6AC}"/>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B1D5667C-798D-4930-BF1F-B248F5D0C242}"/>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1598510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B63944-606C-4649-9C9F-199983D0C8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th-TH"/>
          </a:p>
        </p:txBody>
      </p:sp>
      <p:sp>
        <p:nvSpPr>
          <p:cNvPr id="3" name="Text Placeholder 2">
            <a:extLst>
              <a:ext uri="{FF2B5EF4-FFF2-40B4-BE49-F238E27FC236}">
                <a16:creationId xmlns:a16="http://schemas.microsoft.com/office/drawing/2014/main" id="{622CEC6E-3A78-4539-9E6E-FA74C019CD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32ED7ED7-F0F1-4DAB-B4F8-561F940735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DB1237-82F3-41AB-8C61-F8D2C1E0FDCB}" type="datetimeFigureOut">
              <a:rPr lang="th-TH" smtClean="0"/>
              <a:t>19/12/68</a:t>
            </a:fld>
            <a:endParaRPr lang="th-TH"/>
          </a:p>
        </p:txBody>
      </p:sp>
      <p:sp>
        <p:nvSpPr>
          <p:cNvPr id="5" name="Footer Placeholder 4">
            <a:extLst>
              <a:ext uri="{FF2B5EF4-FFF2-40B4-BE49-F238E27FC236}">
                <a16:creationId xmlns:a16="http://schemas.microsoft.com/office/drawing/2014/main" id="{D30229C8-B108-462D-8E37-73D87D6A26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h-TH"/>
          </a:p>
        </p:txBody>
      </p:sp>
      <p:sp>
        <p:nvSpPr>
          <p:cNvPr id="6" name="Slide Number Placeholder 5">
            <a:extLst>
              <a:ext uri="{FF2B5EF4-FFF2-40B4-BE49-F238E27FC236}">
                <a16:creationId xmlns:a16="http://schemas.microsoft.com/office/drawing/2014/main" id="{36B7440F-0966-4EB5-8F81-01E9EE7B03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BD73F4-EAC8-4467-9D3A-5C33D6B539A6}" type="slidenum">
              <a:rPr lang="th-TH" smtClean="0"/>
              <a:t>‹#›</a:t>
            </a:fld>
            <a:endParaRPr lang="th-TH"/>
          </a:p>
        </p:txBody>
      </p:sp>
    </p:spTree>
    <p:extLst>
      <p:ext uri="{BB962C8B-B14F-4D97-AF65-F5344CB8AC3E}">
        <p14:creationId xmlns:p14="http://schemas.microsoft.com/office/powerpoint/2010/main" val="8266331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12.jpeg"/><Relationship Id="rId4" Type="http://schemas.openxmlformats.org/officeDocument/2006/relationships/image" Target="../media/image1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8FDF3-D6FD-4A66-8420-92342B1D8C69}"/>
              </a:ext>
            </a:extLst>
          </p:cNvPr>
          <p:cNvSpPr>
            <a:spLocks noGrp="1"/>
          </p:cNvSpPr>
          <p:nvPr>
            <p:ph type="ctrTitle"/>
          </p:nvPr>
        </p:nvSpPr>
        <p:spPr>
          <a:xfrm>
            <a:off x="1524000" y="842964"/>
            <a:ext cx="9144000" cy="3500436"/>
          </a:xfrm>
        </p:spPr>
        <p:txBody>
          <a:bodyPr>
            <a:noAutofit/>
          </a:bodyPr>
          <a:lstStyle/>
          <a:p>
            <a:r>
              <a:rPr lang="en-US" sz="8000" b="1" dirty="0">
                <a:effectLst/>
                <a:latin typeface="TH SarabunPSK" panose="020B0500040200020003" pitchFamily="34" charset="-34"/>
                <a:ea typeface="Angsana New" panose="02020603050405020304" pitchFamily="18" charset="-34"/>
              </a:rPr>
              <a:t>Chapter </a:t>
            </a:r>
            <a:r>
              <a:rPr lang="en-US" sz="8000" b="1" dirty="0">
                <a:latin typeface="TH SarabunPSK" panose="020B0500040200020003" pitchFamily="34" charset="-34"/>
                <a:ea typeface="Angsana New" panose="02020603050405020304" pitchFamily="18" charset="-34"/>
              </a:rPr>
              <a:t>2</a:t>
            </a:r>
            <a:r>
              <a:rPr lang="en-US" sz="8000" b="1" dirty="0">
                <a:effectLst/>
                <a:latin typeface="TH SarabunPSK" panose="020B0500040200020003" pitchFamily="34" charset="-34"/>
                <a:ea typeface="Angsana New" panose="02020603050405020304" pitchFamily="18" charset="-34"/>
              </a:rPr>
              <a:t> </a:t>
            </a:r>
            <a:r>
              <a:rPr lang="en-US" sz="8000" b="1" dirty="0">
                <a:effectLst/>
                <a:latin typeface="TH SarabunPSK" panose="020B0500040200020003" pitchFamily="34" charset="-34"/>
                <a:ea typeface="Calibri" panose="020F0502020204030204" pitchFamily="34" charset="0"/>
              </a:rPr>
              <a:t>Digital landscape </a:t>
            </a:r>
            <a:endParaRPr lang="th-TH" sz="8000" dirty="0"/>
          </a:p>
        </p:txBody>
      </p:sp>
      <p:sp>
        <p:nvSpPr>
          <p:cNvPr id="3" name="Subtitle 2">
            <a:extLst>
              <a:ext uri="{FF2B5EF4-FFF2-40B4-BE49-F238E27FC236}">
                <a16:creationId xmlns:a16="http://schemas.microsoft.com/office/drawing/2014/main" id="{75A61AFC-F987-4AC9-8968-1FD93A1E1DC0}"/>
              </a:ext>
            </a:extLst>
          </p:cNvPr>
          <p:cNvSpPr>
            <a:spLocks noGrp="1"/>
          </p:cNvSpPr>
          <p:nvPr>
            <p:ph type="subTitle" idx="1"/>
          </p:nvPr>
        </p:nvSpPr>
        <p:spPr>
          <a:xfrm>
            <a:off x="1524000" y="4473576"/>
            <a:ext cx="9144000" cy="1655762"/>
          </a:xfrm>
        </p:spPr>
        <p:txBody>
          <a:bodyPr/>
          <a:lstStyle/>
          <a:p>
            <a:r>
              <a:rPr lang="en-US" dirty="0"/>
              <a:t>Assoc. Prof. Dr. </a:t>
            </a:r>
            <a:r>
              <a:rPr lang="en-US" dirty="0" err="1"/>
              <a:t>Thacha</a:t>
            </a:r>
            <a:r>
              <a:rPr lang="en-US" dirty="0"/>
              <a:t> Lawanna</a:t>
            </a:r>
            <a:endParaRPr lang="th-TH" dirty="0"/>
          </a:p>
        </p:txBody>
      </p:sp>
    </p:spTree>
    <p:extLst>
      <p:ext uri="{BB962C8B-B14F-4D97-AF65-F5344CB8AC3E}">
        <p14:creationId xmlns:p14="http://schemas.microsoft.com/office/powerpoint/2010/main" val="2937291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4AD0B0-6419-4728-B809-B8A070E9030D}"/>
              </a:ext>
            </a:extLst>
          </p:cNvPr>
          <p:cNvSpPr txBox="1"/>
          <p:nvPr/>
        </p:nvSpPr>
        <p:spPr>
          <a:xfrm>
            <a:off x="617934" y="429429"/>
            <a:ext cx="11154965" cy="2246769"/>
          </a:xfrm>
          <a:prstGeom prst="rect">
            <a:avLst/>
          </a:prstGeom>
          <a:solidFill>
            <a:schemeClr val="bg1">
              <a:lumMod val="95000"/>
            </a:schemeClr>
          </a:solidFill>
        </p:spPr>
        <p:txBody>
          <a:bodyPr wrap="square">
            <a:spAutoFit/>
          </a:bodyPr>
          <a:lstStyle/>
          <a:p>
            <a:pPr algn="just"/>
            <a:r>
              <a:rPr lang="en-US" b="1" dirty="0"/>
              <a:t>Objective of the Study:</a:t>
            </a:r>
          </a:p>
          <a:p>
            <a:pPr algn="just"/>
            <a:r>
              <a:rPr lang="en-US" dirty="0"/>
              <a:t>To examine the current structure, trends, and technological developments within the digital landscape in order to understand how emerging digital technologies, platforms, and ecosystems shape innovation, user behavior, and organizational transformation.</a:t>
            </a:r>
            <a:endParaRPr lang="th-TH" dirty="0"/>
          </a:p>
        </p:txBody>
      </p:sp>
    </p:spTree>
    <p:extLst>
      <p:ext uri="{BB962C8B-B14F-4D97-AF65-F5344CB8AC3E}">
        <p14:creationId xmlns:p14="http://schemas.microsoft.com/office/powerpoint/2010/main" val="17310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6C71140-58FD-4F9E-AC73-BDC37919DABA}"/>
              </a:ext>
            </a:extLst>
          </p:cNvPr>
          <p:cNvSpPr txBox="1"/>
          <p:nvPr/>
        </p:nvSpPr>
        <p:spPr>
          <a:xfrm>
            <a:off x="628235" y="442597"/>
            <a:ext cx="3943765" cy="4401205"/>
          </a:xfrm>
          <a:prstGeom prst="rect">
            <a:avLst/>
          </a:prstGeom>
          <a:noFill/>
          <a:ln>
            <a:solidFill>
              <a:schemeClr val="tx1"/>
            </a:solidFill>
          </a:ln>
        </p:spPr>
        <p:txBody>
          <a:bodyPr wrap="square">
            <a:spAutoFit/>
          </a:bodyPr>
          <a:lstStyle/>
          <a:p>
            <a:pPr algn="just"/>
            <a:r>
              <a:rPr lang="en-GB" sz="2000" b="1" dirty="0"/>
              <a:t>1. Digital Ecosystems</a:t>
            </a:r>
          </a:p>
          <a:p>
            <a:pPr algn="just"/>
            <a:r>
              <a:rPr lang="en-GB" sz="2000" dirty="0"/>
              <a:t>Digital ecosystems refer to </a:t>
            </a:r>
            <a:r>
              <a:rPr lang="en-GB" sz="2000" dirty="0">
                <a:solidFill>
                  <a:srgbClr val="FF0000"/>
                </a:solidFill>
              </a:rPr>
              <a:t>interconnected platforms</a:t>
            </a:r>
            <a:r>
              <a:rPr lang="en-GB" sz="2000" dirty="0"/>
              <a:t>, </a:t>
            </a:r>
            <a:r>
              <a:rPr lang="en-GB" sz="2000" u="sng" dirty="0"/>
              <a:t>technologies, users, and services </a:t>
            </a:r>
            <a:r>
              <a:rPr lang="en-GB" sz="2000" dirty="0"/>
              <a:t>that interact to create value. These ecosystems enable seamless data exchange, cross-platform collaboration, and innovation. Understanding their structure helps explain how digital businesses scale, how stakeholders interact, and how network effects strengthen competitive advantages in rapidly evolving digital environments.</a:t>
            </a:r>
          </a:p>
        </p:txBody>
      </p:sp>
      <p:pic>
        <p:nvPicPr>
          <p:cNvPr id="2" name="Picture 1">
            <a:extLst>
              <a:ext uri="{FF2B5EF4-FFF2-40B4-BE49-F238E27FC236}">
                <a16:creationId xmlns:a16="http://schemas.microsoft.com/office/drawing/2014/main" id="{693005C2-5CB1-4867-9417-7C98CF92CB24}"/>
              </a:ext>
            </a:extLst>
          </p:cNvPr>
          <p:cNvPicPr>
            <a:picLocks noChangeAspect="1"/>
          </p:cNvPicPr>
          <p:nvPr/>
        </p:nvPicPr>
        <p:blipFill>
          <a:blip r:embed="rId2"/>
          <a:stretch>
            <a:fillRect/>
          </a:stretch>
        </p:blipFill>
        <p:spPr>
          <a:xfrm>
            <a:off x="4710300" y="442596"/>
            <a:ext cx="6853465" cy="4929503"/>
          </a:xfrm>
          <a:prstGeom prst="rect">
            <a:avLst/>
          </a:prstGeom>
          <a:ln>
            <a:solidFill>
              <a:schemeClr val="tx1"/>
            </a:solidFill>
          </a:ln>
        </p:spPr>
      </p:pic>
    </p:spTree>
    <p:extLst>
      <p:ext uri="{BB962C8B-B14F-4D97-AF65-F5344CB8AC3E}">
        <p14:creationId xmlns:p14="http://schemas.microsoft.com/office/powerpoint/2010/main" val="3712602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4AD0B0-6419-4728-B809-B8A070E9030D}"/>
              </a:ext>
            </a:extLst>
          </p:cNvPr>
          <p:cNvSpPr txBox="1"/>
          <p:nvPr/>
        </p:nvSpPr>
        <p:spPr>
          <a:xfrm>
            <a:off x="617934" y="429429"/>
            <a:ext cx="11154965" cy="2677656"/>
          </a:xfrm>
          <a:prstGeom prst="rect">
            <a:avLst/>
          </a:prstGeom>
          <a:solidFill>
            <a:schemeClr val="bg1">
              <a:lumMod val="95000"/>
            </a:schemeClr>
          </a:solidFill>
        </p:spPr>
        <p:txBody>
          <a:bodyPr wrap="square">
            <a:spAutoFit/>
          </a:bodyPr>
          <a:lstStyle/>
          <a:p>
            <a:pPr algn="just"/>
            <a:r>
              <a:rPr lang="en-US" b="1" dirty="0"/>
              <a:t>Design </a:t>
            </a:r>
            <a:r>
              <a:rPr lang="en-GB" sz="2800" b="1" dirty="0"/>
              <a:t>Digital Ecosystems for Health Care, Education or E-Commerce System</a:t>
            </a:r>
            <a:r>
              <a:rPr lang="en-US" b="1" dirty="0"/>
              <a:t>:</a:t>
            </a:r>
          </a:p>
          <a:p>
            <a:pPr marL="514350" indent="-514350" algn="just">
              <a:buAutoNum type="arabicPeriod"/>
            </a:pPr>
            <a:r>
              <a:rPr lang="en-US" b="1" dirty="0"/>
              <a:t>Give Definition</a:t>
            </a:r>
          </a:p>
          <a:p>
            <a:pPr marL="514350" indent="-514350" algn="just">
              <a:buAutoNum type="arabicPeriod"/>
            </a:pPr>
            <a:r>
              <a:rPr lang="en-US" b="1" dirty="0"/>
              <a:t>Background</a:t>
            </a:r>
          </a:p>
          <a:p>
            <a:pPr marL="514350" indent="-514350" algn="just">
              <a:buAutoNum type="arabicPeriod"/>
            </a:pPr>
            <a:r>
              <a:rPr lang="en-US" b="1" dirty="0"/>
              <a:t>Concept (Diagram)</a:t>
            </a:r>
          </a:p>
          <a:p>
            <a:pPr marL="514350" indent="-514350" algn="just">
              <a:buAutoNum type="arabicPeriod"/>
            </a:pPr>
            <a:r>
              <a:rPr lang="en-US" b="1" dirty="0"/>
              <a:t>Explain digitalization in such system</a:t>
            </a:r>
          </a:p>
        </p:txBody>
      </p:sp>
    </p:spTree>
    <p:extLst>
      <p:ext uri="{BB962C8B-B14F-4D97-AF65-F5344CB8AC3E}">
        <p14:creationId xmlns:p14="http://schemas.microsoft.com/office/powerpoint/2010/main" val="2051812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EC9D55-3AA8-404D-8813-64E5BA290207}"/>
              </a:ext>
            </a:extLst>
          </p:cNvPr>
          <p:cNvSpPr txBox="1"/>
          <p:nvPr/>
        </p:nvSpPr>
        <p:spPr>
          <a:xfrm>
            <a:off x="477441" y="385434"/>
            <a:ext cx="3337322" cy="5016758"/>
          </a:xfrm>
          <a:prstGeom prst="rect">
            <a:avLst/>
          </a:prstGeom>
          <a:noFill/>
          <a:ln>
            <a:solidFill>
              <a:schemeClr val="tx1"/>
            </a:solidFill>
          </a:ln>
        </p:spPr>
        <p:txBody>
          <a:bodyPr wrap="square">
            <a:spAutoFit/>
          </a:bodyPr>
          <a:lstStyle/>
          <a:p>
            <a:pPr algn="just"/>
            <a:r>
              <a:rPr lang="en-US" sz="2000" b="1" dirty="0"/>
              <a:t>2. Cloud Computing Infrastructure</a:t>
            </a:r>
          </a:p>
          <a:p>
            <a:pPr algn="just"/>
            <a:r>
              <a:rPr lang="en-US" sz="2000" dirty="0"/>
              <a:t>Cloud computing provides scalable, on-demand access to computing resources such as storage, processing power, and applications. It enables organizations to reduce costs, improve flexibility, and accelerate digital transformation. Cloud platforms support modern services like AI, data analytics, and IoT, becoming a fundamental backbone of global digital operations.</a:t>
            </a:r>
          </a:p>
        </p:txBody>
      </p:sp>
      <p:pic>
        <p:nvPicPr>
          <p:cNvPr id="2" name="Picture 1">
            <a:extLst>
              <a:ext uri="{FF2B5EF4-FFF2-40B4-BE49-F238E27FC236}">
                <a16:creationId xmlns:a16="http://schemas.microsoft.com/office/drawing/2014/main" id="{5139941F-956E-40FD-A3D2-9A9F382E9549}"/>
              </a:ext>
            </a:extLst>
          </p:cNvPr>
          <p:cNvPicPr>
            <a:picLocks noChangeAspect="1"/>
          </p:cNvPicPr>
          <p:nvPr/>
        </p:nvPicPr>
        <p:blipFill>
          <a:blip r:embed="rId2"/>
          <a:stretch>
            <a:fillRect/>
          </a:stretch>
        </p:blipFill>
        <p:spPr>
          <a:xfrm>
            <a:off x="4038095" y="385433"/>
            <a:ext cx="7897957" cy="4786641"/>
          </a:xfrm>
          <a:prstGeom prst="rect">
            <a:avLst/>
          </a:prstGeom>
          <a:ln>
            <a:solidFill>
              <a:schemeClr val="tx1"/>
            </a:solidFill>
          </a:ln>
        </p:spPr>
      </p:pic>
    </p:spTree>
    <p:extLst>
      <p:ext uri="{BB962C8B-B14F-4D97-AF65-F5344CB8AC3E}">
        <p14:creationId xmlns:p14="http://schemas.microsoft.com/office/powerpoint/2010/main" val="545943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BBA756-B518-46D6-9789-034E11DDEE6B}"/>
              </a:ext>
            </a:extLst>
          </p:cNvPr>
          <p:cNvSpPr txBox="1"/>
          <p:nvPr/>
        </p:nvSpPr>
        <p:spPr>
          <a:xfrm>
            <a:off x="417910" y="398591"/>
            <a:ext cx="3754040" cy="4093428"/>
          </a:xfrm>
          <a:prstGeom prst="rect">
            <a:avLst/>
          </a:prstGeom>
          <a:noFill/>
          <a:ln>
            <a:solidFill>
              <a:schemeClr val="tx1"/>
            </a:solidFill>
          </a:ln>
        </p:spPr>
        <p:txBody>
          <a:bodyPr wrap="square">
            <a:spAutoFit/>
          </a:bodyPr>
          <a:lstStyle/>
          <a:p>
            <a:pPr algn="just"/>
            <a:r>
              <a:rPr lang="en-US" sz="2000" b="1" dirty="0"/>
              <a:t>3. Mobile-First Digital Behavior</a:t>
            </a:r>
          </a:p>
          <a:p>
            <a:pPr algn="just"/>
            <a:r>
              <a:rPr lang="en-US" sz="2000" dirty="0"/>
              <a:t>Mobile-first behavior reflects the dominance of smartphones as the primary digital access point for </a:t>
            </a:r>
            <a:r>
              <a:rPr lang="en-US" sz="2000" dirty="0">
                <a:solidFill>
                  <a:srgbClr val="FF0000"/>
                </a:solidFill>
              </a:rPr>
              <a:t>communication, commerce, and entertainment</a:t>
            </a:r>
            <a:r>
              <a:rPr lang="en-US" sz="2000" dirty="0"/>
              <a:t>. This shift drives companies to design mobile-optimized platforms, apps, and services. It influences user expectations for speed, convenience, personalization, and seamless interaction across digital channels.</a:t>
            </a:r>
          </a:p>
        </p:txBody>
      </p:sp>
      <p:pic>
        <p:nvPicPr>
          <p:cNvPr id="1026" name="Picture 2" descr="Mobile-First vs Desktop-First ...">
            <a:extLst>
              <a:ext uri="{FF2B5EF4-FFF2-40B4-BE49-F238E27FC236}">
                <a16:creationId xmlns:a16="http://schemas.microsoft.com/office/drawing/2014/main" id="{6F74DAA7-BDFA-45F6-96B3-63C0DAEEC4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3413" y="398591"/>
            <a:ext cx="6390296" cy="4093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2095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C2F0F8-27BF-4B01-9C36-99D0415FE4D7}"/>
              </a:ext>
            </a:extLst>
          </p:cNvPr>
          <p:cNvSpPr txBox="1"/>
          <p:nvPr/>
        </p:nvSpPr>
        <p:spPr>
          <a:xfrm>
            <a:off x="489348" y="384304"/>
            <a:ext cx="3668315" cy="5016758"/>
          </a:xfrm>
          <a:prstGeom prst="rect">
            <a:avLst/>
          </a:prstGeom>
          <a:noFill/>
          <a:ln>
            <a:solidFill>
              <a:schemeClr val="tx1"/>
            </a:solidFill>
          </a:ln>
        </p:spPr>
        <p:txBody>
          <a:bodyPr wrap="square">
            <a:spAutoFit/>
          </a:bodyPr>
          <a:lstStyle/>
          <a:p>
            <a:pPr algn="just"/>
            <a:r>
              <a:rPr lang="en-GB" sz="2000" b="1" dirty="0"/>
              <a:t>4. Social Media as a </a:t>
            </a:r>
            <a:r>
              <a:rPr lang="en-GB" sz="2000" b="1" dirty="0">
                <a:solidFill>
                  <a:srgbClr val="FF0000"/>
                </a:solidFill>
              </a:rPr>
              <a:t>Digital Infrastructure</a:t>
            </a:r>
          </a:p>
          <a:p>
            <a:pPr algn="just"/>
            <a:r>
              <a:rPr lang="en-GB" sz="2000" dirty="0"/>
              <a:t>Social media platforms have evolved beyond communication tools into digital infrastructures supporting marketing, commerce, information exchange, and community building. Their algorithms shape user experiences, influence </a:t>
            </a:r>
            <a:r>
              <a:rPr lang="en-GB" sz="2000" dirty="0" err="1"/>
              <a:t>behavior</a:t>
            </a:r>
            <a:r>
              <a:rPr lang="en-GB" sz="2000" dirty="0"/>
              <a:t>, and drive engagement. Understanding these platforms is essential to </a:t>
            </a:r>
            <a:r>
              <a:rPr lang="en-GB" sz="2000" dirty="0" err="1"/>
              <a:t>analyze</a:t>
            </a:r>
            <a:r>
              <a:rPr lang="en-GB" sz="2000" dirty="0"/>
              <a:t> digital trends, consumer patterns, and the spread of digital culture globally.</a:t>
            </a:r>
          </a:p>
        </p:txBody>
      </p:sp>
      <p:pic>
        <p:nvPicPr>
          <p:cNvPr id="2" name="Picture 1">
            <a:extLst>
              <a:ext uri="{FF2B5EF4-FFF2-40B4-BE49-F238E27FC236}">
                <a16:creationId xmlns:a16="http://schemas.microsoft.com/office/drawing/2014/main" id="{32EDDD4B-BE39-4727-8440-931C04F4EB36}"/>
              </a:ext>
            </a:extLst>
          </p:cNvPr>
          <p:cNvPicPr>
            <a:picLocks noChangeAspect="1"/>
          </p:cNvPicPr>
          <p:nvPr/>
        </p:nvPicPr>
        <p:blipFill>
          <a:blip r:embed="rId2"/>
          <a:stretch>
            <a:fillRect/>
          </a:stretch>
        </p:blipFill>
        <p:spPr>
          <a:xfrm>
            <a:off x="4407324" y="384304"/>
            <a:ext cx="7519214" cy="2701796"/>
          </a:xfrm>
          <a:prstGeom prst="rect">
            <a:avLst/>
          </a:prstGeom>
          <a:ln>
            <a:solidFill>
              <a:schemeClr val="tx1"/>
            </a:solidFill>
          </a:ln>
        </p:spPr>
      </p:pic>
      <p:pic>
        <p:nvPicPr>
          <p:cNvPr id="2050" name="Picture 2" descr="Digital Infrastructure: Definition and Why It's Important to Protect Your Company's Digital Infrastructure">
            <a:extLst>
              <a:ext uri="{FF2B5EF4-FFF2-40B4-BE49-F238E27FC236}">
                <a16:creationId xmlns:a16="http://schemas.microsoft.com/office/drawing/2014/main" id="{F5A53201-DFF4-4ED2-AE12-8690D77612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5681" y="3257549"/>
            <a:ext cx="4762500" cy="2676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9645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4AD0B0-6419-4728-B809-B8A070E9030D}"/>
              </a:ext>
            </a:extLst>
          </p:cNvPr>
          <p:cNvSpPr txBox="1"/>
          <p:nvPr/>
        </p:nvSpPr>
        <p:spPr>
          <a:xfrm>
            <a:off x="617934" y="429429"/>
            <a:ext cx="11154965" cy="2246769"/>
          </a:xfrm>
          <a:prstGeom prst="rect">
            <a:avLst/>
          </a:prstGeom>
          <a:solidFill>
            <a:schemeClr val="bg1">
              <a:lumMod val="95000"/>
            </a:schemeClr>
          </a:solidFill>
        </p:spPr>
        <p:txBody>
          <a:bodyPr wrap="square">
            <a:spAutoFit/>
          </a:bodyPr>
          <a:lstStyle/>
          <a:p>
            <a:pPr algn="just"/>
            <a:r>
              <a:rPr lang="en-US" b="1" dirty="0"/>
              <a:t>Using </a:t>
            </a:r>
            <a:r>
              <a:rPr lang="en-GB" sz="2800" b="1" dirty="0"/>
              <a:t>Social Media (Commerce) for Online Business</a:t>
            </a:r>
            <a:r>
              <a:rPr lang="en-US" b="1" dirty="0"/>
              <a:t>:</a:t>
            </a:r>
          </a:p>
          <a:p>
            <a:pPr marL="514350" indent="-514350" algn="just">
              <a:buFontTx/>
              <a:buAutoNum type="arabicPeriod"/>
            </a:pPr>
            <a:r>
              <a:rPr lang="en-US" b="1" dirty="0"/>
              <a:t>Business Idea (Flowchart(if any))</a:t>
            </a:r>
          </a:p>
          <a:p>
            <a:pPr marL="514350" indent="-514350" algn="just">
              <a:buAutoNum type="arabicPeriod"/>
            </a:pPr>
            <a:r>
              <a:rPr lang="en-US" b="1" dirty="0"/>
              <a:t>Product + Customer</a:t>
            </a:r>
          </a:p>
          <a:p>
            <a:pPr marL="514350" indent="-514350" algn="just">
              <a:buAutoNum type="arabicPeriod"/>
            </a:pPr>
            <a:r>
              <a:rPr lang="en-US" b="1" dirty="0"/>
              <a:t>Business Plan (Flowchart)</a:t>
            </a:r>
          </a:p>
          <a:p>
            <a:pPr marL="514350" indent="-514350" algn="just">
              <a:buFontTx/>
              <a:buAutoNum type="arabicPeriod"/>
            </a:pPr>
            <a:r>
              <a:rPr lang="en-US" b="1" dirty="0"/>
              <a:t>Business Run (Flowchart)</a:t>
            </a:r>
          </a:p>
        </p:txBody>
      </p:sp>
    </p:spTree>
    <p:extLst>
      <p:ext uri="{BB962C8B-B14F-4D97-AF65-F5344CB8AC3E}">
        <p14:creationId xmlns:p14="http://schemas.microsoft.com/office/powerpoint/2010/main" val="3210030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E182BA-9AD6-459A-B99C-8195E7611C40}"/>
              </a:ext>
            </a:extLst>
          </p:cNvPr>
          <p:cNvSpPr txBox="1"/>
          <p:nvPr/>
        </p:nvSpPr>
        <p:spPr>
          <a:xfrm>
            <a:off x="660798" y="555754"/>
            <a:ext cx="3625452" cy="4093428"/>
          </a:xfrm>
          <a:prstGeom prst="rect">
            <a:avLst/>
          </a:prstGeom>
          <a:noFill/>
          <a:ln>
            <a:solidFill>
              <a:schemeClr val="tx1"/>
            </a:solidFill>
          </a:ln>
        </p:spPr>
        <p:txBody>
          <a:bodyPr wrap="square">
            <a:spAutoFit/>
          </a:bodyPr>
          <a:lstStyle/>
          <a:p>
            <a:pPr algn="just"/>
            <a:r>
              <a:rPr lang="en-US" sz="2000" b="1" dirty="0"/>
              <a:t>5. Data-Driven Decision Making</a:t>
            </a:r>
          </a:p>
          <a:p>
            <a:pPr algn="just"/>
            <a:r>
              <a:rPr lang="en-US" sz="2000" dirty="0"/>
              <a:t>Data-driven decision making involves </a:t>
            </a:r>
            <a:r>
              <a:rPr lang="en-US" sz="2000" dirty="0">
                <a:solidFill>
                  <a:srgbClr val="FF0000"/>
                </a:solidFill>
              </a:rPr>
              <a:t>using big data, analytics, and machine learning </a:t>
            </a:r>
            <a:r>
              <a:rPr lang="en-US" sz="2000" dirty="0"/>
              <a:t>to guide strategic choices. Organizations rely on real-time insights to optimize operations, improve customer experiences, and identify emerging trends. This approach enhances accuracy, reduces uncertainty, and supports digital innovation across industries.</a:t>
            </a:r>
          </a:p>
        </p:txBody>
      </p:sp>
      <p:pic>
        <p:nvPicPr>
          <p:cNvPr id="3074" name="Picture 2">
            <a:extLst>
              <a:ext uri="{FF2B5EF4-FFF2-40B4-BE49-F238E27FC236}">
                <a16:creationId xmlns:a16="http://schemas.microsoft.com/office/drawing/2014/main" id="{5E448B07-1E1A-4BCE-8640-C763B5D1B9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6812" y="555754"/>
            <a:ext cx="6096000" cy="55245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1413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4098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429F58-E6C4-465C-8BD4-906BE64AC4FA}"/>
              </a:ext>
            </a:extLst>
          </p:cNvPr>
          <p:cNvSpPr txBox="1"/>
          <p:nvPr/>
        </p:nvSpPr>
        <p:spPr>
          <a:xfrm>
            <a:off x="503635" y="398591"/>
            <a:ext cx="4011215" cy="3477875"/>
          </a:xfrm>
          <a:prstGeom prst="rect">
            <a:avLst/>
          </a:prstGeom>
          <a:noFill/>
          <a:ln>
            <a:solidFill>
              <a:schemeClr val="tx1"/>
            </a:solidFill>
          </a:ln>
        </p:spPr>
        <p:txBody>
          <a:bodyPr wrap="square">
            <a:spAutoFit/>
          </a:bodyPr>
          <a:lstStyle/>
          <a:p>
            <a:pPr algn="just"/>
            <a:r>
              <a:rPr lang="en-US" sz="2000" b="1" dirty="0"/>
              <a:t>6. Artificial Intelligence Integration</a:t>
            </a:r>
          </a:p>
          <a:p>
            <a:pPr algn="just"/>
            <a:r>
              <a:rPr lang="en-US" sz="2000" dirty="0"/>
              <a:t>AI integration refers to embedding AI capabilities—such as </a:t>
            </a:r>
            <a:r>
              <a:rPr lang="en-US" sz="2000" dirty="0">
                <a:solidFill>
                  <a:srgbClr val="FF0000"/>
                </a:solidFill>
              </a:rPr>
              <a:t>automation, prediction, and personalization—into digital systems and services</a:t>
            </a:r>
            <a:r>
              <a:rPr lang="en-US" sz="2000" dirty="0"/>
              <a:t>. It transforms business processes, enhances efficiency, and enables intelligent customer interactions. AI drives competitiveness in the digital era by enabling smarter decision-making and innovation.</a:t>
            </a:r>
          </a:p>
        </p:txBody>
      </p:sp>
      <p:pic>
        <p:nvPicPr>
          <p:cNvPr id="4098" name="Picture 2" descr="AI integration Trends">
            <a:extLst>
              <a:ext uri="{FF2B5EF4-FFF2-40B4-BE49-F238E27FC236}">
                <a16:creationId xmlns:a16="http://schemas.microsoft.com/office/drawing/2014/main" id="{4F417612-AF01-4EA7-ADF2-690E998F46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14888" y="398591"/>
            <a:ext cx="7167268" cy="403053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7954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4AD0B0-6419-4728-B809-B8A070E9030D}"/>
              </a:ext>
            </a:extLst>
          </p:cNvPr>
          <p:cNvSpPr txBox="1"/>
          <p:nvPr/>
        </p:nvSpPr>
        <p:spPr>
          <a:xfrm>
            <a:off x="617934" y="429429"/>
            <a:ext cx="11154965" cy="2246769"/>
          </a:xfrm>
          <a:prstGeom prst="rect">
            <a:avLst/>
          </a:prstGeom>
          <a:solidFill>
            <a:schemeClr val="bg1">
              <a:lumMod val="95000"/>
            </a:schemeClr>
          </a:solidFill>
        </p:spPr>
        <p:txBody>
          <a:bodyPr wrap="square">
            <a:spAutoFit/>
          </a:bodyPr>
          <a:lstStyle/>
          <a:p>
            <a:pPr algn="just"/>
            <a:r>
              <a:rPr lang="en-US" b="1" dirty="0"/>
              <a:t>Design </a:t>
            </a:r>
            <a:r>
              <a:rPr lang="en-US" sz="2800" b="1" dirty="0"/>
              <a:t>Artificial Intelligence Integration for digital marketing</a:t>
            </a:r>
            <a:r>
              <a:rPr lang="en-US" b="1" dirty="0"/>
              <a:t>:</a:t>
            </a:r>
          </a:p>
          <a:p>
            <a:pPr marL="514350" indent="-514350" algn="just">
              <a:buFontTx/>
              <a:buAutoNum type="arabicPeriod"/>
            </a:pPr>
            <a:r>
              <a:rPr lang="en-US" b="1" dirty="0"/>
              <a:t>Choose any company (one)</a:t>
            </a:r>
          </a:p>
          <a:p>
            <a:pPr marL="514350" indent="-514350" algn="just">
              <a:buAutoNum type="arabicPeriod"/>
            </a:pPr>
            <a:r>
              <a:rPr lang="en-US" b="1" dirty="0"/>
              <a:t>Explain old marketing they use</a:t>
            </a:r>
          </a:p>
          <a:p>
            <a:pPr marL="514350" indent="-514350" algn="just">
              <a:buAutoNum type="arabicPeriod"/>
            </a:pPr>
            <a:r>
              <a:rPr lang="en-US" b="1" dirty="0"/>
              <a:t>Propose your AI-Marketing (</a:t>
            </a:r>
            <a:r>
              <a:rPr lang="en-US" b="1" dirty="0" err="1"/>
              <a:t>Flowchart+pics</a:t>
            </a:r>
            <a:r>
              <a:rPr lang="en-US" b="1" dirty="0"/>
              <a:t>)</a:t>
            </a:r>
          </a:p>
          <a:p>
            <a:pPr marL="514350" indent="-514350" algn="just">
              <a:buFontTx/>
              <a:buAutoNum type="arabicPeriod"/>
            </a:pPr>
            <a:r>
              <a:rPr lang="en-US" b="1" dirty="0"/>
              <a:t>Give expectations</a:t>
            </a:r>
          </a:p>
        </p:txBody>
      </p:sp>
      <p:sp>
        <p:nvSpPr>
          <p:cNvPr id="10" name="TextBox 9">
            <a:extLst>
              <a:ext uri="{FF2B5EF4-FFF2-40B4-BE49-F238E27FC236}">
                <a16:creationId xmlns:a16="http://schemas.microsoft.com/office/drawing/2014/main" id="{4DD72822-CAD8-4CD2-B8E3-037EDB03DDBF}"/>
              </a:ext>
            </a:extLst>
          </p:cNvPr>
          <p:cNvSpPr txBox="1"/>
          <p:nvPr/>
        </p:nvSpPr>
        <p:spPr>
          <a:xfrm>
            <a:off x="518516" y="3693766"/>
            <a:ext cx="11040072" cy="523220"/>
          </a:xfrm>
          <a:prstGeom prst="rect">
            <a:avLst/>
          </a:prstGeom>
          <a:noFill/>
        </p:spPr>
        <p:txBody>
          <a:bodyPr wrap="square">
            <a:spAutoFit/>
          </a:bodyPr>
          <a:lstStyle/>
          <a:p>
            <a:r>
              <a:rPr lang="th-TH" dirty="0"/>
              <a:t>https://www.youtube.com/watch?v=kQcq3rpne78</a:t>
            </a:r>
          </a:p>
        </p:txBody>
      </p:sp>
      <p:sp>
        <p:nvSpPr>
          <p:cNvPr id="8" name="TextBox 7">
            <a:extLst>
              <a:ext uri="{FF2B5EF4-FFF2-40B4-BE49-F238E27FC236}">
                <a16:creationId xmlns:a16="http://schemas.microsoft.com/office/drawing/2014/main" id="{CF7E737A-EFD3-4F12-9515-825DD22F1AAC}"/>
              </a:ext>
            </a:extLst>
          </p:cNvPr>
          <p:cNvSpPr txBox="1"/>
          <p:nvPr/>
        </p:nvSpPr>
        <p:spPr>
          <a:xfrm>
            <a:off x="518516" y="4679603"/>
            <a:ext cx="11154965" cy="523220"/>
          </a:xfrm>
          <a:prstGeom prst="rect">
            <a:avLst/>
          </a:prstGeom>
          <a:noFill/>
        </p:spPr>
        <p:txBody>
          <a:bodyPr wrap="square">
            <a:spAutoFit/>
          </a:bodyPr>
          <a:lstStyle/>
          <a:p>
            <a:r>
              <a:rPr lang="th-TH" dirty="0"/>
              <a:t>https://www.youtube.com/watch?v=s8AmkizQ39s</a:t>
            </a:r>
          </a:p>
        </p:txBody>
      </p:sp>
    </p:spTree>
    <p:extLst>
      <p:ext uri="{BB962C8B-B14F-4D97-AF65-F5344CB8AC3E}">
        <p14:creationId xmlns:p14="http://schemas.microsoft.com/office/powerpoint/2010/main" val="7250933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FDDFAB-BCD1-48AE-B4EB-5C562CA462C3}"/>
              </a:ext>
            </a:extLst>
          </p:cNvPr>
          <p:cNvSpPr txBox="1"/>
          <p:nvPr/>
        </p:nvSpPr>
        <p:spPr>
          <a:xfrm>
            <a:off x="703660" y="512892"/>
            <a:ext cx="3882628" cy="3785652"/>
          </a:xfrm>
          <a:prstGeom prst="rect">
            <a:avLst/>
          </a:prstGeom>
          <a:noFill/>
          <a:ln>
            <a:solidFill>
              <a:schemeClr val="tx1"/>
            </a:solidFill>
          </a:ln>
        </p:spPr>
        <p:txBody>
          <a:bodyPr wrap="square">
            <a:spAutoFit/>
          </a:bodyPr>
          <a:lstStyle/>
          <a:p>
            <a:pPr algn="just"/>
            <a:r>
              <a:rPr lang="en-US" sz="2000" b="1" dirty="0"/>
              <a:t>7. Cybersecurity in the Digital Era</a:t>
            </a:r>
          </a:p>
          <a:p>
            <a:pPr algn="just"/>
            <a:r>
              <a:rPr lang="en-US" sz="2000" dirty="0"/>
              <a:t>Cybersecurity involves </a:t>
            </a:r>
            <a:r>
              <a:rPr lang="en-US" sz="2000" dirty="0">
                <a:solidFill>
                  <a:srgbClr val="FF0000"/>
                </a:solidFill>
              </a:rPr>
              <a:t>protecting digital systems, networks, and data </a:t>
            </a:r>
            <a:r>
              <a:rPr lang="en-US" sz="2000" dirty="0"/>
              <a:t>from attacks and unauthorized access. As digital operations expand, risks such as hacking, data breaches, and ransomware grow. Effective cybersecurity frameworks ensure trust, safeguard assets, and maintain operational stability in increasingly interconnected environments.</a:t>
            </a:r>
          </a:p>
        </p:txBody>
      </p:sp>
      <p:pic>
        <p:nvPicPr>
          <p:cNvPr id="5122" name="Picture 2" descr="What is Cybersecurity? Everything You ...">
            <a:extLst>
              <a:ext uri="{FF2B5EF4-FFF2-40B4-BE49-F238E27FC236}">
                <a16:creationId xmlns:a16="http://schemas.microsoft.com/office/drawing/2014/main" id="{AF8A0EF6-2259-42DB-9C68-3D5D379DDD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7750" y="512892"/>
            <a:ext cx="7068812" cy="31161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755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BA0F8A-4478-48E0-94C5-CA6249682BE5}"/>
              </a:ext>
            </a:extLst>
          </p:cNvPr>
          <p:cNvSpPr txBox="1"/>
          <p:nvPr/>
        </p:nvSpPr>
        <p:spPr>
          <a:xfrm>
            <a:off x="406003" y="511760"/>
            <a:ext cx="3808810" cy="3785652"/>
          </a:xfrm>
          <a:prstGeom prst="rect">
            <a:avLst/>
          </a:prstGeom>
          <a:noFill/>
          <a:ln>
            <a:solidFill>
              <a:schemeClr val="tx1"/>
            </a:solidFill>
          </a:ln>
        </p:spPr>
        <p:txBody>
          <a:bodyPr wrap="square">
            <a:spAutoFit/>
          </a:bodyPr>
          <a:lstStyle/>
          <a:p>
            <a:pPr algn="just"/>
            <a:r>
              <a:rPr lang="en-US" sz="2000" b="1" dirty="0"/>
              <a:t>8. Digital Payment Innovations</a:t>
            </a:r>
          </a:p>
          <a:p>
            <a:pPr algn="just"/>
            <a:r>
              <a:rPr lang="en-US" sz="2000" dirty="0"/>
              <a:t>Digital payment innovations include mobile wallets, QR payments, blockchain, and contactless technologies. These solutions offer convenience, speed, and security, transforming financial services. They support e-commerce growth, expand financial inclusion, and redefine customer expectations in both developed and emerging markets.</a:t>
            </a:r>
          </a:p>
        </p:txBody>
      </p:sp>
      <p:pic>
        <p:nvPicPr>
          <p:cNvPr id="6146" name="Picture 2" descr="Leveraging Digital Payment Innovations ...">
            <a:extLst>
              <a:ext uri="{FF2B5EF4-FFF2-40B4-BE49-F238E27FC236}">
                <a16:creationId xmlns:a16="http://schemas.microsoft.com/office/drawing/2014/main" id="{EE2A9BEE-E2A5-4B42-BFF2-4CBC076597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0100" y="511760"/>
            <a:ext cx="2628900" cy="174307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Impact of Digital Payment Innovations ...">
            <a:extLst>
              <a:ext uri="{FF2B5EF4-FFF2-40B4-BE49-F238E27FC236}">
                <a16:creationId xmlns:a16="http://schemas.microsoft.com/office/drawing/2014/main" id="{4499FA11-1F90-4C58-8CD8-DB1712288E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0100" y="2614612"/>
            <a:ext cx="2809875" cy="1628775"/>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2023: The year of payments innovation">
            <a:extLst>
              <a:ext uri="{FF2B5EF4-FFF2-40B4-BE49-F238E27FC236}">
                <a16:creationId xmlns:a16="http://schemas.microsoft.com/office/drawing/2014/main" id="{688052C1-F07C-4815-A19A-B7947AFE65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33899" y="4603164"/>
            <a:ext cx="2962275" cy="1543050"/>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Digital Payment Providers ...">
            <a:extLst>
              <a:ext uri="{FF2B5EF4-FFF2-40B4-BE49-F238E27FC236}">
                <a16:creationId xmlns:a16="http://schemas.microsoft.com/office/drawing/2014/main" id="{D24482C4-E11F-4C4A-99DE-82F5D2858C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77189" y="511760"/>
            <a:ext cx="2619375" cy="1743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6813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4AD0B0-6419-4728-B809-B8A070E9030D}"/>
              </a:ext>
            </a:extLst>
          </p:cNvPr>
          <p:cNvSpPr txBox="1"/>
          <p:nvPr/>
        </p:nvSpPr>
        <p:spPr>
          <a:xfrm>
            <a:off x="518517" y="486579"/>
            <a:ext cx="11154965" cy="2677656"/>
          </a:xfrm>
          <a:prstGeom prst="rect">
            <a:avLst/>
          </a:prstGeom>
          <a:solidFill>
            <a:schemeClr val="bg1">
              <a:lumMod val="95000"/>
            </a:schemeClr>
          </a:solidFill>
        </p:spPr>
        <p:txBody>
          <a:bodyPr wrap="square">
            <a:spAutoFit/>
          </a:bodyPr>
          <a:lstStyle/>
          <a:p>
            <a:pPr algn="just"/>
            <a:r>
              <a:rPr lang="en-US" b="1" dirty="0"/>
              <a:t>Design </a:t>
            </a:r>
            <a:r>
              <a:rPr lang="en-US" sz="2800" b="1" dirty="0"/>
              <a:t>Digital Payment for your own business</a:t>
            </a:r>
            <a:r>
              <a:rPr lang="en-US" b="1" dirty="0"/>
              <a:t>:</a:t>
            </a:r>
          </a:p>
          <a:p>
            <a:pPr marL="514350" indent="-514350" algn="just">
              <a:buFontTx/>
              <a:buAutoNum type="arabicPeriod"/>
            </a:pPr>
            <a:r>
              <a:rPr lang="en-US" b="1" dirty="0"/>
              <a:t>Give principal and reasons</a:t>
            </a:r>
          </a:p>
          <a:p>
            <a:pPr marL="514350" indent="-514350" algn="just">
              <a:buFontTx/>
              <a:buAutoNum type="arabicPeriod"/>
            </a:pPr>
            <a:r>
              <a:rPr lang="en-US" b="1" dirty="0"/>
              <a:t>Explain Old </a:t>
            </a:r>
            <a:r>
              <a:rPr lang="en-US" sz="2800" b="1" dirty="0"/>
              <a:t>Digital Payment </a:t>
            </a:r>
            <a:r>
              <a:rPr lang="en-US" b="1" dirty="0"/>
              <a:t>(Flowchart)</a:t>
            </a:r>
          </a:p>
          <a:p>
            <a:pPr marL="514350" indent="-514350" algn="just">
              <a:buFontTx/>
              <a:buAutoNum type="arabicPeriod"/>
            </a:pPr>
            <a:r>
              <a:rPr lang="en-US" b="1" dirty="0"/>
              <a:t>Propose New </a:t>
            </a:r>
            <a:r>
              <a:rPr lang="en-US" sz="2800" b="1" dirty="0"/>
              <a:t>Digital Payment </a:t>
            </a:r>
            <a:r>
              <a:rPr lang="en-US" b="1" dirty="0"/>
              <a:t>(Flowchart)</a:t>
            </a:r>
          </a:p>
          <a:p>
            <a:pPr marL="514350" indent="-514350" algn="just">
              <a:buFontTx/>
              <a:buAutoNum type="arabicPeriod"/>
            </a:pPr>
            <a:r>
              <a:rPr lang="en-US" b="1" dirty="0"/>
              <a:t>What are the remained problems</a:t>
            </a:r>
          </a:p>
          <a:p>
            <a:pPr marL="514350" indent="-514350" algn="just">
              <a:buFontTx/>
              <a:buAutoNum type="arabicPeriod"/>
            </a:pPr>
            <a:r>
              <a:rPr lang="en-US" b="1" dirty="0"/>
              <a:t>How to solve (Flowchart)</a:t>
            </a:r>
          </a:p>
        </p:txBody>
      </p:sp>
    </p:spTree>
    <p:extLst>
      <p:ext uri="{BB962C8B-B14F-4D97-AF65-F5344CB8AC3E}">
        <p14:creationId xmlns:p14="http://schemas.microsoft.com/office/powerpoint/2010/main" val="3013937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26D539-B42C-42D7-8C4E-19C6C9B5CD60}"/>
              </a:ext>
            </a:extLst>
          </p:cNvPr>
          <p:cNvSpPr txBox="1"/>
          <p:nvPr/>
        </p:nvSpPr>
        <p:spPr>
          <a:xfrm>
            <a:off x="589360" y="615166"/>
            <a:ext cx="3539728" cy="4401205"/>
          </a:xfrm>
          <a:prstGeom prst="rect">
            <a:avLst/>
          </a:prstGeom>
          <a:noFill/>
          <a:ln>
            <a:solidFill>
              <a:schemeClr val="tx1"/>
            </a:solidFill>
          </a:ln>
        </p:spPr>
        <p:txBody>
          <a:bodyPr wrap="square">
            <a:spAutoFit/>
          </a:bodyPr>
          <a:lstStyle/>
          <a:p>
            <a:pPr algn="just"/>
            <a:r>
              <a:rPr lang="en-US" sz="2000" b="1" dirty="0"/>
              <a:t>9. Internet of Things (IoT) Expansion</a:t>
            </a:r>
          </a:p>
          <a:p>
            <a:pPr algn="just"/>
            <a:r>
              <a:rPr lang="en-US" sz="2000" dirty="0"/>
              <a:t>IoT connects physical devices—such as sensors, appliances, and machines—to the internet to enable real-time data exchange. This expansion supports smart homes, smart cities, and industrial automation. IoT enhances efficiency, improves monitoring, and opens new opportunities for digital innovation in everyday and industrial environments.</a:t>
            </a:r>
          </a:p>
        </p:txBody>
      </p:sp>
      <p:pic>
        <p:nvPicPr>
          <p:cNvPr id="7172" name="Picture 4">
            <a:extLst>
              <a:ext uri="{FF2B5EF4-FFF2-40B4-BE49-F238E27FC236}">
                <a16:creationId xmlns:a16="http://schemas.microsoft.com/office/drawing/2014/main" id="{9C6D5A7A-A448-43AE-AF19-8DEA047BD4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8240" y="615166"/>
            <a:ext cx="7620398" cy="428647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30186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FC9A4C-1242-45A0-A3B7-AE6E8496A6A9}"/>
              </a:ext>
            </a:extLst>
          </p:cNvPr>
          <p:cNvSpPr txBox="1"/>
          <p:nvPr/>
        </p:nvSpPr>
        <p:spPr>
          <a:xfrm>
            <a:off x="517923" y="498604"/>
            <a:ext cx="3911202" cy="4401205"/>
          </a:xfrm>
          <a:prstGeom prst="rect">
            <a:avLst/>
          </a:prstGeom>
          <a:noFill/>
          <a:ln>
            <a:solidFill>
              <a:schemeClr val="tx1"/>
            </a:solidFill>
          </a:ln>
        </p:spPr>
        <p:txBody>
          <a:bodyPr wrap="square">
            <a:spAutoFit/>
          </a:bodyPr>
          <a:lstStyle/>
          <a:p>
            <a:pPr algn="just"/>
            <a:r>
              <a:rPr lang="en-US" sz="2000" b="1" dirty="0"/>
              <a:t>10. Digital Skills and Workforce Transformation</a:t>
            </a:r>
          </a:p>
          <a:p>
            <a:pPr algn="just"/>
            <a:r>
              <a:rPr lang="en-US" sz="2000" dirty="0"/>
              <a:t>The digital landscape requires new skills such as data literacy, digital communication, AI understanding, and technology management. Organizations must reskill employees to adapt to automation and digital tools. Workforce transformation ensures competitiveness, boosts productivity, and prepares societies for rapidly changing technological demands.</a:t>
            </a:r>
          </a:p>
        </p:txBody>
      </p:sp>
      <p:pic>
        <p:nvPicPr>
          <p:cNvPr id="8194" name="Picture 2" descr="You are currently viewing 5 REASONS WHY YOU NEED DIGITAL SKILLS">
            <a:extLst>
              <a:ext uri="{FF2B5EF4-FFF2-40B4-BE49-F238E27FC236}">
                <a16:creationId xmlns:a16="http://schemas.microsoft.com/office/drawing/2014/main" id="{9458A8C3-1647-4684-B2C6-C6A8196A34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4874" y="498604"/>
            <a:ext cx="7343775" cy="46654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193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500149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255</TotalTime>
  <Words>798</Words>
  <Application>Microsoft Office PowerPoint</Application>
  <PresentationFormat>Widescreen</PresentationFormat>
  <Paragraphs>47</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TH SarabunPSK</vt:lpstr>
      <vt:lpstr>Office Theme</vt:lpstr>
      <vt:lpstr>Chapter 2 Digital landscape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Core AI technologies fueling transformation</dc:title>
  <dc:creator>Adtha Lawanna</dc:creator>
  <cp:lastModifiedBy>Acer</cp:lastModifiedBy>
  <cp:revision>27</cp:revision>
  <dcterms:created xsi:type="dcterms:W3CDTF">2025-11-15T02:26:25Z</dcterms:created>
  <dcterms:modified xsi:type="dcterms:W3CDTF">2025-12-19T02:19:44Z</dcterms:modified>
</cp:coreProperties>
</file>